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personally. Earlier this year I was sick and moved through multiple specialists. Each encounter made sense on its own. The burden of connecting the whole story still fell back on me.,That experience gave me a concrete question: if we use agents to coordinate care, what prevents the agent from creating the same fragmentation faster?,This session is about care navigation and workflow design. It is not about replacing physicians.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under one minute. It is credibility, not biography.,I have spent years on healthcare workflow and remote patient monitoring, and I now work on enterprise agentic AI. That combination matters because this problem lives at the intersection of process, data, integration, and human decision rights.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setup. Most demos ask whether an agent can complete a task. I wanted to ask a different question: can we prove the path was appropriate?,So I intentionally tested a version where the PCP agent had too much freedom and not enough workflow 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Important distinction: I used IBM Bob as the development partner to build and iterate on the application. Bob is not the clinical runtime orchestrator.,The application itself has a PCP coordinator and specialist support agents. The PCP agent gathers context, routes, and prepares a summary. High-impact care decisions stay with clinicians.,Bob helped compress the build and test loop, which made it useful for deliberately breaking and hardening the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moment to slow down.,The agent sounded responsible. It asked reasonable questions. It also repeatedly announced two specialist agents before the intake was complete.,That is exactly the kind of failure that slips through a demo because the text sounds sensible.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use this slide to separate three failure types. Routing, handoff, and next-step drift are different problems.,The important point is that observability after the fact is not enough. The design needs an expected path so the trace can be compared against something.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Patient input enters through a care-navigation interface. The PCP agent gathers context and coordinates bounded specialist support agents.,The MCP gateway is the integration layer to systems of record. Clinician review remains explicit.,The most important part is the bottom row: deterministic controls and observability. That is what turns the diagram from agent spaghetti into an operating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I would want an architecture team to photograph.,A handoff is not just “call Neurology.” It is a contract. What question are we asking, what evidence are we passing, what checks already happened, and why is the route justified?,Once that contract exists, you can test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am deliberately precise here. MCP gives us a standard contract for tool and resource access. It does not magically provide enterprise governance.,In my architecture, a gateway around MCP is where we enforce identity, policy, routing, and logging.,The current 2026 MCP specification also hardens authorization and makes gateway-based routing more practical.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operational core of the talk.,Testing should not be a QA phase after the agents are built. The expected workflow should define what we instrument and what we assert from day one.,Every change can create regression risk. Prompt, model, tool, policy, or agent changes can alter routing and behavior.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useful design question is not “human in the loop or not?” It is “who owns the decision at this step?”,For this prototype, the agent can organize and prepare. It should ask when context or policy is uncertain. A licensed clinician owns clinical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executive translation.,The development bottleneck moves quickly. Once agents can generate and connect things, the harder work becomes review, validation, governance, and operating discipline.,That is also why IBM Bob is relevant here. AI can accelerate the build, but the system still needs testable architecture.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accepted takeaway.,If there is time, invite questions around three areas: what failed in the first prototype, which control points should be deterministic, and what would need to change before a system like this entered a real clinical environment.,Seeded moderator questions: How did your patient experience shape the design? Why did the first version fail? Which workflow steps should be deterministic? What changes before real clinical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Do not present unless asked about sources or product framing.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EXEC">
    <p:bg>
      <p:bgPr>
        <a:solidFill>
          <a:srgbClr val="F7FAF9"/>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0F766E"/>
          </a:solidFill>
          <a:ln w="12700">
            <a:solidFill>
              <a:srgbClr val="0F766E"/>
            </a:solidFill>
            <a:prstDash val="solid"/>
          </a:ln>
        </p:spPr>
      </p:sp>
      <p:sp>
        <p:nvSpPr>
          <p:cNvPr id="3" name="Text 1"/>
          <p:cNvSpPr/>
          <p:nvPr/>
        </p:nvSpPr>
        <p:spPr>
          <a:xfrm>
            <a:off x="502920" y="164592"/>
            <a:ext cx="4572000" cy="182880"/>
          </a:xfrm>
          <a:prstGeom prst="rect">
            <a:avLst/>
          </a:prstGeom>
          <a:noFill/>
          <a:ln/>
        </p:spPr>
        <p:txBody>
          <a:bodyPr wrap="square" lIns="0" tIns="0" rIns="0" bIns="0" rtlCol="0" anchor="ctr"/>
          <a:lstStyle/>
          <a:p>
            <a:pPr indent="0" marL="0">
              <a:buNone/>
            </a:pPr>
            <a:r>
              <a:rPr lang="en-US" sz="750" b="1" spc="150" kern="0" dirty="0">
                <a:solidFill>
                  <a:srgbClr val="5B6B68"/>
                </a:solidFill>
                <a:latin typeface="Noto Sans" pitchFamily="34" charset="0"/>
                <a:ea typeface="Noto Sans" pitchFamily="34" charset="-122"/>
                <a:cs typeface="Noto Sans" pitchFamily="34" charset="-120"/>
              </a:rPr>
              <a:t>APPLIED AI SUMMIT 2026  |  HEALTHCARE AI</a:t>
            </a:r>
            <a:endParaRPr lang="en-US" sz="750" dirty="0"/>
          </a:p>
        </p:txBody>
      </p:sp>
      <p:sp>
        <p:nvSpPr>
          <p:cNvPr id="4" name="Text 2"/>
          <p:cNvSpPr/>
          <p:nvPr/>
        </p:nvSpPr>
        <p:spPr>
          <a:xfrm>
            <a:off x="9601200" y="6565392"/>
            <a:ext cx="2057400" cy="164592"/>
          </a:xfrm>
          <a:prstGeom prst="rect">
            <a:avLst/>
          </a:prstGeom>
          <a:noFill/>
          <a:ln/>
        </p:spPr>
        <p:txBody>
          <a:bodyPr wrap="square" lIns="0" tIns="0" rIns="0" bIns="0" rtlCol="0" anchor="ctr"/>
          <a:lstStyle/>
          <a:p>
            <a:pPr algn="r" indent="0" marL="0">
              <a:buNone/>
            </a:pPr>
            <a:r>
              <a:rPr lang="en-US" sz="700" dirty="0">
                <a:solidFill>
                  <a:srgbClr val="7A8986"/>
                </a:solidFill>
                <a:latin typeface="Noto Sans" pitchFamily="34" charset="0"/>
                <a:ea typeface="Noto Sans" pitchFamily="34" charset="-122"/>
                <a:cs typeface="Noto Sans" pitchFamily="34" charset="-120"/>
              </a:rPr>
              <a:t>MONIKA AGGARWAL</a:t>
            </a:r>
            <a:endParaRPr lang="en-US" sz="700" dirty="0"/>
          </a:p>
        </p:txBody>
      </p:sp>
      <p:sp>
        <p:nvSpPr>
          <p:cNvPr id="25" name="Slide Number Placeholder 0"/>
          <p:cNvSpPr>
            <a:spLocks noGrp="1"/>
          </p:cNvSpPr>
          <p:nvPr>
            <p:ph type="sldNum" sz="quarter" idx="4294967295"/>
          </p:nvPr>
        </p:nvSpPr>
        <p:spPr>
          <a:xfrm>
            <a:off x="11704320" y="6565392"/>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7A8986"/>
                </a:solidFill>
                <a:latin typeface="Noto Sans"/>
                <a:ea typeface="Noto Sans"/>
                <a:cs typeface="Noto Sans"/>
              </a:defRPr>
            </a:lvl1pPr>
          </a:lstStyle>
          <a:p>
            <a:pPr algn="l"/>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704320" y="6565392"/>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7A8986"/>
                </a:solidFill>
                <a:latin typeface="Noto Sans"/>
                <a:ea typeface="Noto Sans"/>
                <a:cs typeface="Noto Sans"/>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AF9"/>
        </a:solidFill>
      </p:bgPr>
    </p:bg>
    <p:spTree>
      <p:nvGrpSpPr>
        <p:cNvPr id="1" name=""/>
        <p:cNvGrpSpPr/>
        <p:nvPr/>
      </p:nvGrpSpPr>
      <p:grpSpPr>
        <a:xfrm>
          <a:off x="0" y="0"/>
          <a:ext cx="0" cy="0"/>
          <a:chOff x="0" y="0"/>
          <a:chExt cx="0" cy="0"/>
        </a:xfrm>
      </p:grpSpPr>
      <p:sp>
        <p:nvSpPr>
          <p:cNvPr id="2" name="Shape 0"/>
          <p:cNvSpPr/>
          <p:nvPr/>
        </p:nvSpPr>
        <p:spPr>
          <a:xfrm>
            <a:off x="640080" y="621792"/>
            <a:ext cx="2423160" cy="310896"/>
          </a:xfrm>
          <a:prstGeom prst="roundRect">
            <a:avLst/>
          </a:prstGeom>
          <a:solidFill>
            <a:srgbClr val="DDF3EE"/>
          </a:solidFill>
          <a:ln w="12700">
            <a:solidFill>
              <a:srgbClr val="DDF3EE"/>
            </a:solidFill>
            <a:prstDash val="solid"/>
          </a:ln>
        </p:spPr>
      </p:sp>
      <p:sp>
        <p:nvSpPr>
          <p:cNvPr id="3" name="Text 1"/>
          <p:cNvSpPr/>
          <p:nvPr/>
        </p:nvSpPr>
        <p:spPr>
          <a:xfrm>
            <a:off x="713232" y="685800"/>
            <a:ext cx="2276856" cy="164592"/>
          </a:xfrm>
          <a:prstGeom prst="rect">
            <a:avLst/>
          </a:prstGeom>
          <a:noFill/>
          <a:ln/>
        </p:spPr>
        <p:txBody>
          <a:bodyPr wrap="square" lIns="0" tIns="0" rIns="0" bIns="0" rtlCol="0" anchor="ctr">
            <a:normAutofit/>
          </a:bodyPr>
          <a:lstStyle/>
          <a:p>
            <a:pPr algn="ctr" indent="0" marL="0">
              <a:buNone/>
            </a:pPr>
            <a:r>
              <a:rPr lang="en-US" sz="850" b="1" dirty="0">
                <a:solidFill>
                  <a:srgbClr val="0F766E"/>
                </a:solidFill>
              </a:rPr>
              <a:t>HEALTHCARE AI  |  OCT 14, 2026</a:t>
            </a:r>
            <a:endParaRPr lang="en-US" sz="850" dirty="0"/>
          </a:p>
        </p:txBody>
      </p:sp>
      <p:sp>
        <p:nvSpPr>
          <p:cNvPr id="4" name="Text 2"/>
          <p:cNvSpPr/>
          <p:nvPr/>
        </p:nvSpPr>
        <p:spPr>
          <a:xfrm>
            <a:off x="640080" y="1234440"/>
            <a:ext cx="5486400" cy="1417320"/>
          </a:xfrm>
          <a:prstGeom prst="rect">
            <a:avLst/>
          </a:prstGeom>
          <a:noFill/>
          <a:ln/>
        </p:spPr>
        <p:txBody>
          <a:bodyPr wrap="square" lIns="0" tIns="0" rIns="0" bIns="0" rtlCol="0" anchor="ctr">
            <a:normAutofit/>
          </a:bodyPr>
          <a:lstStyle/>
          <a:p>
            <a:pPr indent="0" marL="0">
              <a:buNone/>
            </a:pPr>
            <a:r>
              <a:rPr lang="en-US" sz="3100" b="1" dirty="0">
                <a:solidFill>
                  <a:srgbClr val="142925"/>
                </a:solidFill>
              </a:rPr>
              <a:t>When Physicians Cannot</a:t>
            </a:r>
            <a:endParaRPr lang="en-US" sz="3100" dirty="0"/>
          </a:p>
          <a:p>
            <a:pPr indent="0" marL="0">
              <a:buNone/>
            </a:pPr>
            <a:r>
              <a:rPr lang="en-US" sz="3100" b="1" dirty="0">
                <a:solidFill>
                  <a:srgbClr val="142925"/>
                </a:solidFill>
              </a:rPr>
              <a:t>Connect the Dots</a:t>
            </a:r>
            <a:endParaRPr lang="en-US" sz="3100" dirty="0"/>
          </a:p>
        </p:txBody>
      </p:sp>
      <p:sp>
        <p:nvSpPr>
          <p:cNvPr id="5" name="Text 3"/>
          <p:cNvSpPr/>
          <p:nvPr/>
        </p:nvSpPr>
        <p:spPr>
          <a:xfrm>
            <a:off x="658368" y="2852928"/>
            <a:ext cx="5166360" cy="502920"/>
          </a:xfrm>
          <a:prstGeom prst="rect">
            <a:avLst/>
          </a:prstGeom>
          <a:noFill/>
          <a:ln/>
        </p:spPr>
        <p:txBody>
          <a:bodyPr wrap="square" lIns="0" tIns="0" rIns="0" bIns="0" rtlCol="0" anchor="ctr">
            <a:normAutofit/>
          </a:bodyPr>
          <a:lstStyle/>
          <a:p>
            <a:pPr indent="0" marL="0">
              <a:buNone/>
            </a:pPr>
            <a:r>
              <a:rPr lang="en-US" sz="1800" b="1" dirty="0">
                <a:solidFill>
                  <a:srgbClr val="0F766E"/>
                </a:solidFill>
              </a:rPr>
              <a:t>Building a Governed Healthcare Agent with IBM Bob</a:t>
            </a:r>
            <a:endParaRPr lang="en-US" sz="1800" dirty="0"/>
          </a:p>
        </p:txBody>
      </p:sp>
      <p:sp>
        <p:nvSpPr>
          <p:cNvPr id="6" name="Text 4"/>
          <p:cNvSpPr/>
          <p:nvPr/>
        </p:nvSpPr>
        <p:spPr>
          <a:xfrm>
            <a:off x="658368" y="3566160"/>
            <a:ext cx="5074920" cy="822960"/>
          </a:xfrm>
          <a:prstGeom prst="rect">
            <a:avLst/>
          </a:prstGeom>
          <a:noFill/>
          <a:ln/>
        </p:spPr>
        <p:txBody>
          <a:bodyPr wrap="square" lIns="0" tIns="0" rIns="0" bIns="0" rtlCol="0" anchor="ctr">
            <a:normAutofit/>
          </a:bodyPr>
          <a:lstStyle/>
          <a:p>
            <a:pPr indent="0" marL="0">
              <a:buNone/>
            </a:pPr>
            <a:r>
              <a:rPr lang="en-US" sz="1400" dirty="0">
                <a:solidFill>
                  <a:srgbClr val="5B6B68"/>
                </a:solidFill>
              </a:rPr>
              <a:t>A technical case study on multi-agent orchestration, clinical workflow boundaries, MCP integration, and human oversight.</a:t>
            </a:r>
            <a:endParaRPr lang="en-US" sz="1400" dirty="0"/>
          </a:p>
        </p:txBody>
      </p:sp>
      <p:sp>
        <p:nvSpPr>
          <p:cNvPr id="7" name="Text 5"/>
          <p:cNvSpPr/>
          <p:nvPr/>
        </p:nvSpPr>
        <p:spPr>
          <a:xfrm>
            <a:off x="658368" y="5157216"/>
            <a:ext cx="3017520" cy="274320"/>
          </a:xfrm>
          <a:prstGeom prst="rect">
            <a:avLst/>
          </a:prstGeom>
          <a:noFill/>
          <a:ln/>
        </p:spPr>
        <p:txBody>
          <a:bodyPr wrap="square" lIns="0" tIns="0" rIns="0" bIns="0" rtlCol="0" anchor="ctr"/>
          <a:lstStyle/>
          <a:p>
            <a:pPr indent="0" marL="0">
              <a:buNone/>
            </a:pPr>
            <a:r>
              <a:rPr lang="en-US" sz="1500" b="1" dirty="0">
                <a:solidFill>
                  <a:srgbClr val="142925"/>
                </a:solidFill>
              </a:rPr>
              <a:t>Monika Aggarwal</a:t>
            </a:r>
            <a:endParaRPr lang="en-US" sz="1500" dirty="0"/>
          </a:p>
        </p:txBody>
      </p:sp>
      <p:sp>
        <p:nvSpPr>
          <p:cNvPr id="8" name="Text 6"/>
          <p:cNvSpPr/>
          <p:nvPr/>
        </p:nvSpPr>
        <p:spPr>
          <a:xfrm>
            <a:off x="658368" y="5486400"/>
            <a:ext cx="4297680" cy="256032"/>
          </a:xfrm>
          <a:prstGeom prst="rect">
            <a:avLst/>
          </a:prstGeom>
          <a:noFill/>
          <a:ln/>
        </p:spPr>
        <p:txBody>
          <a:bodyPr wrap="square" lIns="0" tIns="0" rIns="0" bIns="0" rtlCol="0" anchor="ctr"/>
          <a:lstStyle/>
          <a:p>
            <a:pPr indent="0" marL="0">
              <a:buNone/>
            </a:pPr>
            <a:r>
              <a:rPr lang="en-US" sz="1100" dirty="0">
                <a:solidFill>
                  <a:srgbClr val="5B6B68"/>
                </a:solidFill>
              </a:rPr>
              <a:t>IBM  |  Enterprise AI and Healthcare Technology</a:t>
            </a:r>
            <a:endParaRPr lang="en-US" sz="1100" dirty="0"/>
          </a:p>
        </p:txBody>
      </p:sp>
      <p:sp>
        <p:nvSpPr>
          <p:cNvPr id="9" name="Shape 7"/>
          <p:cNvSpPr/>
          <p:nvPr/>
        </p:nvSpPr>
        <p:spPr>
          <a:xfrm>
            <a:off x="6263640" y="658368"/>
            <a:ext cx="5303520" cy="5440680"/>
          </a:xfrm>
          <a:prstGeom prst="roundRect">
            <a:avLst>
              <a:gd name="adj" fmla="val 1379"/>
            </a:avLst>
          </a:prstGeom>
          <a:solidFill>
            <a:srgbClr val="FFFFFF"/>
          </a:solidFill>
          <a:ln w="12700">
            <a:solidFill>
              <a:srgbClr val="D6E4E0"/>
            </a:solidFill>
            <a:prstDash val="solid"/>
          </a:ln>
          <a:effectLst>
            <a:outerShdw sx="100000" sy="100000" kx="0" ky="0" algn="bl" rotWithShape="0" blurRad="19050" dist="50800" dir="2700000">
              <a:srgbClr val="B6C4C0">
                <a:alpha val="15000"/>
              </a:srgbClr>
            </a:outerShdw>
          </a:effectLst>
        </p:spPr>
      </p:sp>
      <p:pic>
        <p:nvPicPr>
          <p:cNvPr id="10" name="Image 0" descr="/mnt/data/ppt_media/ppt/media/image1.jpeg">    </p:cNvPr>
          <p:cNvPicPr>
            <a:picLocks noChangeAspect="1"/>
          </p:cNvPicPr>
          <p:nvPr/>
        </p:nvPicPr>
        <p:blipFill>
          <a:blip r:embed="rId1"/>
          <a:stretch>
            <a:fillRect/>
          </a:stretch>
        </p:blipFill>
        <p:spPr>
          <a:xfrm>
            <a:off x="6428232" y="868680"/>
            <a:ext cx="4956048" cy="4937760"/>
          </a:xfrm>
          <a:prstGeom prst="rect">
            <a:avLst/>
          </a:prstGeom>
        </p:spPr>
      </p:pic>
      <p:sp>
        <p:nvSpPr>
          <p:cNvPr id="11" name="Shape 8"/>
          <p:cNvSpPr/>
          <p:nvPr/>
        </p:nvSpPr>
        <p:spPr>
          <a:xfrm>
            <a:off x="6355080" y="5715000"/>
            <a:ext cx="5074920" cy="530352"/>
          </a:xfrm>
          <a:prstGeom prst="roundRect">
            <a:avLst>
              <a:gd name="adj" fmla="val 13793"/>
            </a:avLst>
          </a:prstGeom>
          <a:solidFill>
            <a:srgbClr val="142925"/>
          </a:solidFill>
          <a:ln w="12700">
            <a:solidFill>
              <a:srgbClr val="142925"/>
            </a:solidFill>
            <a:prstDash val="solid"/>
          </a:ln>
        </p:spPr>
      </p:sp>
      <p:sp>
        <p:nvSpPr>
          <p:cNvPr id="12" name="Text 9"/>
          <p:cNvSpPr/>
          <p:nvPr/>
        </p:nvSpPr>
        <p:spPr>
          <a:xfrm>
            <a:off x="6629400" y="5916168"/>
            <a:ext cx="4526280" cy="128016"/>
          </a:xfrm>
          <a:prstGeom prst="rect">
            <a:avLst/>
          </a:prstGeom>
          <a:noFill/>
          <a:ln/>
        </p:spPr>
        <p:txBody>
          <a:bodyPr wrap="square" lIns="0" tIns="0" rIns="0" bIns="0" rtlCol="0" anchor="ctr">
            <a:normAutofit/>
          </a:bodyPr>
          <a:lstStyle/>
          <a:p>
            <a:pPr indent="0" marL="0">
              <a:buNone/>
            </a:pPr>
            <a:r>
              <a:rPr lang="en-US" sz="1250" b="1" dirty="0">
                <a:solidFill>
                  <a:srgbClr val="FFFFFF"/>
                </a:solidFill>
              </a:rPr>
              <a:t>The patient should not have to become the integration layer.</a:t>
            </a:r>
            <a:endParaRPr lang="en-US" sz="1250" dirty="0"/>
          </a:p>
        </p:txBody>
      </p:sp>
      <p:sp>
        <p:nvSpPr>
          <p:cNvPr id="25" name="Slide Number Placeholder 0"/>
          <p:cNvSpPr>
            <a:spLocks noGrp="1"/>
          </p:cNvSpPr>
          <p:nvPr>
            <p:ph type="sldNum" sz="quarter" idx="4294967295"/>
          </p:nvPr>
        </p:nvSpPr>
        <p:spPr>
          <a:xfrm>
            <a:off x="11704320" y="6565392"/>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7A8986"/>
                </a:solidFill>
                <a:latin typeface="Noto Sans"/>
                <a:ea typeface="Noto Sans"/>
                <a:cs typeface="Noto Sans"/>
              </a:defRPr>
            </a:lvl1pPr>
          </a:lstStyle>
          <a:p>
            <a:pPr algn="l"/>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94360" y="502920"/>
            <a:ext cx="4389120" cy="219456"/>
          </a:xfrm>
          <a:prstGeom prst="rect">
            <a:avLst/>
          </a:prstGeom>
          <a:noFill/>
          <a:ln/>
        </p:spPr>
        <p:txBody>
          <a:bodyPr wrap="square" lIns="0" tIns="0" rIns="0" bIns="0" rtlCol="0" anchor="ctr"/>
          <a:lstStyle/>
          <a:p>
            <a:pPr indent="0" marL="0">
              <a:buNone/>
            </a:pPr>
            <a:r>
              <a:rPr lang="en-US" sz="900" b="1" spc="120" kern="0" dirty="0">
                <a:solidFill>
                  <a:srgbClr val="0F766E"/>
                </a:solidFill>
              </a:rPr>
              <a:t>WHY THIS CASE STUDY</a:t>
            </a:r>
            <a:endParaRPr lang="en-US" sz="900" dirty="0"/>
          </a:p>
        </p:txBody>
      </p:sp>
      <p:sp>
        <p:nvSpPr>
          <p:cNvPr id="3" name="Text 1"/>
          <p:cNvSpPr/>
          <p:nvPr/>
        </p:nvSpPr>
        <p:spPr>
          <a:xfrm>
            <a:off x="594360" y="786384"/>
            <a:ext cx="10972800" cy="566928"/>
          </a:xfrm>
          <a:prstGeom prst="rect">
            <a:avLst/>
          </a:prstGeom>
          <a:noFill/>
          <a:ln/>
        </p:spPr>
        <p:txBody>
          <a:bodyPr wrap="square" lIns="0" tIns="0" rIns="0" bIns="0" rtlCol="0" anchor="ctr">
            <a:normAutofit/>
          </a:bodyPr>
          <a:lstStyle/>
          <a:p>
            <a:pPr indent="0" marL="0">
              <a:buNone/>
            </a:pPr>
            <a:r>
              <a:rPr lang="en-US" sz="2600" b="1" dirty="0">
                <a:solidFill>
                  <a:srgbClr val="142925"/>
                </a:solidFill>
              </a:rPr>
              <a:t>I have lived this problem from both sides</a:t>
            </a:r>
            <a:endParaRPr lang="en-US" sz="2600" dirty="0"/>
          </a:p>
        </p:txBody>
      </p:sp>
      <p:sp>
        <p:nvSpPr>
          <p:cNvPr id="4" name="Text 2"/>
          <p:cNvSpPr/>
          <p:nvPr/>
        </p:nvSpPr>
        <p:spPr>
          <a:xfrm>
            <a:off x="594360" y="1353312"/>
            <a:ext cx="10698480" cy="411480"/>
          </a:xfrm>
          <a:prstGeom prst="rect">
            <a:avLst/>
          </a:prstGeom>
          <a:noFill/>
          <a:ln/>
        </p:spPr>
        <p:txBody>
          <a:bodyPr wrap="square" lIns="0" tIns="0" rIns="0" bIns="0" rtlCol="0" anchor="ctr">
            <a:normAutofit/>
          </a:bodyPr>
          <a:lstStyle/>
          <a:p>
            <a:pPr indent="0" marL="0">
              <a:buNone/>
            </a:pPr>
            <a:r>
              <a:rPr lang="en-US" sz="1300" dirty="0">
                <a:solidFill>
                  <a:srgbClr val="5B6B68"/>
                </a:solidFill>
              </a:rPr>
              <a:t>Patient experience shaped the question. Healthcare delivery and enterprise AI shaped how I tested it.</a:t>
            </a:r>
            <a:endParaRPr lang="en-US" sz="1300" dirty="0"/>
          </a:p>
        </p:txBody>
      </p:sp>
      <p:sp>
        <p:nvSpPr>
          <p:cNvPr id="5" name="Shape 3"/>
          <p:cNvSpPr/>
          <p:nvPr/>
        </p:nvSpPr>
        <p:spPr>
          <a:xfrm>
            <a:off x="640080" y="1965960"/>
            <a:ext cx="3154680" cy="3429000"/>
          </a:xfrm>
          <a:prstGeom prst="roundRect">
            <a:avLst>
              <a:gd name="adj" fmla="val 2319"/>
            </a:avLst>
          </a:prstGeom>
          <a:solidFill>
            <a:srgbClr val="FFFFFF"/>
          </a:solidFill>
          <a:ln w="12700">
            <a:solidFill>
              <a:srgbClr val="D5DFDC"/>
            </a:solidFill>
            <a:prstDash val="solid"/>
          </a:ln>
          <a:effectLst>
            <a:outerShdw sx="100000" sy="100000" kx="0" ky="0" algn="bl" rotWithShape="0" blurRad="19050" dist="50800" dir="2700000">
              <a:srgbClr val="B6C4C0">
                <a:alpha val="15000"/>
              </a:srgbClr>
            </a:outerShdw>
          </a:effectLst>
        </p:spPr>
      </p:sp>
      <p:sp>
        <p:nvSpPr>
          <p:cNvPr id="6" name="Shape 4"/>
          <p:cNvSpPr/>
          <p:nvPr/>
        </p:nvSpPr>
        <p:spPr>
          <a:xfrm>
            <a:off x="868680" y="2212848"/>
            <a:ext cx="1325880" cy="310896"/>
          </a:xfrm>
          <a:prstGeom prst="roundRect">
            <a:avLst/>
          </a:prstGeom>
          <a:solidFill>
            <a:srgbClr val="FCEAE6"/>
          </a:solidFill>
          <a:ln w="12700">
            <a:solidFill>
              <a:srgbClr val="FCEAE6"/>
            </a:solidFill>
            <a:prstDash val="solid"/>
          </a:ln>
        </p:spPr>
      </p:sp>
      <p:sp>
        <p:nvSpPr>
          <p:cNvPr id="7" name="Text 5"/>
          <p:cNvSpPr/>
          <p:nvPr/>
        </p:nvSpPr>
        <p:spPr>
          <a:xfrm>
            <a:off x="941832" y="2276856"/>
            <a:ext cx="1179576" cy="164592"/>
          </a:xfrm>
          <a:prstGeom prst="rect">
            <a:avLst/>
          </a:prstGeom>
          <a:noFill/>
          <a:ln/>
        </p:spPr>
        <p:txBody>
          <a:bodyPr wrap="square" lIns="0" tIns="0" rIns="0" bIns="0" rtlCol="0" anchor="ctr">
            <a:normAutofit/>
          </a:bodyPr>
          <a:lstStyle/>
          <a:p>
            <a:pPr algn="ctr" indent="0" marL="0">
              <a:buNone/>
            </a:pPr>
            <a:r>
              <a:rPr lang="en-US" sz="850" b="1" dirty="0">
                <a:solidFill>
                  <a:srgbClr val="C75345"/>
                </a:solidFill>
              </a:rPr>
              <a:t>PATIENT</a:t>
            </a:r>
            <a:endParaRPr lang="en-US" sz="850" dirty="0"/>
          </a:p>
        </p:txBody>
      </p:sp>
      <p:sp>
        <p:nvSpPr>
          <p:cNvPr id="8" name="Text 6"/>
          <p:cNvSpPr/>
          <p:nvPr/>
        </p:nvSpPr>
        <p:spPr>
          <a:xfrm>
            <a:off x="868680" y="2779776"/>
            <a:ext cx="2697480" cy="1097280"/>
          </a:xfrm>
          <a:prstGeom prst="rect">
            <a:avLst/>
          </a:prstGeom>
          <a:noFill/>
          <a:ln/>
        </p:spPr>
        <p:txBody>
          <a:bodyPr wrap="square" lIns="0" tIns="0" rIns="0" bIns="0" rtlCol="0" anchor="ctr">
            <a:normAutofit/>
          </a:bodyPr>
          <a:lstStyle/>
          <a:p>
            <a:pPr indent="0" marL="0">
              <a:buNone/>
            </a:pPr>
            <a:r>
              <a:rPr lang="en-US" sz="1400" b="1" dirty="0">
                <a:solidFill>
                  <a:srgbClr val="142925"/>
                </a:solidFill>
              </a:rPr>
              <a:t>Multiple specialists. Different slices of the story. The patient still carries context across encounters.</a:t>
            </a:r>
            <a:endParaRPr lang="en-US" sz="1400" dirty="0"/>
          </a:p>
        </p:txBody>
      </p:sp>
      <p:sp>
        <p:nvSpPr>
          <p:cNvPr id="9" name="Shape 7"/>
          <p:cNvSpPr/>
          <p:nvPr/>
        </p:nvSpPr>
        <p:spPr>
          <a:xfrm>
            <a:off x="868680" y="4160520"/>
            <a:ext cx="2697480" cy="0"/>
          </a:xfrm>
          <a:prstGeom prst="line">
            <a:avLst/>
          </a:prstGeom>
          <a:noFill/>
          <a:ln w="12700">
            <a:solidFill>
              <a:srgbClr val="D5DFDC"/>
            </a:solidFill>
            <a:prstDash val="solid"/>
          </a:ln>
        </p:spPr>
      </p:sp>
      <p:sp>
        <p:nvSpPr>
          <p:cNvPr id="10" name="Text 8"/>
          <p:cNvSpPr/>
          <p:nvPr/>
        </p:nvSpPr>
        <p:spPr>
          <a:xfrm>
            <a:off x="868680" y="4370832"/>
            <a:ext cx="2697480" cy="749808"/>
          </a:xfrm>
          <a:prstGeom prst="rect">
            <a:avLst/>
          </a:prstGeom>
          <a:noFill/>
          <a:ln/>
        </p:spPr>
        <p:txBody>
          <a:bodyPr wrap="square" lIns="0" tIns="0" rIns="0" bIns="0" rtlCol="0" anchor="ctr">
            <a:normAutofit/>
          </a:bodyPr>
          <a:lstStyle/>
          <a:p>
            <a:pPr indent="0" marL="0">
              <a:buNone/>
            </a:pPr>
            <a:r>
              <a:rPr lang="en-US" sz="1050" dirty="0">
                <a:solidFill>
                  <a:srgbClr val="5B6B68"/>
                </a:solidFill>
              </a:rPr>
              <a:t>The friction became the design problem.</a:t>
            </a:r>
            <a:endParaRPr lang="en-US" sz="1050" dirty="0"/>
          </a:p>
        </p:txBody>
      </p:sp>
      <p:sp>
        <p:nvSpPr>
          <p:cNvPr id="11" name="Shape 9"/>
          <p:cNvSpPr/>
          <p:nvPr/>
        </p:nvSpPr>
        <p:spPr>
          <a:xfrm>
            <a:off x="4069080" y="1965960"/>
            <a:ext cx="3154680" cy="3429000"/>
          </a:xfrm>
          <a:prstGeom prst="roundRect">
            <a:avLst>
              <a:gd name="adj" fmla="val 2319"/>
            </a:avLst>
          </a:prstGeom>
          <a:solidFill>
            <a:srgbClr val="FFFFFF"/>
          </a:solidFill>
          <a:ln w="12700">
            <a:solidFill>
              <a:srgbClr val="D5DFDC"/>
            </a:solidFill>
            <a:prstDash val="solid"/>
          </a:ln>
          <a:effectLst>
            <a:outerShdw sx="100000" sy="100000" kx="0" ky="0" algn="bl" rotWithShape="0" blurRad="19050" dist="50800" dir="2700000">
              <a:srgbClr val="B6C4C0">
                <a:alpha val="15000"/>
              </a:srgbClr>
            </a:outerShdw>
          </a:effectLst>
        </p:spPr>
      </p:sp>
      <p:sp>
        <p:nvSpPr>
          <p:cNvPr id="12" name="Shape 10"/>
          <p:cNvSpPr/>
          <p:nvPr/>
        </p:nvSpPr>
        <p:spPr>
          <a:xfrm>
            <a:off x="4297680" y="2212848"/>
            <a:ext cx="1325880" cy="310896"/>
          </a:xfrm>
          <a:prstGeom prst="roundRect">
            <a:avLst/>
          </a:prstGeom>
          <a:solidFill>
            <a:srgbClr val="DDF3EE"/>
          </a:solidFill>
          <a:ln w="12700">
            <a:solidFill>
              <a:srgbClr val="DDF3EE"/>
            </a:solidFill>
            <a:prstDash val="solid"/>
          </a:ln>
        </p:spPr>
      </p:sp>
      <p:sp>
        <p:nvSpPr>
          <p:cNvPr id="13" name="Text 11"/>
          <p:cNvSpPr/>
          <p:nvPr/>
        </p:nvSpPr>
        <p:spPr>
          <a:xfrm>
            <a:off x="4370832" y="2276856"/>
            <a:ext cx="1179576" cy="164592"/>
          </a:xfrm>
          <a:prstGeom prst="rect">
            <a:avLst/>
          </a:prstGeom>
          <a:noFill/>
          <a:ln/>
        </p:spPr>
        <p:txBody>
          <a:bodyPr wrap="square" lIns="0" tIns="0" rIns="0" bIns="0" rtlCol="0" anchor="ctr">
            <a:normAutofit/>
          </a:bodyPr>
          <a:lstStyle/>
          <a:p>
            <a:pPr algn="ctr" indent="0" marL="0">
              <a:buNone/>
            </a:pPr>
            <a:r>
              <a:rPr lang="en-US" sz="850" b="1" dirty="0">
                <a:solidFill>
                  <a:srgbClr val="0F766E"/>
                </a:solidFill>
              </a:rPr>
              <a:t>HEALTHCARE BUILDER</a:t>
            </a:r>
            <a:endParaRPr lang="en-US" sz="850" dirty="0"/>
          </a:p>
        </p:txBody>
      </p:sp>
      <p:sp>
        <p:nvSpPr>
          <p:cNvPr id="14" name="Text 12"/>
          <p:cNvSpPr/>
          <p:nvPr/>
        </p:nvSpPr>
        <p:spPr>
          <a:xfrm>
            <a:off x="4297680" y="2779776"/>
            <a:ext cx="2697480" cy="1097280"/>
          </a:xfrm>
          <a:prstGeom prst="rect">
            <a:avLst/>
          </a:prstGeom>
          <a:noFill/>
          <a:ln/>
        </p:spPr>
        <p:txBody>
          <a:bodyPr wrap="square" lIns="0" tIns="0" rIns="0" bIns="0" rtlCol="0" anchor="ctr">
            <a:normAutofit/>
          </a:bodyPr>
          <a:lstStyle/>
          <a:p>
            <a:pPr indent="0" marL="0">
              <a:buNone/>
            </a:pPr>
            <a:r>
              <a:rPr lang="en-US" sz="1400" b="1" dirty="0">
                <a:solidFill>
                  <a:srgbClr val="142925"/>
                </a:solidFill>
              </a:rPr>
              <a:t>At KP, built clinical workflow and remote monitoring programs spanning 21 hospitals, 250 clinicians, and about 3,000 patients per month.</a:t>
            </a:r>
            <a:endParaRPr lang="en-US" sz="1400" dirty="0"/>
          </a:p>
        </p:txBody>
      </p:sp>
      <p:sp>
        <p:nvSpPr>
          <p:cNvPr id="15" name="Shape 13"/>
          <p:cNvSpPr/>
          <p:nvPr/>
        </p:nvSpPr>
        <p:spPr>
          <a:xfrm>
            <a:off x="4297680" y="4160520"/>
            <a:ext cx="2697480" cy="0"/>
          </a:xfrm>
          <a:prstGeom prst="line">
            <a:avLst/>
          </a:prstGeom>
          <a:noFill/>
          <a:ln w="12700">
            <a:solidFill>
              <a:srgbClr val="D5DFDC"/>
            </a:solidFill>
            <a:prstDash val="solid"/>
          </a:ln>
        </p:spPr>
      </p:sp>
      <p:sp>
        <p:nvSpPr>
          <p:cNvPr id="16" name="Text 14"/>
          <p:cNvSpPr/>
          <p:nvPr/>
        </p:nvSpPr>
        <p:spPr>
          <a:xfrm>
            <a:off x="4297680" y="4370832"/>
            <a:ext cx="2697480" cy="749808"/>
          </a:xfrm>
          <a:prstGeom prst="rect">
            <a:avLst/>
          </a:prstGeom>
          <a:noFill/>
          <a:ln/>
        </p:spPr>
        <p:txBody>
          <a:bodyPr wrap="square" lIns="0" tIns="0" rIns="0" bIns="0" rtlCol="0" anchor="ctr">
            <a:normAutofit/>
          </a:bodyPr>
          <a:lstStyle/>
          <a:p>
            <a:pPr indent="0" marL="0">
              <a:buNone/>
            </a:pPr>
            <a:r>
              <a:rPr lang="en-US" sz="1050" dirty="0">
                <a:solidFill>
                  <a:srgbClr val="5B6B68"/>
                </a:solidFill>
              </a:rPr>
              <a:t>Reported outcomes: 35% fewer ER visits, 10% fewer hospitalizations, 200% clinician efficiency improvement.</a:t>
            </a:r>
            <a:endParaRPr lang="en-US" sz="1050" dirty="0"/>
          </a:p>
        </p:txBody>
      </p:sp>
      <p:sp>
        <p:nvSpPr>
          <p:cNvPr id="17" name="Shape 15"/>
          <p:cNvSpPr/>
          <p:nvPr/>
        </p:nvSpPr>
        <p:spPr>
          <a:xfrm>
            <a:off x="7498080" y="1965960"/>
            <a:ext cx="3154680" cy="3429000"/>
          </a:xfrm>
          <a:prstGeom prst="roundRect">
            <a:avLst>
              <a:gd name="adj" fmla="val 2319"/>
            </a:avLst>
          </a:prstGeom>
          <a:solidFill>
            <a:srgbClr val="FFFFFF"/>
          </a:solidFill>
          <a:ln w="12700">
            <a:solidFill>
              <a:srgbClr val="D5DFDC"/>
            </a:solidFill>
            <a:prstDash val="solid"/>
          </a:ln>
          <a:effectLst>
            <a:outerShdw sx="100000" sy="100000" kx="0" ky="0" algn="bl" rotWithShape="0" blurRad="19050" dist="50800" dir="2700000">
              <a:srgbClr val="B6C4C0">
                <a:alpha val="15000"/>
              </a:srgbClr>
            </a:outerShdw>
          </a:effectLst>
        </p:spPr>
      </p:sp>
      <p:sp>
        <p:nvSpPr>
          <p:cNvPr id="18" name="Shape 16"/>
          <p:cNvSpPr/>
          <p:nvPr/>
        </p:nvSpPr>
        <p:spPr>
          <a:xfrm>
            <a:off x="7726680" y="2212848"/>
            <a:ext cx="1325880" cy="310896"/>
          </a:xfrm>
          <a:prstGeom prst="roundRect">
            <a:avLst/>
          </a:prstGeom>
          <a:solidFill>
            <a:srgbClr val="EAF0FF"/>
          </a:solidFill>
          <a:ln w="12700">
            <a:solidFill>
              <a:srgbClr val="EAF0FF"/>
            </a:solidFill>
            <a:prstDash val="solid"/>
          </a:ln>
        </p:spPr>
      </p:sp>
      <p:sp>
        <p:nvSpPr>
          <p:cNvPr id="19" name="Text 17"/>
          <p:cNvSpPr/>
          <p:nvPr/>
        </p:nvSpPr>
        <p:spPr>
          <a:xfrm>
            <a:off x="7799832" y="2276856"/>
            <a:ext cx="1179576" cy="164592"/>
          </a:xfrm>
          <a:prstGeom prst="rect">
            <a:avLst/>
          </a:prstGeom>
          <a:noFill/>
          <a:ln/>
        </p:spPr>
        <p:txBody>
          <a:bodyPr wrap="square" lIns="0" tIns="0" rIns="0" bIns="0" rtlCol="0" anchor="ctr">
            <a:normAutofit/>
          </a:bodyPr>
          <a:lstStyle/>
          <a:p>
            <a:pPr algn="ctr" indent="0" marL="0">
              <a:buNone/>
            </a:pPr>
            <a:r>
              <a:rPr lang="en-US" sz="850" b="1" dirty="0">
                <a:solidFill>
                  <a:srgbClr val="2458B8"/>
                </a:solidFill>
              </a:rPr>
              <a:t>ENTERPRISE AI</a:t>
            </a:r>
            <a:endParaRPr lang="en-US" sz="850" dirty="0"/>
          </a:p>
        </p:txBody>
      </p:sp>
      <p:sp>
        <p:nvSpPr>
          <p:cNvPr id="20" name="Text 18"/>
          <p:cNvSpPr/>
          <p:nvPr/>
        </p:nvSpPr>
        <p:spPr>
          <a:xfrm>
            <a:off x="7726680" y="2779776"/>
            <a:ext cx="2697480" cy="1097280"/>
          </a:xfrm>
          <a:prstGeom prst="rect">
            <a:avLst/>
          </a:prstGeom>
          <a:noFill/>
          <a:ln/>
        </p:spPr>
        <p:txBody>
          <a:bodyPr wrap="square" lIns="0" tIns="0" rIns="0" bIns="0" rtlCol="0" anchor="ctr">
            <a:normAutofit/>
          </a:bodyPr>
          <a:lstStyle/>
          <a:p>
            <a:pPr indent="0" marL="0">
              <a:buNone/>
            </a:pPr>
            <a:r>
              <a:rPr lang="en-US" sz="1400" b="1" dirty="0">
                <a:solidFill>
                  <a:srgbClr val="142925"/>
                </a:solidFill>
              </a:rPr>
              <a:t>At IBM, builds governed agentic AI patterns, reusable architectures, and production-focused use cases.</a:t>
            </a:r>
            <a:endParaRPr lang="en-US" sz="1400" dirty="0"/>
          </a:p>
        </p:txBody>
      </p:sp>
      <p:sp>
        <p:nvSpPr>
          <p:cNvPr id="21" name="Shape 19"/>
          <p:cNvSpPr/>
          <p:nvPr/>
        </p:nvSpPr>
        <p:spPr>
          <a:xfrm>
            <a:off x="7726680" y="4160520"/>
            <a:ext cx="2697480" cy="0"/>
          </a:xfrm>
          <a:prstGeom prst="line">
            <a:avLst/>
          </a:prstGeom>
          <a:noFill/>
          <a:ln w="12700">
            <a:solidFill>
              <a:srgbClr val="D5DFDC"/>
            </a:solidFill>
            <a:prstDash val="solid"/>
          </a:ln>
        </p:spPr>
      </p:sp>
      <p:sp>
        <p:nvSpPr>
          <p:cNvPr id="22" name="Text 20"/>
          <p:cNvSpPr/>
          <p:nvPr/>
        </p:nvSpPr>
        <p:spPr>
          <a:xfrm>
            <a:off x="7726680" y="4370832"/>
            <a:ext cx="2697480" cy="749808"/>
          </a:xfrm>
          <a:prstGeom prst="rect">
            <a:avLst/>
          </a:prstGeom>
          <a:noFill/>
          <a:ln/>
        </p:spPr>
        <p:txBody>
          <a:bodyPr wrap="square" lIns="0" tIns="0" rIns="0" bIns="0" rtlCol="0" anchor="ctr">
            <a:normAutofit/>
          </a:bodyPr>
          <a:lstStyle/>
          <a:p>
            <a:pPr indent="0" marL="0">
              <a:buNone/>
            </a:pPr>
            <a:r>
              <a:rPr lang="en-US" sz="1050" dirty="0">
                <a:solidFill>
                  <a:srgbClr val="5B6B68"/>
                </a:solidFill>
              </a:rPr>
              <a:t>IBM Bob, MCP, agent orchestration, testing, governance, observability.</a:t>
            </a:r>
            <a:endParaRPr lang="en-US" sz="1050" dirty="0"/>
          </a:p>
        </p:txBody>
      </p:sp>
      <p:sp>
        <p:nvSpPr>
          <p:cNvPr id="23" name="Shape 21"/>
          <p:cNvSpPr/>
          <p:nvPr/>
        </p:nvSpPr>
        <p:spPr>
          <a:xfrm>
            <a:off x="640080" y="5715000"/>
            <a:ext cx="10012680" cy="548640"/>
          </a:xfrm>
          <a:prstGeom prst="roundRect">
            <a:avLst>
              <a:gd name="adj" fmla="val 13333"/>
            </a:avLst>
          </a:prstGeom>
          <a:solidFill>
            <a:srgbClr val="142925"/>
          </a:solidFill>
          <a:ln w="12700">
            <a:solidFill>
              <a:srgbClr val="142925"/>
            </a:solidFill>
            <a:prstDash val="solid"/>
          </a:ln>
        </p:spPr>
      </p:sp>
      <p:sp>
        <p:nvSpPr>
          <p:cNvPr id="24" name="Text 22"/>
          <p:cNvSpPr/>
          <p:nvPr/>
        </p:nvSpPr>
        <p:spPr>
          <a:xfrm>
            <a:off x="914400" y="5916168"/>
            <a:ext cx="9464040" cy="146304"/>
          </a:xfrm>
          <a:prstGeom prst="rect">
            <a:avLst/>
          </a:prstGeom>
          <a:noFill/>
          <a:ln/>
        </p:spPr>
        <p:txBody>
          <a:bodyPr wrap="square" lIns="0" tIns="0" rIns="0" bIns="0" rtlCol="0" anchor="ctr">
            <a:normAutofit/>
          </a:bodyPr>
          <a:lstStyle/>
          <a:p>
            <a:pPr indent="0" marL="0">
              <a:buNone/>
            </a:pPr>
            <a:r>
              <a:rPr lang="en-US" sz="1300" b="1" dirty="0">
                <a:solidFill>
                  <a:srgbClr val="FFFFFF"/>
                </a:solidFill>
              </a:rPr>
              <a:t>The design question was simple: can an agent connect context without becoming an autonomous clinician?</a:t>
            </a:r>
            <a:endParaRPr lang="en-US" sz="1300" dirty="0"/>
          </a:p>
        </p:txBody>
      </p:sp>
      <p:sp>
        <p:nvSpPr>
          <p:cNvPr id="25" name="Slide Number Placeholder 0"/>
          <p:cNvSpPr>
            <a:spLocks noGrp="1"/>
          </p:cNvSpPr>
          <p:nvPr>
            <p:ph type="sldNum" sz="quarter" idx="4294967295"/>
          </p:nvPr>
        </p:nvSpPr>
        <p:spPr>
          <a:xfrm>
            <a:off x="11704320" y="6565392"/>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7A8986"/>
                </a:solidFill>
                <a:latin typeface="Noto Sans"/>
                <a:ea typeface="Noto Sans"/>
                <a:cs typeface="Noto Sans"/>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94360" y="502920"/>
            <a:ext cx="4389120" cy="219456"/>
          </a:xfrm>
          <a:prstGeom prst="rect">
            <a:avLst/>
          </a:prstGeom>
          <a:noFill/>
          <a:ln/>
        </p:spPr>
        <p:txBody>
          <a:bodyPr wrap="square" lIns="0" tIns="0" rIns="0" bIns="0" rtlCol="0" anchor="ctr"/>
          <a:lstStyle/>
          <a:p>
            <a:pPr indent="0" marL="0">
              <a:buNone/>
            </a:pPr>
            <a:r>
              <a:rPr lang="en-US" sz="900" b="1" spc="120" kern="0" dirty="0">
                <a:solidFill>
                  <a:srgbClr val="0F766E"/>
                </a:solidFill>
              </a:rPr>
              <a:t>THE EXPERIMENT</a:t>
            </a:r>
            <a:endParaRPr lang="en-US" sz="900" dirty="0"/>
          </a:p>
        </p:txBody>
      </p:sp>
      <p:sp>
        <p:nvSpPr>
          <p:cNvPr id="3" name="Text 1"/>
          <p:cNvSpPr/>
          <p:nvPr/>
        </p:nvSpPr>
        <p:spPr>
          <a:xfrm>
            <a:off x="594360" y="786384"/>
            <a:ext cx="10972800" cy="566928"/>
          </a:xfrm>
          <a:prstGeom prst="rect">
            <a:avLst/>
          </a:prstGeom>
          <a:noFill/>
          <a:ln/>
        </p:spPr>
        <p:txBody>
          <a:bodyPr wrap="square" lIns="0" tIns="0" rIns="0" bIns="0" rtlCol="0" anchor="ctr">
            <a:normAutofit/>
          </a:bodyPr>
          <a:lstStyle/>
          <a:p>
            <a:pPr indent="0" marL="0">
              <a:buNone/>
            </a:pPr>
            <a:r>
              <a:rPr lang="en-US" sz="2600" b="1" dirty="0">
                <a:solidFill>
                  <a:srgbClr val="142925"/>
                </a:solidFill>
              </a:rPr>
              <a:t>The question I wanted to test</a:t>
            </a:r>
            <a:endParaRPr lang="en-US" sz="2600" dirty="0"/>
          </a:p>
        </p:txBody>
      </p:sp>
      <p:sp>
        <p:nvSpPr>
          <p:cNvPr id="4" name="Text 2"/>
          <p:cNvSpPr/>
          <p:nvPr/>
        </p:nvSpPr>
        <p:spPr>
          <a:xfrm>
            <a:off x="594360" y="1353312"/>
            <a:ext cx="10698480" cy="411480"/>
          </a:xfrm>
          <a:prstGeom prst="rect">
            <a:avLst/>
          </a:prstGeom>
          <a:noFill/>
          <a:ln/>
        </p:spPr>
        <p:txBody>
          <a:bodyPr wrap="square" lIns="0" tIns="0" rIns="0" bIns="0" rtlCol="0" anchor="ctr">
            <a:normAutofit/>
          </a:bodyPr>
          <a:lstStyle/>
          <a:p>
            <a:pPr indent="0" marL="0">
              <a:buNone/>
            </a:pPr>
            <a:r>
              <a:rPr lang="en-US" sz="1300" dirty="0">
                <a:solidFill>
                  <a:srgbClr val="5B6B68"/>
                </a:solidFill>
              </a:rPr>
              <a:t>What happens when the agent has too much autonomy and the workflow has too little structure?</a:t>
            </a:r>
            <a:endParaRPr lang="en-US" sz="1300" dirty="0"/>
          </a:p>
        </p:txBody>
      </p:sp>
      <p:sp>
        <p:nvSpPr>
          <p:cNvPr id="5" name="Shape 3"/>
          <p:cNvSpPr/>
          <p:nvPr/>
        </p:nvSpPr>
        <p:spPr>
          <a:xfrm>
            <a:off x="640080" y="1920240"/>
            <a:ext cx="5166360" cy="3200400"/>
          </a:xfrm>
          <a:prstGeom prst="roundRect">
            <a:avLst>
              <a:gd name="adj" fmla="val 2286"/>
            </a:avLst>
          </a:prstGeom>
          <a:solidFill>
            <a:srgbClr val="FCEAE6"/>
          </a:solidFill>
          <a:ln w="12700">
            <a:solidFill>
              <a:srgbClr val="F1C5BD"/>
            </a:solidFill>
            <a:prstDash val="solid"/>
          </a:ln>
        </p:spPr>
      </p:sp>
      <p:sp>
        <p:nvSpPr>
          <p:cNvPr id="6" name="Text 4"/>
          <p:cNvSpPr/>
          <p:nvPr/>
        </p:nvSpPr>
        <p:spPr>
          <a:xfrm>
            <a:off x="960120" y="2221992"/>
            <a:ext cx="2194560" cy="274320"/>
          </a:xfrm>
          <a:prstGeom prst="rect">
            <a:avLst/>
          </a:prstGeom>
          <a:noFill/>
          <a:ln/>
        </p:spPr>
        <p:txBody>
          <a:bodyPr wrap="square" lIns="0" tIns="0" rIns="0" bIns="0" rtlCol="0" anchor="ctr"/>
          <a:lstStyle/>
          <a:p>
            <a:pPr indent="0" marL="0">
              <a:buNone/>
            </a:pPr>
            <a:r>
              <a:rPr lang="en-US" sz="1200" b="1" spc="100" kern="0" dirty="0">
                <a:solidFill>
                  <a:srgbClr val="C75345"/>
                </a:solidFill>
              </a:rPr>
              <a:t>LOOSE AUTONOMY</a:t>
            </a:r>
            <a:endParaRPr lang="en-US" sz="1200" dirty="0"/>
          </a:p>
        </p:txBody>
      </p:sp>
      <p:sp>
        <p:nvSpPr>
          <p:cNvPr id="7" name="Text 5"/>
          <p:cNvSpPr/>
          <p:nvPr/>
        </p:nvSpPr>
        <p:spPr>
          <a:xfrm>
            <a:off x="960120" y="2743200"/>
            <a:ext cx="4297680" cy="502920"/>
          </a:xfrm>
          <a:prstGeom prst="rect">
            <a:avLst/>
          </a:prstGeom>
          <a:noFill/>
          <a:ln/>
        </p:spPr>
        <p:txBody>
          <a:bodyPr wrap="square" lIns="0" tIns="0" rIns="0" bIns="0" rtlCol="0" anchor="ctr">
            <a:normAutofit/>
          </a:bodyPr>
          <a:lstStyle/>
          <a:p>
            <a:pPr indent="0" marL="0">
              <a:buNone/>
            </a:pPr>
            <a:r>
              <a:rPr lang="en-US" sz="2400" b="1" dirty="0">
                <a:solidFill>
                  <a:srgbClr val="142925"/>
                </a:solidFill>
              </a:rPr>
              <a:t>“Let the orchestrator decide.”</a:t>
            </a:r>
            <a:endParaRPr lang="en-US" sz="2400" dirty="0"/>
          </a:p>
        </p:txBody>
      </p:sp>
      <p:sp>
        <p:nvSpPr>
          <p:cNvPr id="8" name="Text 6"/>
          <p:cNvSpPr/>
          <p:nvPr/>
        </p:nvSpPr>
        <p:spPr>
          <a:xfrm>
            <a:off x="960120" y="3474720"/>
            <a:ext cx="4251960" cy="1280160"/>
          </a:xfrm>
          <a:prstGeom prst="rect">
            <a:avLst/>
          </a:prstGeom>
          <a:noFill/>
          <a:ln/>
        </p:spPr>
        <p:txBody>
          <a:bodyPr wrap="square" lIns="508" tIns="508" rIns="508" bIns="508" rtlCol="0" anchor="ctr">
            <a:normAutofit/>
          </a:bodyPr>
          <a:lstStyle/>
          <a:p>
            <a:pPr marL="177800" indent="-177800">
              <a:buSzPct val="100000"/>
              <a:buChar char="•"/>
            </a:pPr>
            <a:r>
              <a:rPr lang="en-US" sz="1250" dirty="0">
                <a:solidFill>
                  <a:srgbClr val="142925"/>
                </a:solidFill>
              </a:rPr>
              <a:t>Route when it thinks it should</a:t>
            </a:r>
            <a:endParaRPr lang="en-US" sz="1250" dirty="0"/>
          </a:p>
          <a:p>
            <a:pPr marL="177800" indent="-177800">
              <a:buSzPct val="100000"/>
              <a:buChar char="•"/>
            </a:pPr>
            <a:r>
              <a:rPr lang="en-US" sz="1250" dirty="0">
                <a:solidFill>
                  <a:srgbClr val="142925"/>
                </a:solidFill>
              </a:rPr>
              <a:t>Pass whatever context it chooses</a:t>
            </a:r>
            <a:endParaRPr lang="en-US" sz="1250" dirty="0"/>
          </a:p>
          <a:p>
            <a:pPr marL="177800" indent="-177800">
              <a:buSzPct val="100000"/>
              <a:buChar char="•"/>
            </a:pPr>
            <a:r>
              <a:rPr lang="en-US" sz="1250" dirty="0">
                <a:solidFill>
                  <a:srgbClr val="142925"/>
                </a:solidFill>
              </a:rPr>
              <a:t>Call tools when useful</a:t>
            </a:r>
            <a:endParaRPr lang="en-US" sz="1250" dirty="0"/>
          </a:p>
          <a:p>
            <a:pPr marL="177800" indent="-177800">
              <a:buSzPct val="100000"/>
              <a:buChar char="•"/>
            </a:pPr>
            <a:r>
              <a:rPr lang="en-US" sz="1250" dirty="0">
                <a:solidFill>
                  <a:srgbClr val="142925"/>
                </a:solidFill>
              </a:rPr>
              <a:t>Rely on a disclaimer for safety</a:t>
            </a:r>
            <a:endParaRPr lang="en-US" sz="1250" dirty="0"/>
          </a:p>
        </p:txBody>
      </p:sp>
      <p:sp>
        <p:nvSpPr>
          <p:cNvPr id="9" name="Shape 7"/>
          <p:cNvSpPr/>
          <p:nvPr/>
        </p:nvSpPr>
        <p:spPr>
          <a:xfrm>
            <a:off x="6355080" y="1920240"/>
            <a:ext cx="5166360" cy="3200400"/>
          </a:xfrm>
          <a:prstGeom prst="roundRect">
            <a:avLst>
              <a:gd name="adj" fmla="val 2286"/>
            </a:avLst>
          </a:prstGeom>
          <a:solidFill>
            <a:srgbClr val="DDF3EE"/>
          </a:solidFill>
          <a:ln w="12700">
            <a:solidFill>
              <a:srgbClr val="B7DDD4"/>
            </a:solidFill>
            <a:prstDash val="solid"/>
          </a:ln>
        </p:spPr>
      </p:sp>
      <p:sp>
        <p:nvSpPr>
          <p:cNvPr id="10" name="Text 8"/>
          <p:cNvSpPr/>
          <p:nvPr/>
        </p:nvSpPr>
        <p:spPr>
          <a:xfrm>
            <a:off x="6675120" y="2221992"/>
            <a:ext cx="2286000" cy="274320"/>
          </a:xfrm>
          <a:prstGeom prst="rect">
            <a:avLst/>
          </a:prstGeom>
          <a:noFill/>
          <a:ln/>
        </p:spPr>
        <p:txBody>
          <a:bodyPr wrap="square" lIns="0" tIns="0" rIns="0" bIns="0" rtlCol="0" anchor="ctr"/>
          <a:lstStyle/>
          <a:p>
            <a:pPr indent="0" marL="0">
              <a:buNone/>
            </a:pPr>
            <a:r>
              <a:rPr lang="en-US" sz="1200" b="1" spc="100" kern="0" dirty="0">
                <a:solidFill>
                  <a:srgbClr val="0F766E"/>
                </a:solidFill>
              </a:rPr>
              <a:t>GOVERNED WORKFLOW</a:t>
            </a:r>
            <a:endParaRPr lang="en-US" sz="1200" dirty="0"/>
          </a:p>
        </p:txBody>
      </p:sp>
      <p:sp>
        <p:nvSpPr>
          <p:cNvPr id="11" name="Text 9"/>
          <p:cNvSpPr/>
          <p:nvPr/>
        </p:nvSpPr>
        <p:spPr>
          <a:xfrm>
            <a:off x="6675120" y="2743200"/>
            <a:ext cx="4297680" cy="502920"/>
          </a:xfrm>
          <a:prstGeom prst="rect">
            <a:avLst/>
          </a:prstGeom>
          <a:noFill/>
          <a:ln/>
        </p:spPr>
        <p:txBody>
          <a:bodyPr wrap="square" lIns="0" tIns="0" rIns="0" bIns="0" rtlCol="0" anchor="ctr">
            <a:normAutofit/>
          </a:bodyPr>
          <a:lstStyle/>
          <a:p>
            <a:pPr indent="0" marL="0">
              <a:buNone/>
            </a:pPr>
            <a:r>
              <a:rPr lang="en-US" sz="2400" b="1" dirty="0">
                <a:solidFill>
                  <a:srgbClr val="142925"/>
                </a:solidFill>
              </a:rPr>
              <a:t>“Reason inside a designed path.”</a:t>
            </a:r>
            <a:endParaRPr lang="en-US" sz="2400" dirty="0"/>
          </a:p>
        </p:txBody>
      </p:sp>
      <p:sp>
        <p:nvSpPr>
          <p:cNvPr id="12" name="Text 10"/>
          <p:cNvSpPr/>
          <p:nvPr/>
        </p:nvSpPr>
        <p:spPr>
          <a:xfrm>
            <a:off x="6675120" y="3474720"/>
            <a:ext cx="4251960" cy="1280160"/>
          </a:xfrm>
          <a:prstGeom prst="rect">
            <a:avLst/>
          </a:prstGeom>
          <a:noFill/>
          <a:ln/>
        </p:spPr>
        <p:txBody>
          <a:bodyPr wrap="square" lIns="508" tIns="508" rIns="508" bIns="508" rtlCol="0" anchor="ctr">
            <a:normAutofit/>
          </a:bodyPr>
          <a:lstStyle/>
          <a:p>
            <a:pPr marL="177800" indent="-177800">
              <a:buSzPct val="100000"/>
              <a:buChar char="•"/>
            </a:pPr>
            <a:r>
              <a:rPr lang="en-US" sz="1250" dirty="0">
                <a:solidFill>
                  <a:srgbClr val="142925"/>
                </a:solidFill>
              </a:rPr>
              <a:t>Gather required intake first</a:t>
            </a:r>
            <a:endParaRPr lang="en-US" sz="1250" dirty="0"/>
          </a:p>
          <a:p>
            <a:pPr marL="177800" indent="-177800">
              <a:buSzPct val="100000"/>
              <a:buChar char="•"/>
            </a:pPr>
            <a:r>
              <a:rPr lang="en-US" sz="1250" dirty="0">
                <a:solidFill>
                  <a:srgbClr val="142925"/>
                </a:solidFill>
              </a:rPr>
              <a:t>Route against explicit rules</a:t>
            </a:r>
            <a:endParaRPr lang="en-US" sz="1250" dirty="0"/>
          </a:p>
          <a:p>
            <a:pPr marL="177800" indent="-177800">
              <a:buSzPct val="100000"/>
              <a:buChar char="•"/>
            </a:pPr>
            <a:r>
              <a:rPr lang="en-US" sz="1250" dirty="0">
                <a:solidFill>
                  <a:srgbClr val="142925"/>
                </a:solidFill>
              </a:rPr>
              <a:t>Carry a defined handoff contract</a:t>
            </a:r>
            <a:endParaRPr lang="en-US" sz="1250" dirty="0"/>
          </a:p>
          <a:p>
            <a:pPr marL="177800" indent="-177800">
              <a:buSzPct val="100000"/>
              <a:buChar char="•"/>
            </a:pPr>
            <a:r>
              <a:rPr lang="en-US" sz="1250" dirty="0">
                <a:solidFill>
                  <a:srgbClr val="142925"/>
                </a:solidFill>
              </a:rPr>
              <a:t>Require review before high-impact action</a:t>
            </a:r>
            <a:endParaRPr lang="en-US" sz="1250" dirty="0"/>
          </a:p>
        </p:txBody>
      </p:sp>
      <p:sp>
        <p:nvSpPr>
          <p:cNvPr id="13" name="Text 11"/>
          <p:cNvSpPr/>
          <p:nvPr/>
        </p:nvSpPr>
        <p:spPr>
          <a:xfrm>
            <a:off x="1005840" y="5669280"/>
            <a:ext cx="10149840" cy="457200"/>
          </a:xfrm>
          <a:prstGeom prst="rect">
            <a:avLst/>
          </a:prstGeom>
          <a:noFill/>
          <a:ln/>
        </p:spPr>
        <p:txBody>
          <a:bodyPr wrap="square" lIns="0" tIns="0" rIns="0" bIns="0" rtlCol="0" anchor="ctr">
            <a:normAutofit/>
          </a:bodyPr>
          <a:lstStyle/>
          <a:p>
            <a:pPr algn="ctr" indent="0" marL="0">
              <a:buNone/>
            </a:pPr>
            <a:r>
              <a:rPr lang="en-US" sz="1500" b="1" dirty="0">
                <a:solidFill>
                  <a:srgbClr val="142925"/>
                </a:solidFill>
              </a:rPr>
              <a:t>The interesting part was not whether the model could answer. It was whether the workflow could behave correctly.</a:t>
            </a:r>
            <a:endParaRPr lang="en-US" sz="1500" dirty="0"/>
          </a:p>
        </p:txBody>
      </p:sp>
      <p:sp>
        <p:nvSpPr>
          <p:cNvPr id="25" name="Slide Number Placeholder 0"/>
          <p:cNvSpPr>
            <a:spLocks noGrp="1"/>
          </p:cNvSpPr>
          <p:nvPr>
            <p:ph type="sldNum" sz="quarter" idx="4294967295"/>
          </p:nvPr>
        </p:nvSpPr>
        <p:spPr>
          <a:xfrm>
            <a:off x="11704320" y="6565392"/>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7A8986"/>
                </a:solidFill>
                <a:latin typeface="Noto Sans"/>
                <a:ea typeface="Noto Sans"/>
                <a:cs typeface="Noto Sans"/>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94360" y="502920"/>
            <a:ext cx="4389120" cy="219456"/>
          </a:xfrm>
          <a:prstGeom prst="rect">
            <a:avLst/>
          </a:prstGeom>
          <a:noFill/>
          <a:ln/>
        </p:spPr>
        <p:txBody>
          <a:bodyPr wrap="square" lIns="0" tIns="0" rIns="0" bIns="0" rtlCol="0" anchor="ctr"/>
          <a:lstStyle/>
          <a:p>
            <a:pPr indent="0" marL="0">
              <a:buNone/>
            </a:pPr>
            <a:r>
              <a:rPr lang="en-US" sz="900" b="1" spc="120" kern="0" dirty="0">
                <a:solidFill>
                  <a:srgbClr val="0F766E"/>
                </a:solidFill>
              </a:rPr>
              <a:t>PROTOTYPE</a:t>
            </a:r>
            <a:endParaRPr lang="en-US" sz="900" dirty="0"/>
          </a:p>
        </p:txBody>
      </p:sp>
      <p:sp>
        <p:nvSpPr>
          <p:cNvPr id="3" name="Text 1"/>
          <p:cNvSpPr/>
          <p:nvPr/>
        </p:nvSpPr>
        <p:spPr>
          <a:xfrm>
            <a:off x="594360" y="786384"/>
            <a:ext cx="10972800" cy="566928"/>
          </a:xfrm>
          <a:prstGeom prst="rect">
            <a:avLst/>
          </a:prstGeom>
          <a:noFill/>
          <a:ln/>
        </p:spPr>
        <p:txBody>
          <a:bodyPr wrap="square" lIns="0" tIns="0" rIns="0" bIns="0" rtlCol="0" anchor="ctr">
            <a:normAutofit/>
          </a:bodyPr>
          <a:lstStyle/>
          <a:p>
            <a:pPr indent="0" marL="0">
              <a:buNone/>
            </a:pPr>
            <a:r>
              <a:rPr lang="en-US" sz="2600" b="1" dirty="0">
                <a:solidFill>
                  <a:srgbClr val="142925"/>
                </a:solidFill>
              </a:rPr>
              <a:t>What I built with IBM Bob</a:t>
            </a:r>
            <a:endParaRPr lang="en-US" sz="2600" dirty="0"/>
          </a:p>
        </p:txBody>
      </p:sp>
      <p:sp>
        <p:nvSpPr>
          <p:cNvPr id="4" name="Text 2"/>
          <p:cNvSpPr/>
          <p:nvPr/>
        </p:nvSpPr>
        <p:spPr>
          <a:xfrm>
            <a:off x="594360" y="1353312"/>
            <a:ext cx="10698480" cy="411480"/>
          </a:xfrm>
          <a:prstGeom prst="rect">
            <a:avLst/>
          </a:prstGeom>
          <a:noFill/>
          <a:ln/>
        </p:spPr>
        <p:txBody>
          <a:bodyPr wrap="square" lIns="0" tIns="0" rIns="0" bIns="0" rtlCol="0" anchor="ctr">
            <a:normAutofit/>
          </a:bodyPr>
          <a:lstStyle/>
          <a:p>
            <a:pPr indent="0" marL="0">
              <a:buNone/>
            </a:pPr>
            <a:r>
              <a:rPr lang="en-US" sz="1300" dirty="0">
                <a:solidFill>
                  <a:srgbClr val="5B6B68"/>
                </a:solidFill>
              </a:rPr>
              <a:t>IBM Bob accelerated the software build. The healthcare agents are the application, not Bob itself.</a:t>
            </a:r>
            <a:endParaRPr lang="en-US" sz="1300" dirty="0"/>
          </a:p>
        </p:txBody>
      </p:sp>
      <p:sp>
        <p:nvSpPr>
          <p:cNvPr id="5" name="Shape 3"/>
          <p:cNvSpPr/>
          <p:nvPr/>
        </p:nvSpPr>
        <p:spPr>
          <a:xfrm>
            <a:off x="640080" y="1828800"/>
            <a:ext cx="4663440" cy="4114800"/>
          </a:xfrm>
          <a:prstGeom prst="roundRect">
            <a:avLst>
              <a:gd name="adj" fmla="val 1778"/>
            </a:avLst>
          </a:prstGeom>
          <a:solidFill>
            <a:srgbClr val="FFFFFF"/>
          </a:solidFill>
          <a:ln w="12700">
            <a:solidFill>
              <a:srgbClr val="D5DFDC"/>
            </a:solidFill>
            <a:prstDash val="solid"/>
          </a:ln>
          <a:effectLst>
            <a:outerShdw sx="100000" sy="100000" kx="0" ky="0" algn="bl" rotWithShape="0" blurRad="19050" dist="50800" dir="2700000">
              <a:srgbClr val="B6C4C0">
                <a:alpha val="15000"/>
              </a:srgbClr>
            </a:outerShdw>
          </a:effectLst>
        </p:spPr>
      </p:sp>
      <p:pic>
        <p:nvPicPr>
          <p:cNvPr id="6" name="Image 0" descr="/mnt/data/ppt_media/ppt/media/image2.jpg">    </p:cNvPr>
          <p:cNvPicPr>
            <a:picLocks noChangeAspect="1"/>
          </p:cNvPicPr>
          <p:nvPr/>
        </p:nvPicPr>
        <p:blipFill>
          <a:blip r:embed="rId1"/>
          <a:stretch>
            <a:fillRect/>
          </a:stretch>
        </p:blipFill>
        <p:spPr>
          <a:xfrm>
            <a:off x="822960" y="2011680"/>
            <a:ext cx="4297680" cy="3749040"/>
          </a:xfrm>
          <a:prstGeom prst="rect">
            <a:avLst/>
          </a:prstGeom>
        </p:spPr>
      </p:pic>
      <p:sp>
        <p:nvSpPr>
          <p:cNvPr id="7" name="Text 4"/>
          <p:cNvSpPr/>
          <p:nvPr/>
        </p:nvSpPr>
        <p:spPr>
          <a:xfrm>
            <a:off x="5806440" y="1965960"/>
            <a:ext cx="2103120" cy="310896"/>
          </a:xfrm>
          <a:prstGeom prst="rect">
            <a:avLst/>
          </a:prstGeom>
          <a:noFill/>
          <a:ln/>
        </p:spPr>
        <p:txBody>
          <a:bodyPr wrap="square" lIns="0" tIns="0" rIns="0" bIns="0" rtlCol="0" anchor="ctr"/>
          <a:lstStyle/>
          <a:p>
            <a:pPr indent="0" marL="0">
              <a:buNone/>
            </a:pPr>
            <a:r>
              <a:rPr lang="en-US" sz="1800" b="1" dirty="0">
                <a:solidFill>
                  <a:srgbClr val="142925"/>
                </a:solidFill>
              </a:rPr>
              <a:t>PCP orchestrator</a:t>
            </a:r>
            <a:endParaRPr lang="en-US" sz="1800" dirty="0"/>
          </a:p>
        </p:txBody>
      </p:sp>
      <p:sp>
        <p:nvSpPr>
          <p:cNvPr id="8" name="Text 5"/>
          <p:cNvSpPr/>
          <p:nvPr/>
        </p:nvSpPr>
        <p:spPr>
          <a:xfrm>
            <a:off x="5806440" y="2487168"/>
            <a:ext cx="5166360" cy="2148840"/>
          </a:xfrm>
          <a:prstGeom prst="rect">
            <a:avLst/>
          </a:prstGeom>
          <a:noFill/>
          <a:ln/>
        </p:spPr>
        <p:txBody>
          <a:bodyPr wrap="square" lIns="508" tIns="508" rIns="508" bIns="508" rtlCol="0" anchor="ctr">
            <a:normAutofit/>
          </a:bodyPr>
          <a:lstStyle/>
          <a:p>
            <a:pPr marL="177800" indent="-177800">
              <a:buSzPct val="100000"/>
              <a:buChar char="•"/>
            </a:pPr>
            <a:r>
              <a:rPr lang="en-US" sz="1300" dirty="0">
                <a:solidFill>
                  <a:srgbClr val="142925"/>
                </a:solidFill>
              </a:rPr>
              <a:t>Intake symptoms and patient concerns</a:t>
            </a:r>
            <a:endParaRPr lang="en-US" sz="1300" dirty="0"/>
          </a:p>
          <a:p>
            <a:pPr marL="177800" indent="-177800">
              <a:buSzPct val="100000"/>
              <a:buChar char="•"/>
            </a:pPr>
            <a:r>
              <a:rPr lang="en-US" sz="1300" dirty="0">
                <a:solidFill>
                  <a:srgbClr val="142925"/>
                </a:solidFill>
              </a:rPr>
              <a:t>Detect emergency warning phrases before normal routing</a:t>
            </a:r>
            <a:endParaRPr lang="en-US" sz="1300" dirty="0"/>
          </a:p>
          <a:p>
            <a:pPr marL="177800" indent="-177800">
              <a:buSzPct val="100000"/>
              <a:buChar char="•"/>
            </a:pPr>
            <a:r>
              <a:rPr lang="en-US" sz="1300" dirty="0">
                <a:solidFill>
                  <a:srgbClr val="142925"/>
                </a:solidFill>
              </a:rPr>
              <a:t>Coordinate bounded specialist support agents</a:t>
            </a:r>
            <a:endParaRPr lang="en-US" sz="1300" dirty="0"/>
          </a:p>
          <a:p>
            <a:pPr marL="177800" indent="-177800">
              <a:buSzPct val="100000"/>
              <a:buChar char="•"/>
            </a:pPr>
            <a:r>
              <a:rPr lang="en-US" sz="1300" dirty="0">
                <a:solidFill>
                  <a:srgbClr val="142925"/>
                </a:solidFill>
              </a:rPr>
              <a:t>Prepare a clinician-ready summary</a:t>
            </a:r>
            <a:endParaRPr lang="en-US" sz="1300" dirty="0"/>
          </a:p>
          <a:p>
            <a:pPr marL="177800" indent="-177800">
              <a:buSzPct val="100000"/>
              <a:buChar char="•"/>
            </a:pPr>
            <a:r>
              <a:rPr lang="en-US" sz="1300" dirty="0">
                <a:solidFill>
                  <a:srgbClr val="142925"/>
                </a:solidFill>
              </a:rPr>
              <a:t>Require patient approval before sending messages</a:t>
            </a:r>
            <a:endParaRPr lang="en-US" sz="1300" dirty="0"/>
          </a:p>
        </p:txBody>
      </p:sp>
      <p:sp>
        <p:nvSpPr>
          <p:cNvPr id="9" name="Shape 6"/>
          <p:cNvSpPr/>
          <p:nvPr/>
        </p:nvSpPr>
        <p:spPr>
          <a:xfrm>
            <a:off x="5806440" y="4901184"/>
            <a:ext cx="5074920" cy="960120"/>
          </a:xfrm>
          <a:prstGeom prst="roundRect">
            <a:avLst>
              <a:gd name="adj" fmla="val 7619"/>
            </a:avLst>
          </a:prstGeom>
          <a:solidFill>
            <a:srgbClr val="EEF4F2"/>
          </a:solidFill>
          <a:ln w="12700">
            <a:solidFill>
              <a:srgbClr val="D6E4E0"/>
            </a:solidFill>
            <a:prstDash val="solid"/>
          </a:ln>
        </p:spPr>
      </p:sp>
      <p:sp>
        <p:nvSpPr>
          <p:cNvPr id="10" name="Text 7"/>
          <p:cNvSpPr/>
          <p:nvPr/>
        </p:nvSpPr>
        <p:spPr>
          <a:xfrm>
            <a:off x="6053328" y="5138928"/>
            <a:ext cx="868680" cy="201168"/>
          </a:xfrm>
          <a:prstGeom prst="rect">
            <a:avLst/>
          </a:prstGeom>
          <a:noFill/>
          <a:ln/>
        </p:spPr>
        <p:txBody>
          <a:bodyPr wrap="square" lIns="0" tIns="0" rIns="0" bIns="0" rtlCol="0" anchor="ctr"/>
          <a:lstStyle/>
          <a:p>
            <a:pPr indent="0" marL="0">
              <a:buNone/>
            </a:pPr>
            <a:r>
              <a:rPr lang="en-US" sz="1000" b="1" dirty="0">
                <a:solidFill>
                  <a:srgbClr val="0F766E"/>
                </a:solidFill>
              </a:rPr>
              <a:t>Boundary</a:t>
            </a:r>
            <a:endParaRPr lang="en-US" sz="1000" dirty="0"/>
          </a:p>
        </p:txBody>
      </p:sp>
      <p:sp>
        <p:nvSpPr>
          <p:cNvPr id="11" name="Text 8"/>
          <p:cNvSpPr/>
          <p:nvPr/>
        </p:nvSpPr>
        <p:spPr>
          <a:xfrm>
            <a:off x="6903720" y="5047488"/>
            <a:ext cx="3675888" cy="475488"/>
          </a:xfrm>
          <a:prstGeom prst="rect">
            <a:avLst/>
          </a:prstGeom>
          <a:noFill/>
          <a:ln/>
        </p:spPr>
        <p:txBody>
          <a:bodyPr wrap="square" lIns="0" tIns="0" rIns="0" bIns="0" rtlCol="0" anchor="ctr">
            <a:normAutofit/>
          </a:bodyPr>
          <a:lstStyle/>
          <a:p>
            <a:pPr indent="0" marL="0">
              <a:buNone/>
            </a:pPr>
            <a:r>
              <a:rPr lang="en-US" sz="1050" dirty="0">
                <a:solidFill>
                  <a:srgbClr val="142925"/>
                </a:solidFill>
              </a:rPr>
              <a:t>Care-navigation assistant. No autonomous diagnosis, prescribing, medication changes, or replacement of licensed clinicians.</a:t>
            </a:r>
            <a:endParaRPr lang="en-US" sz="1050" dirty="0"/>
          </a:p>
        </p:txBody>
      </p:sp>
      <p:sp>
        <p:nvSpPr>
          <p:cNvPr id="12" name="Text 9"/>
          <p:cNvSpPr/>
          <p:nvPr/>
        </p:nvSpPr>
        <p:spPr>
          <a:xfrm>
            <a:off x="594360" y="6318504"/>
            <a:ext cx="9875520" cy="164592"/>
          </a:xfrm>
          <a:prstGeom prst="rect">
            <a:avLst/>
          </a:prstGeom>
          <a:noFill/>
          <a:ln/>
        </p:spPr>
        <p:txBody>
          <a:bodyPr wrap="square" lIns="0" tIns="0" rIns="0" bIns="0" rtlCol="0" anchor="ctr">
            <a:normAutofit/>
          </a:bodyPr>
          <a:lstStyle/>
          <a:p>
            <a:pPr indent="0" marL="0">
              <a:buNone/>
            </a:pPr>
            <a:r>
              <a:rPr lang="en-US" sz="650" dirty="0">
                <a:solidFill>
                  <a:srgbClr val="879591"/>
                </a:solidFill>
              </a:rPr>
              <a:t>IBM Bob is an AI SDLC partner for planning, coding, testing, and working with real codebases. Source: IBM Bob documentation, 2026.</a:t>
            </a:r>
            <a:endParaRPr lang="en-US" sz="650" dirty="0"/>
          </a:p>
        </p:txBody>
      </p:sp>
      <p:sp>
        <p:nvSpPr>
          <p:cNvPr id="25" name="Slide Number Placeholder 0"/>
          <p:cNvSpPr>
            <a:spLocks noGrp="1"/>
          </p:cNvSpPr>
          <p:nvPr>
            <p:ph type="sldNum" sz="quarter" idx="4294967295"/>
          </p:nvPr>
        </p:nvSpPr>
        <p:spPr>
          <a:xfrm>
            <a:off x="11704320" y="6565392"/>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7A8986"/>
                </a:solidFill>
                <a:latin typeface="Noto Sans"/>
                <a:ea typeface="Noto Sans"/>
                <a:cs typeface="Noto Sans"/>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94360" y="502920"/>
            <a:ext cx="4389120" cy="219456"/>
          </a:xfrm>
          <a:prstGeom prst="rect">
            <a:avLst/>
          </a:prstGeom>
          <a:noFill/>
          <a:ln/>
        </p:spPr>
        <p:txBody>
          <a:bodyPr wrap="square" lIns="0" tIns="0" rIns="0" bIns="0" rtlCol="0" anchor="ctr"/>
          <a:lstStyle/>
          <a:p>
            <a:pPr indent="0" marL="0">
              <a:buNone/>
            </a:pPr>
            <a:r>
              <a:rPr lang="en-US" sz="900" b="1" spc="120" kern="0" dirty="0">
                <a:solidFill>
                  <a:srgbClr val="0F766E"/>
                </a:solidFill>
              </a:rPr>
              <a:t>FAILURE TEST</a:t>
            </a:r>
            <a:endParaRPr lang="en-US" sz="900" dirty="0"/>
          </a:p>
        </p:txBody>
      </p:sp>
      <p:sp>
        <p:nvSpPr>
          <p:cNvPr id="3" name="Text 1"/>
          <p:cNvSpPr/>
          <p:nvPr/>
        </p:nvSpPr>
        <p:spPr>
          <a:xfrm>
            <a:off x="594360" y="786384"/>
            <a:ext cx="10972800" cy="566928"/>
          </a:xfrm>
          <a:prstGeom prst="rect">
            <a:avLst/>
          </a:prstGeom>
          <a:noFill/>
          <a:ln/>
        </p:spPr>
        <p:txBody>
          <a:bodyPr wrap="square" lIns="0" tIns="0" rIns="0" bIns="0" rtlCol="0" anchor="ctr">
            <a:normAutofit/>
          </a:bodyPr>
          <a:lstStyle/>
          <a:p>
            <a:pPr indent="0" marL="0">
              <a:buNone/>
            </a:pPr>
            <a:r>
              <a:rPr lang="en-US" sz="2600" b="1" dirty="0">
                <a:solidFill>
                  <a:srgbClr val="142925"/>
                </a:solidFill>
              </a:rPr>
              <a:t>The demo worked. That was the problem.</a:t>
            </a:r>
            <a:endParaRPr lang="en-US" sz="2600" dirty="0"/>
          </a:p>
        </p:txBody>
      </p:sp>
      <p:sp>
        <p:nvSpPr>
          <p:cNvPr id="4" name="Text 2"/>
          <p:cNvSpPr/>
          <p:nvPr/>
        </p:nvSpPr>
        <p:spPr>
          <a:xfrm>
            <a:off x="594360" y="1353312"/>
            <a:ext cx="10698480" cy="411480"/>
          </a:xfrm>
          <a:prstGeom prst="rect">
            <a:avLst/>
          </a:prstGeom>
          <a:noFill/>
          <a:ln/>
        </p:spPr>
        <p:txBody>
          <a:bodyPr wrap="square" lIns="0" tIns="0" rIns="0" bIns="0" rtlCol="0" anchor="ctr">
            <a:normAutofit/>
          </a:bodyPr>
          <a:lstStyle/>
          <a:p>
            <a:pPr indent="0" marL="0">
              <a:buNone/>
            </a:pPr>
            <a:r>
              <a:rPr lang="en-US" sz="1300" dirty="0">
                <a:solidFill>
                  <a:srgbClr val="5B6B68"/>
                </a:solidFill>
              </a:rPr>
              <a:t>A plausible conversation can hide a weak workflow.</a:t>
            </a:r>
            <a:endParaRPr lang="en-US" sz="1300" dirty="0"/>
          </a:p>
        </p:txBody>
      </p:sp>
      <p:sp>
        <p:nvSpPr>
          <p:cNvPr id="5" name="Shape 3"/>
          <p:cNvSpPr/>
          <p:nvPr/>
        </p:nvSpPr>
        <p:spPr>
          <a:xfrm>
            <a:off x="640080" y="1783080"/>
            <a:ext cx="4663440" cy="4251960"/>
          </a:xfrm>
          <a:prstGeom prst="roundRect">
            <a:avLst>
              <a:gd name="adj" fmla="val 1720"/>
            </a:avLst>
          </a:prstGeom>
          <a:solidFill>
            <a:srgbClr val="FFFFFF"/>
          </a:solidFill>
          <a:ln w="12700">
            <a:solidFill>
              <a:srgbClr val="D5DFDC"/>
            </a:solidFill>
            <a:prstDash val="solid"/>
          </a:ln>
          <a:effectLst>
            <a:outerShdw sx="100000" sy="100000" kx="0" ky="0" algn="bl" rotWithShape="0" blurRad="19050" dist="50800" dir="2700000">
              <a:srgbClr val="B6C4C0">
                <a:alpha val="15000"/>
              </a:srgbClr>
            </a:outerShdw>
          </a:effectLst>
        </p:spPr>
      </p:sp>
      <p:pic>
        <p:nvPicPr>
          <p:cNvPr id="6" name="Image 0" descr="/mnt/data/ppt_media/ppt/media/image3.jpg">    </p:cNvPr>
          <p:cNvPicPr>
            <a:picLocks noChangeAspect="1"/>
          </p:cNvPicPr>
          <p:nvPr/>
        </p:nvPicPr>
        <p:blipFill>
          <a:blip r:embed="rId1"/>
          <a:stretch>
            <a:fillRect/>
          </a:stretch>
        </p:blipFill>
        <p:spPr>
          <a:xfrm>
            <a:off x="822960" y="1947672"/>
            <a:ext cx="4297680" cy="3931920"/>
          </a:xfrm>
          <a:prstGeom prst="rect">
            <a:avLst/>
          </a:prstGeom>
        </p:spPr>
      </p:pic>
      <p:sp>
        <p:nvSpPr>
          <p:cNvPr id="7" name="Text 4"/>
          <p:cNvSpPr/>
          <p:nvPr/>
        </p:nvSpPr>
        <p:spPr>
          <a:xfrm>
            <a:off x="5715000" y="1965960"/>
            <a:ext cx="1143000" cy="228600"/>
          </a:xfrm>
          <a:prstGeom prst="rect">
            <a:avLst/>
          </a:prstGeom>
          <a:noFill/>
          <a:ln/>
        </p:spPr>
        <p:txBody>
          <a:bodyPr wrap="square" lIns="0" tIns="0" rIns="0" bIns="0" rtlCol="0" anchor="ctr"/>
          <a:lstStyle/>
          <a:p>
            <a:pPr indent="0" marL="0">
              <a:buNone/>
            </a:pPr>
            <a:r>
              <a:rPr lang="en-US" sz="1000" b="1" spc="100" kern="0" dirty="0">
                <a:solidFill>
                  <a:srgbClr val="0F766E"/>
                </a:solidFill>
              </a:rPr>
              <a:t>TEST INPUT</a:t>
            </a:r>
            <a:endParaRPr lang="en-US" sz="1000" dirty="0"/>
          </a:p>
        </p:txBody>
      </p:sp>
      <p:sp>
        <p:nvSpPr>
          <p:cNvPr id="8" name="Shape 5"/>
          <p:cNvSpPr/>
          <p:nvPr/>
        </p:nvSpPr>
        <p:spPr>
          <a:xfrm>
            <a:off x="5715000" y="2331720"/>
            <a:ext cx="5303520" cy="749808"/>
          </a:xfrm>
          <a:prstGeom prst="roundRect">
            <a:avLst>
              <a:gd name="adj" fmla="val 9756"/>
            </a:avLst>
          </a:prstGeom>
          <a:solidFill>
            <a:srgbClr val="142925"/>
          </a:solidFill>
          <a:ln w="12700">
            <a:solidFill>
              <a:srgbClr val="142925"/>
            </a:solidFill>
            <a:prstDash val="solid"/>
          </a:ln>
        </p:spPr>
      </p:sp>
      <p:sp>
        <p:nvSpPr>
          <p:cNvPr id="9" name="Text 6"/>
          <p:cNvSpPr/>
          <p:nvPr/>
        </p:nvSpPr>
        <p:spPr>
          <a:xfrm>
            <a:off x="5989320" y="2532888"/>
            <a:ext cx="4754880" cy="347472"/>
          </a:xfrm>
          <a:prstGeom prst="rect">
            <a:avLst/>
          </a:prstGeom>
          <a:noFill/>
          <a:ln/>
        </p:spPr>
        <p:txBody>
          <a:bodyPr wrap="square" lIns="0" tIns="0" rIns="0" bIns="0" rtlCol="0" anchor="ctr">
            <a:normAutofit/>
          </a:bodyPr>
          <a:lstStyle/>
          <a:p>
            <a:pPr indent="0" marL="0">
              <a:buNone/>
            </a:pPr>
            <a:r>
              <a:rPr lang="en-US" sz="1800" b="1" dirty="0">
                <a:solidFill>
                  <a:srgbClr val="FFFFFF"/>
                </a:solidFill>
              </a:rPr>
              <a:t>“I have a headache and feel nauseous.”</a:t>
            </a:r>
            <a:endParaRPr lang="en-US" sz="1800" dirty="0"/>
          </a:p>
        </p:txBody>
      </p:sp>
      <p:sp>
        <p:nvSpPr>
          <p:cNvPr id="10" name="Text 7"/>
          <p:cNvSpPr/>
          <p:nvPr/>
        </p:nvSpPr>
        <p:spPr>
          <a:xfrm>
            <a:off x="5715000" y="3364992"/>
            <a:ext cx="1554480" cy="228600"/>
          </a:xfrm>
          <a:prstGeom prst="rect">
            <a:avLst/>
          </a:prstGeom>
          <a:noFill/>
          <a:ln/>
        </p:spPr>
        <p:txBody>
          <a:bodyPr wrap="square" lIns="0" tIns="0" rIns="0" bIns="0" rtlCol="0" anchor="ctr"/>
          <a:lstStyle/>
          <a:p>
            <a:pPr indent="0" marL="0">
              <a:buNone/>
            </a:pPr>
            <a:r>
              <a:rPr lang="en-US" sz="1000" b="1" spc="100" kern="0" dirty="0">
                <a:solidFill>
                  <a:srgbClr val="C75345"/>
                </a:solidFill>
              </a:rPr>
              <a:t>WHAT HAPPENED</a:t>
            </a:r>
            <a:endParaRPr lang="en-US" sz="1000" dirty="0"/>
          </a:p>
        </p:txBody>
      </p:sp>
      <p:sp>
        <p:nvSpPr>
          <p:cNvPr id="11" name="Text 8"/>
          <p:cNvSpPr/>
          <p:nvPr/>
        </p:nvSpPr>
        <p:spPr>
          <a:xfrm>
            <a:off x="5715000" y="3703320"/>
            <a:ext cx="5257800" cy="841248"/>
          </a:xfrm>
          <a:prstGeom prst="rect">
            <a:avLst/>
          </a:prstGeom>
          <a:noFill/>
          <a:ln/>
        </p:spPr>
        <p:txBody>
          <a:bodyPr wrap="square" lIns="0" tIns="0" rIns="0" bIns="0" rtlCol="0" anchor="ctr">
            <a:normAutofit/>
          </a:bodyPr>
          <a:lstStyle/>
          <a:p>
            <a:pPr indent="0" marL="0">
              <a:buNone/>
            </a:pPr>
            <a:r>
              <a:rPr lang="en-US" sz="1500" b="1" dirty="0">
                <a:solidFill>
                  <a:srgbClr val="142925"/>
                </a:solidFill>
              </a:rPr>
              <a:t>The PCP agent repeatedly brought in Gastroenterology and Neurology before it had enough context to justify the routing.</a:t>
            </a:r>
            <a:endParaRPr lang="en-US" sz="1500" dirty="0"/>
          </a:p>
        </p:txBody>
      </p:sp>
      <p:sp>
        <p:nvSpPr>
          <p:cNvPr id="12" name="Shape 9"/>
          <p:cNvSpPr/>
          <p:nvPr/>
        </p:nvSpPr>
        <p:spPr>
          <a:xfrm>
            <a:off x="5715000" y="4800600"/>
            <a:ext cx="5285232" cy="914400"/>
          </a:xfrm>
          <a:prstGeom prst="roundRect">
            <a:avLst>
              <a:gd name="adj" fmla="val 8000"/>
            </a:avLst>
          </a:prstGeom>
          <a:solidFill>
            <a:srgbClr val="FCEAE6"/>
          </a:solidFill>
          <a:ln w="12700">
            <a:solidFill>
              <a:srgbClr val="F0C0B7"/>
            </a:solidFill>
            <a:prstDash val="solid"/>
          </a:ln>
        </p:spPr>
      </p:sp>
      <p:sp>
        <p:nvSpPr>
          <p:cNvPr id="13" name="Text 10"/>
          <p:cNvSpPr/>
          <p:nvPr/>
        </p:nvSpPr>
        <p:spPr>
          <a:xfrm>
            <a:off x="5989320" y="5084064"/>
            <a:ext cx="4709160" cy="329184"/>
          </a:xfrm>
          <a:prstGeom prst="rect">
            <a:avLst/>
          </a:prstGeom>
          <a:noFill/>
          <a:ln/>
        </p:spPr>
        <p:txBody>
          <a:bodyPr wrap="square" lIns="0" tIns="0" rIns="0" bIns="0" rtlCol="0" anchor="ctr">
            <a:normAutofit/>
          </a:bodyPr>
          <a:lstStyle/>
          <a:p>
            <a:pPr indent="0" marL="0">
              <a:buNone/>
            </a:pPr>
            <a:r>
              <a:rPr lang="en-US" sz="1500" b="1" dirty="0">
                <a:solidFill>
                  <a:srgbClr val="C75345"/>
                </a:solidFill>
              </a:rPr>
              <a:t>The safety disclaimer was correct. The workflow behavior was wrong.</a:t>
            </a:r>
            <a:endParaRPr lang="en-US" sz="1500" dirty="0"/>
          </a:p>
        </p:txBody>
      </p:sp>
      <p:sp>
        <p:nvSpPr>
          <p:cNvPr id="25" name="Slide Number Placeholder 0"/>
          <p:cNvSpPr>
            <a:spLocks noGrp="1"/>
          </p:cNvSpPr>
          <p:nvPr>
            <p:ph type="sldNum" sz="quarter" idx="4294967295"/>
          </p:nvPr>
        </p:nvSpPr>
        <p:spPr>
          <a:xfrm>
            <a:off x="11704320" y="6565392"/>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7A8986"/>
                </a:solidFill>
                <a:latin typeface="Noto Sans"/>
                <a:ea typeface="Noto Sans"/>
                <a:cs typeface="Noto Sans"/>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94360" y="502920"/>
            <a:ext cx="4389120" cy="219456"/>
          </a:xfrm>
          <a:prstGeom prst="rect">
            <a:avLst/>
          </a:prstGeom>
          <a:noFill/>
          <a:ln/>
        </p:spPr>
        <p:txBody>
          <a:bodyPr wrap="square" lIns="0" tIns="0" rIns="0" bIns="0" rtlCol="0" anchor="ctr"/>
          <a:lstStyle/>
          <a:p>
            <a:pPr indent="0" marL="0">
              <a:buNone/>
            </a:pPr>
            <a:r>
              <a:rPr lang="en-US" sz="900" b="1" spc="120" kern="0" dirty="0">
                <a:solidFill>
                  <a:srgbClr val="0F766E"/>
                </a:solidFill>
              </a:rPr>
              <a:t>WHAT FAILED</a:t>
            </a:r>
            <a:endParaRPr lang="en-US" sz="900" dirty="0"/>
          </a:p>
        </p:txBody>
      </p:sp>
      <p:sp>
        <p:nvSpPr>
          <p:cNvPr id="3" name="Text 1"/>
          <p:cNvSpPr/>
          <p:nvPr/>
        </p:nvSpPr>
        <p:spPr>
          <a:xfrm>
            <a:off x="594360" y="786384"/>
            <a:ext cx="10972800" cy="566928"/>
          </a:xfrm>
          <a:prstGeom prst="rect">
            <a:avLst/>
          </a:prstGeom>
          <a:noFill/>
          <a:ln/>
        </p:spPr>
        <p:txBody>
          <a:bodyPr wrap="square" lIns="0" tIns="0" rIns="0" bIns="0" rtlCol="0" anchor="ctr">
            <a:normAutofit/>
          </a:bodyPr>
          <a:lstStyle/>
          <a:p>
            <a:pPr indent="0" marL="0">
              <a:buNone/>
            </a:pPr>
            <a:r>
              <a:rPr lang="en-US" sz="2600" b="1" dirty="0">
                <a:solidFill>
                  <a:srgbClr val="142925"/>
                </a:solidFill>
              </a:rPr>
              <a:t>Activity is not correctness</a:t>
            </a:r>
            <a:endParaRPr lang="en-US" sz="2600" dirty="0"/>
          </a:p>
        </p:txBody>
      </p:sp>
      <p:sp>
        <p:nvSpPr>
          <p:cNvPr id="4" name="Text 2"/>
          <p:cNvSpPr/>
          <p:nvPr/>
        </p:nvSpPr>
        <p:spPr>
          <a:xfrm>
            <a:off x="594360" y="1353312"/>
            <a:ext cx="10698480" cy="411480"/>
          </a:xfrm>
          <a:prstGeom prst="rect">
            <a:avLst/>
          </a:prstGeom>
          <a:noFill/>
          <a:ln/>
        </p:spPr>
        <p:txBody>
          <a:bodyPr wrap="square" lIns="0" tIns="0" rIns="0" bIns="0" rtlCol="0" anchor="ctr">
            <a:normAutofit/>
          </a:bodyPr>
          <a:lstStyle/>
          <a:p>
            <a:pPr indent="0" marL="0">
              <a:buNone/>
            </a:pPr>
            <a:r>
              <a:rPr lang="en-US" sz="1300" dirty="0">
                <a:solidFill>
                  <a:srgbClr val="5B6B68"/>
                </a:solidFill>
              </a:rPr>
              <a:t>The orchestrator looked coordinated. The trajectory did not prove understanding.</a:t>
            </a:r>
            <a:endParaRPr lang="en-US" sz="1300" dirty="0"/>
          </a:p>
        </p:txBody>
      </p:sp>
      <p:sp>
        <p:nvSpPr>
          <p:cNvPr id="5" name="Shape 3"/>
          <p:cNvSpPr/>
          <p:nvPr/>
        </p:nvSpPr>
        <p:spPr>
          <a:xfrm>
            <a:off x="640080" y="1920240"/>
            <a:ext cx="3154680" cy="1920240"/>
          </a:xfrm>
          <a:prstGeom prst="roundRect">
            <a:avLst>
              <a:gd name="adj" fmla="val 3810"/>
            </a:avLst>
          </a:prstGeom>
          <a:solidFill>
            <a:srgbClr val="FFFFFF"/>
          </a:solidFill>
          <a:ln w="12700">
            <a:solidFill>
              <a:srgbClr val="D5DFDC"/>
            </a:solidFill>
            <a:prstDash val="solid"/>
          </a:ln>
        </p:spPr>
      </p:sp>
      <p:sp>
        <p:nvSpPr>
          <p:cNvPr id="6" name="Text 4"/>
          <p:cNvSpPr/>
          <p:nvPr/>
        </p:nvSpPr>
        <p:spPr>
          <a:xfrm>
            <a:off x="841248" y="2148840"/>
            <a:ext cx="457200" cy="347472"/>
          </a:xfrm>
          <a:prstGeom prst="rect">
            <a:avLst/>
          </a:prstGeom>
          <a:noFill/>
          <a:ln/>
        </p:spPr>
        <p:txBody>
          <a:bodyPr wrap="square" lIns="0" tIns="0" rIns="0" bIns="0" rtlCol="0" anchor="ctr"/>
          <a:lstStyle/>
          <a:p>
            <a:pPr indent="0" marL="0">
              <a:buNone/>
            </a:pPr>
            <a:r>
              <a:rPr lang="en-US" sz="1800" b="1" dirty="0">
                <a:solidFill>
                  <a:srgbClr val="C75345"/>
                </a:solidFill>
              </a:rPr>
              <a:t>01</a:t>
            </a:r>
            <a:endParaRPr lang="en-US" sz="1800" dirty="0"/>
          </a:p>
        </p:txBody>
      </p:sp>
      <p:sp>
        <p:nvSpPr>
          <p:cNvPr id="7" name="Text 5"/>
          <p:cNvSpPr/>
          <p:nvPr/>
        </p:nvSpPr>
        <p:spPr>
          <a:xfrm>
            <a:off x="1417320" y="2194560"/>
            <a:ext cx="1645920" cy="219456"/>
          </a:xfrm>
          <a:prstGeom prst="rect">
            <a:avLst/>
          </a:prstGeom>
          <a:noFill/>
          <a:ln/>
        </p:spPr>
        <p:txBody>
          <a:bodyPr wrap="square" lIns="0" tIns="0" rIns="0" bIns="0" rtlCol="0" anchor="ctr"/>
          <a:lstStyle/>
          <a:p>
            <a:pPr indent="0" marL="0">
              <a:buNone/>
            </a:pPr>
            <a:r>
              <a:rPr lang="en-US" sz="1100" b="1" spc="100" kern="0" dirty="0">
                <a:solidFill>
                  <a:srgbClr val="142925"/>
                </a:solidFill>
              </a:rPr>
              <a:t>ROUTING</a:t>
            </a:r>
            <a:endParaRPr lang="en-US" sz="1100" dirty="0"/>
          </a:p>
        </p:txBody>
      </p:sp>
      <p:sp>
        <p:nvSpPr>
          <p:cNvPr id="8" name="Text 6"/>
          <p:cNvSpPr/>
          <p:nvPr/>
        </p:nvSpPr>
        <p:spPr>
          <a:xfrm>
            <a:off x="841248" y="2761488"/>
            <a:ext cx="2743200" cy="749808"/>
          </a:xfrm>
          <a:prstGeom prst="rect">
            <a:avLst/>
          </a:prstGeom>
          <a:noFill/>
          <a:ln/>
        </p:spPr>
        <p:txBody>
          <a:bodyPr wrap="square" lIns="0" tIns="0" rIns="0" bIns="0" rtlCol="0" anchor="ctr">
            <a:normAutofit/>
          </a:bodyPr>
          <a:lstStyle/>
          <a:p>
            <a:pPr indent="0" marL="0">
              <a:buNone/>
            </a:pPr>
            <a:r>
              <a:rPr lang="en-US" sz="1250" dirty="0">
                <a:solidFill>
                  <a:srgbClr val="5B6B68"/>
                </a:solidFill>
              </a:rPr>
              <a:t>Specialists were involved before required context was gathered.</a:t>
            </a:r>
            <a:endParaRPr lang="en-US" sz="1250" dirty="0"/>
          </a:p>
        </p:txBody>
      </p:sp>
      <p:sp>
        <p:nvSpPr>
          <p:cNvPr id="9" name="Shape 7"/>
          <p:cNvSpPr/>
          <p:nvPr/>
        </p:nvSpPr>
        <p:spPr>
          <a:xfrm>
            <a:off x="4069080" y="1920240"/>
            <a:ext cx="3154680" cy="1920240"/>
          </a:xfrm>
          <a:prstGeom prst="roundRect">
            <a:avLst>
              <a:gd name="adj" fmla="val 3810"/>
            </a:avLst>
          </a:prstGeom>
          <a:solidFill>
            <a:srgbClr val="FFFFFF"/>
          </a:solidFill>
          <a:ln w="12700">
            <a:solidFill>
              <a:srgbClr val="D5DFDC"/>
            </a:solidFill>
            <a:prstDash val="solid"/>
          </a:ln>
        </p:spPr>
      </p:sp>
      <p:sp>
        <p:nvSpPr>
          <p:cNvPr id="10" name="Text 8"/>
          <p:cNvSpPr/>
          <p:nvPr/>
        </p:nvSpPr>
        <p:spPr>
          <a:xfrm>
            <a:off x="4270248" y="2148840"/>
            <a:ext cx="457200" cy="347472"/>
          </a:xfrm>
          <a:prstGeom prst="rect">
            <a:avLst/>
          </a:prstGeom>
          <a:noFill/>
          <a:ln/>
        </p:spPr>
        <p:txBody>
          <a:bodyPr wrap="square" lIns="0" tIns="0" rIns="0" bIns="0" rtlCol="0" anchor="ctr"/>
          <a:lstStyle/>
          <a:p>
            <a:pPr indent="0" marL="0">
              <a:buNone/>
            </a:pPr>
            <a:r>
              <a:rPr lang="en-US" sz="1800" b="1" dirty="0">
                <a:solidFill>
                  <a:srgbClr val="C75345"/>
                </a:solidFill>
              </a:rPr>
              <a:t>02</a:t>
            </a:r>
            <a:endParaRPr lang="en-US" sz="1800" dirty="0"/>
          </a:p>
        </p:txBody>
      </p:sp>
      <p:sp>
        <p:nvSpPr>
          <p:cNvPr id="11" name="Text 9"/>
          <p:cNvSpPr/>
          <p:nvPr/>
        </p:nvSpPr>
        <p:spPr>
          <a:xfrm>
            <a:off x="4846320" y="2194560"/>
            <a:ext cx="1645920" cy="219456"/>
          </a:xfrm>
          <a:prstGeom prst="rect">
            <a:avLst/>
          </a:prstGeom>
          <a:noFill/>
          <a:ln/>
        </p:spPr>
        <p:txBody>
          <a:bodyPr wrap="square" lIns="0" tIns="0" rIns="0" bIns="0" rtlCol="0" anchor="ctr"/>
          <a:lstStyle/>
          <a:p>
            <a:pPr indent="0" marL="0">
              <a:buNone/>
            </a:pPr>
            <a:r>
              <a:rPr lang="en-US" sz="1100" b="1" spc="100" kern="0" dirty="0">
                <a:solidFill>
                  <a:srgbClr val="142925"/>
                </a:solidFill>
              </a:rPr>
              <a:t>HANDOFF</a:t>
            </a:r>
            <a:endParaRPr lang="en-US" sz="1100" dirty="0"/>
          </a:p>
        </p:txBody>
      </p:sp>
      <p:sp>
        <p:nvSpPr>
          <p:cNvPr id="12" name="Text 10"/>
          <p:cNvSpPr/>
          <p:nvPr/>
        </p:nvSpPr>
        <p:spPr>
          <a:xfrm>
            <a:off x="4270248" y="2761488"/>
            <a:ext cx="2743200" cy="749808"/>
          </a:xfrm>
          <a:prstGeom prst="rect">
            <a:avLst/>
          </a:prstGeom>
          <a:noFill/>
          <a:ln/>
        </p:spPr>
        <p:txBody>
          <a:bodyPr wrap="square" lIns="0" tIns="0" rIns="0" bIns="0" rtlCol="0" anchor="ctr">
            <a:normAutofit/>
          </a:bodyPr>
          <a:lstStyle/>
          <a:p>
            <a:pPr indent="0" marL="0">
              <a:buNone/>
            </a:pPr>
            <a:r>
              <a:rPr lang="en-US" sz="1250" dirty="0">
                <a:solidFill>
                  <a:srgbClr val="5B6B68"/>
                </a:solidFill>
              </a:rPr>
              <a:t>The workflow did not prove what context moved to each specialist agent.</a:t>
            </a:r>
            <a:endParaRPr lang="en-US" sz="1250" dirty="0"/>
          </a:p>
        </p:txBody>
      </p:sp>
      <p:sp>
        <p:nvSpPr>
          <p:cNvPr id="13" name="Shape 11"/>
          <p:cNvSpPr/>
          <p:nvPr/>
        </p:nvSpPr>
        <p:spPr>
          <a:xfrm>
            <a:off x="7498080" y="1920240"/>
            <a:ext cx="3154680" cy="1920240"/>
          </a:xfrm>
          <a:prstGeom prst="roundRect">
            <a:avLst>
              <a:gd name="adj" fmla="val 3810"/>
            </a:avLst>
          </a:prstGeom>
          <a:solidFill>
            <a:srgbClr val="FFFFFF"/>
          </a:solidFill>
          <a:ln w="12700">
            <a:solidFill>
              <a:srgbClr val="D5DFDC"/>
            </a:solidFill>
            <a:prstDash val="solid"/>
          </a:ln>
        </p:spPr>
      </p:sp>
      <p:sp>
        <p:nvSpPr>
          <p:cNvPr id="14" name="Text 12"/>
          <p:cNvSpPr/>
          <p:nvPr/>
        </p:nvSpPr>
        <p:spPr>
          <a:xfrm>
            <a:off x="7699248" y="2148840"/>
            <a:ext cx="457200" cy="347472"/>
          </a:xfrm>
          <a:prstGeom prst="rect">
            <a:avLst/>
          </a:prstGeom>
          <a:noFill/>
          <a:ln/>
        </p:spPr>
        <p:txBody>
          <a:bodyPr wrap="square" lIns="0" tIns="0" rIns="0" bIns="0" rtlCol="0" anchor="ctr"/>
          <a:lstStyle/>
          <a:p>
            <a:pPr indent="0" marL="0">
              <a:buNone/>
            </a:pPr>
            <a:r>
              <a:rPr lang="en-US" sz="1800" b="1" dirty="0">
                <a:solidFill>
                  <a:srgbClr val="C75345"/>
                </a:solidFill>
              </a:rPr>
              <a:t>03</a:t>
            </a:r>
            <a:endParaRPr lang="en-US" sz="1800" dirty="0"/>
          </a:p>
        </p:txBody>
      </p:sp>
      <p:sp>
        <p:nvSpPr>
          <p:cNvPr id="15" name="Text 13"/>
          <p:cNvSpPr/>
          <p:nvPr/>
        </p:nvSpPr>
        <p:spPr>
          <a:xfrm>
            <a:off x="8275320" y="2194560"/>
            <a:ext cx="1645920" cy="219456"/>
          </a:xfrm>
          <a:prstGeom prst="rect">
            <a:avLst/>
          </a:prstGeom>
          <a:noFill/>
          <a:ln/>
        </p:spPr>
        <p:txBody>
          <a:bodyPr wrap="square" lIns="0" tIns="0" rIns="0" bIns="0" rtlCol="0" anchor="ctr"/>
          <a:lstStyle/>
          <a:p>
            <a:pPr indent="0" marL="0">
              <a:buNone/>
            </a:pPr>
            <a:r>
              <a:rPr lang="en-US" sz="1100" b="1" spc="100" kern="0" dirty="0">
                <a:solidFill>
                  <a:srgbClr val="142925"/>
                </a:solidFill>
              </a:rPr>
              <a:t>NEXT STEP</a:t>
            </a:r>
            <a:endParaRPr lang="en-US" sz="1100" dirty="0"/>
          </a:p>
        </p:txBody>
      </p:sp>
      <p:sp>
        <p:nvSpPr>
          <p:cNvPr id="16" name="Text 14"/>
          <p:cNvSpPr/>
          <p:nvPr/>
        </p:nvSpPr>
        <p:spPr>
          <a:xfrm>
            <a:off x="7699248" y="2761488"/>
            <a:ext cx="2743200" cy="749808"/>
          </a:xfrm>
          <a:prstGeom prst="rect">
            <a:avLst/>
          </a:prstGeom>
          <a:noFill/>
          <a:ln/>
        </p:spPr>
        <p:txBody>
          <a:bodyPr wrap="square" lIns="0" tIns="0" rIns="0" bIns="0" rtlCol="0" anchor="ctr">
            <a:normAutofit/>
          </a:bodyPr>
          <a:lstStyle/>
          <a:p>
            <a:pPr indent="0" marL="0">
              <a:buNone/>
            </a:pPr>
            <a:r>
              <a:rPr lang="en-US" sz="1250" dirty="0">
                <a:solidFill>
                  <a:srgbClr val="5B6B68"/>
                </a:solidFill>
              </a:rPr>
              <a:t>The path from intake to follow-up to summary was not deterministic.</a:t>
            </a:r>
            <a:endParaRPr lang="en-US" sz="1250" dirty="0"/>
          </a:p>
        </p:txBody>
      </p:sp>
      <p:sp>
        <p:nvSpPr>
          <p:cNvPr id="17" name="Text 15"/>
          <p:cNvSpPr/>
          <p:nvPr/>
        </p:nvSpPr>
        <p:spPr>
          <a:xfrm>
            <a:off x="640080" y="4343400"/>
            <a:ext cx="2834640" cy="320040"/>
          </a:xfrm>
          <a:prstGeom prst="rect">
            <a:avLst/>
          </a:prstGeom>
          <a:noFill/>
          <a:ln/>
        </p:spPr>
        <p:txBody>
          <a:bodyPr wrap="square" lIns="0" tIns="0" rIns="0" bIns="0" rtlCol="0" anchor="ctr"/>
          <a:lstStyle/>
          <a:p>
            <a:pPr indent="0" marL="0">
              <a:buNone/>
            </a:pPr>
            <a:r>
              <a:rPr lang="en-US" sz="1700" b="1" dirty="0">
                <a:solidFill>
                  <a:srgbClr val="142925"/>
                </a:solidFill>
              </a:rPr>
              <a:t>What should have happened first</a:t>
            </a:r>
            <a:endParaRPr lang="en-US" sz="1700" dirty="0"/>
          </a:p>
        </p:txBody>
      </p:sp>
      <p:sp>
        <p:nvSpPr>
          <p:cNvPr id="18" name="Shape 16"/>
          <p:cNvSpPr/>
          <p:nvPr/>
        </p:nvSpPr>
        <p:spPr>
          <a:xfrm>
            <a:off x="658368" y="4956048"/>
            <a:ext cx="420624" cy="420624"/>
          </a:xfrm>
          <a:prstGeom prst="ellipse">
            <a:avLst/>
          </a:prstGeom>
          <a:solidFill>
            <a:srgbClr val="FFFFFF"/>
          </a:solidFill>
          <a:ln w="19050">
            <a:solidFill>
              <a:srgbClr val="D5DFDC"/>
            </a:solidFill>
            <a:prstDash val="solid"/>
          </a:ln>
        </p:spPr>
      </p:sp>
      <p:sp>
        <p:nvSpPr>
          <p:cNvPr id="19" name="Text 17"/>
          <p:cNvSpPr/>
          <p:nvPr/>
        </p:nvSpPr>
        <p:spPr>
          <a:xfrm>
            <a:off x="676656" y="5056632"/>
            <a:ext cx="384048" cy="137160"/>
          </a:xfrm>
          <a:prstGeom prst="rect">
            <a:avLst/>
          </a:prstGeom>
          <a:noFill/>
          <a:ln/>
        </p:spPr>
        <p:txBody>
          <a:bodyPr wrap="square" lIns="0" tIns="0" rIns="0" bIns="0" rtlCol="0" anchor="ctr"/>
          <a:lstStyle/>
          <a:p>
            <a:pPr algn="ctr" indent="0" marL="0">
              <a:buNone/>
            </a:pPr>
            <a:r>
              <a:rPr lang="en-US" sz="800" b="1" dirty="0">
                <a:solidFill>
                  <a:srgbClr val="0F766E"/>
                </a:solidFill>
              </a:rPr>
              <a:t>1</a:t>
            </a:r>
            <a:endParaRPr lang="en-US" sz="800" dirty="0"/>
          </a:p>
        </p:txBody>
      </p:sp>
      <p:sp>
        <p:nvSpPr>
          <p:cNvPr id="20" name="Text 18"/>
          <p:cNvSpPr/>
          <p:nvPr/>
        </p:nvSpPr>
        <p:spPr>
          <a:xfrm>
            <a:off x="548640" y="5504688"/>
            <a:ext cx="1143000" cy="310896"/>
          </a:xfrm>
          <a:prstGeom prst="rect">
            <a:avLst/>
          </a:prstGeom>
          <a:noFill/>
          <a:ln/>
        </p:spPr>
        <p:txBody>
          <a:bodyPr wrap="square" lIns="0" tIns="0" rIns="0" bIns="0" rtlCol="0" anchor="ctr">
            <a:normAutofit/>
          </a:bodyPr>
          <a:lstStyle/>
          <a:p>
            <a:pPr algn="ctr" indent="0" marL="0">
              <a:buNone/>
            </a:pPr>
            <a:r>
              <a:rPr lang="en-US" sz="950" b="1" dirty="0">
                <a:solidFill>
                  <a:srgbClr val="142925"/>
                </a:solidFill>
              </a:rPr>
              <a:t>Onset</a:t>
            </a:r>
            <a:endParaRPr lang="en-US" sz="950" dirty="0"/>
          </a:p>
        </p:txBody>
      </p:sp>
      <p:sp>
        <p:nvSpPr>
          <p:cNvPr id="21" name="Shape 19"/>
          <p:cNvSpPr/>
          <p:nvPr/>
        </p:nvSpPr>
        <p:spPr>
          <a:xfrm>
            <a:off x="1097280" y="5166360"/>
            <a:ext cx="1325880" cy="0"/>
          </a:xfrm>
          <a:prstGeom prst="line">
            <a:avLst/>
          </a:prstGeom>
          <a:noFill/>
          <a:ln w="19050">
            <a:solidFill>
              <a:srgbClr val="D5DFDC"/>
            </a:solidFill>
            <a:prstDash val="solid"/>
            <a:headEnd type="none"/>
            <a:tailEnd type="triangle"/>
          </a:ln>
        </p:spPr>
      </p:sp>
      <p:sp>
        <p:nvSpPr>
          <p:cNvPr id="22" name="Shape 20"/>
          <p:cNvSpPr/>
          <p:nvPr/>
        </p:nvSpPr>
        <p:spPr>
          <a:xfrm>
            <a:off x="2487168" y="4956048"/>
            <a:ext cx="420624" cy="420624"/>
          </a:xfrm>
          <a:prstGeom prst="ellipse">
            <a:avLst/>
          </a:prstGeom>
          <a:solidFill>
            <a:srgbClr val="FFFFFF"/>
          </a:solidFill>
          <a:ln w="19050">
            <a:solidFill>
              <a:srgbClr val="D5DFDC"/>
            </a:solidFill>
            <a:prstDash val="solid"/>
          </a:ln>
        </p:spPr>
      </p:sp>
      <p:sp>
        <p:nvSpPr>
          <p:cNvPr id="23" name="Text 21"/>
          <p:cNvSpPr/>
          <p:nvPr/>
        </p:nvSpPr>
        <p:spPr>
          <a:xfrm>
            <a:off x="2505456" y="5056632"/>
            <a:ext cx="384048" cy="137160"/>
          </a:xfrm>
          <a:prstGeom prst="rect">
            <a:avLst/>
          </a:prstGeom>
          <a:noFill/>
          <a:ln/>
        </p:spPr>
        <p:txBody>
          <a:bodyPr wrap="square" lIns="0" tIns="0" rIns="0" bIns="0" rtlCol="0" anchor="ctr"/>
          <a:lstStyle/>
          <a:p>
            <a:pPr algn="ctr" indent="0" marL="0">
              <a:buNone/>
            </a:pPr>
            <a:r>
              <a:rPr lang="en-US" sz="800" b="1" dirty="0">
                <a:solidFill>
                  <a:srgbClr val="0F766E"/>
                </a:solidFill>
              </a:rPr>
              <a:t>2</a:t>
            </a:r>
            <a:endParaRPr lang="en-US" sz="800" dirty="0"/>
          </a:p>
        </p:txBody>
      </p:sp>
      <p:sp>
        <p:nvSpPr>
          <p:cNvPr id="24" name="Text 22"/>
          <p:cNvSpPr/>
          <p:nvPr/>
        </p:nvSpPr>
        <p:spPr>
          <a:xfrm>
            <a:off x="2377440" y="5504688"/>
            <a:ext cx="1143000" cy="310896"/>
          </a:xfrm>
          <a:prstGeom prst="rect">
            <a:avLst/>
          </a:prstGeom>
          <a:noFill/>
          <a:ln/>
        </p:spPr>
        <p:txBody>
          <a:bodyPr wrap="square" lIns="0" tIns="0" rIns="0" bIns="0" rtlCol="0" anchor="ctr">
            <a:normAutofit/>
          </a:bodyPr>
          <a:lstStyle/>
          <a:p>
            <a:pPr algn="ctr" indent="0" marL="0">
              <a:buNone/>
            </a:pPr>
            <a:r>
              <a:rPr lang="en-US" sz="950" b="1" dirty="0">
                <a:solidFill>
                  <a:srgbClr val="142925"/>
                </a:solidFill>
              </a:rPr>
              <a:t>Severity</a:t>
            </a:r>
            <a:endParaRPr lang="en-US" sz="950" dirty="0"/>
          </a:p>
        </p:txBody>
      </p:sp>
      <p:sp>
        <p:nvSpPr>
          <p:cNvPr id="25" name="Shape 23"/>
          <p:cNvSpPr/>
          <p:nvPr/>
        </p:nvSpPr>
        <p:spPr>
          <a:xfrm>
            <a:off x="2926080" y="5166360"/>
            <a:ext cx="1325880" cy="0"/>
          </a:xfrm>
          <a:prstGeom prst="line">
            <a:avLst/>
          </a:prstGeom>
          <a:noFill/>
          <a:ln w="19050">
            <a:solidFill>
              <a:srgbClr val="D5DFDC"/>
            </a:solidFill>
            <a:prstDash val="solid"/>
            <a:headEnd type="none"/>
            <a:tailEnd type="triangle"/>
          </a:ln>
        </p:spPr>
      </p:sp>
      <p:sp>
        <p:nvSpPr>
          <p:cNvPr id="26" name="Shape 24"/>
          <p:cNvSpPr/>
          <p:nvPr/>
        </p:nvSpPr>
        <p:spPr>
          <a:xfrm>
            <a:off x="4315968" y="4956048"/>
            <a:ext cx="420624" cy="420624"/>
          </a:xfrm>
          <a:prstGeom prst="ellipse">
            <a:avLst/>
          </a:prstGeom>
          <a:solidFill>
            <a:srgbClr val="FFFFFF"/>
          </a:solidFill>
          <a:ln w="19050">
            <a:solidFill>
              <a:srgbClr val="D5DFDC"/>
            </a:solidFill>
            <a:prstDash val="solid"/>
          </a:ln>
        </p:spPr>
      </p:sp>
      <p:sp>
        <p:nvSpPr>
          <p:cNvPr id="27" name="Text 25"/>
          <p:cNvSpPr/>
          <p:nvPr/>
        </p:nvSpPr>
        <p:spPr>
          <a:xfrm>
            <a:off x="4334256" y="5056632"/>
            <a:ext cx="384048" cy="137160"/>
          </a:xfrm>
          <a:prstGeom prst="rect">
            <a:avLst/>
          </a:prstGeom>
          <a:noFill/>
          <a:ln/>
        </p:spPr>
        <p:txBody>
          <a:bodyPr wrap="square" lIns="0" tIns="0" rIns="0" bIns="0" rtlCol="0" anchor="ctr"/>
          <a:lstStyle/>
          <a:p>
            <a:pPr algn="ctr" indent="0" marL="0">
              <a:buNone/>
            </a:pPr>
            <a:r>
              <a:rPr lang="en-US" sz="800" b="1" dirty="0">
                <a:solidFill>
                  <a:srgbClr val="0F766E"/>
                </a:solidFill>
              </a:rPr>
              <a:t>3</a:t>
            </a:r>
            <a:endParaRPr lang="en-US" sz="800" dirty="0"/>
          </a:p>
        </p:txBody>
      </p:sp>
      <p:sp>
        <p:nvSpPr>
          <p:cNvPr id="28" name="Text 26"/>
          <p:cNvSpPr/>
          <p:nvPr/>
        </p:nvSpPr>
        <p:spPr>
          <a:xfrm>
            <a:off x="4206240" y="5504688"/>
            <a:ext cx="1143000" cy="310896"/>
          </a:xfrm>
          <a:prstGeom prst="rect">
            <a:avLst/>
          </a:prstGeom>
          <a:noFill/>
          <a:ln/>
        </p:spPr>
        <p:txBody>
          <a:bodyPr wrap="square" lIns="0" tIns="0" rIns="0" bIns="0" rtlCol="0" anchor="ctr">
            <a:normAutofit/>
          </a:bodyPr>
          <a:lstStyle/>
          <a:p>
            <a:pPr algn="ctr" indent="0" marL="0">
              <a:buNone/>
            </a:pPr>
            <a:r>
              <a:rPr lang="en-US" sz="950" b="1" dirty="0">
                <a:solidFill>
                  <a:srgbClr val="142925"/>
                </a:solidFill>
              </a:rPr>
              <a:t>Change</a:t>
            </a:r>
            <a:endParaRPr lang="en-US" sz="950" dirty="0"/>
          </a:p>
        </p:txBody>
      </p:sp>
      <p:sp>
        <p:nvSpPr>
          <p:cNvPr id="29" name="Shape 27"/>
          <p:cNvSpPr/>
          <p:nvPr/>
        </p:nvSpPr>
        <p:spPr>
          <a:xfrm>
            <a:off x="4754880" y="5166360"/>
            <a:ext cx="1325880" cy="0"/>
          </a:xfrm>
          <a:prstGeom prst="line">
            <a:avLst/>
          </a:prstGeom>
          <a:noFill/>
          <a:ln w="19050">
            <a:solidFill>
              <a:srgbClr val="D5DFDC"/>
            </a:solidFill>
            <a:prstDash val="solid"/>
            <a:headEnd type="none"/>
            <a:tailEnd type="triangle"/>
          </a:ln>
        </p:spPr>
      </p:sp>
      <p:sp>
        <p:nvSpPr>
          <p:cNvPr id="30" name="Shape 28"/>
          <p:cNvSpPr/>
          <p:nvPr/>
        </p:nvSpPr>
        <p:spPr>
          <a:xfrm>
            <a:off x="6144768" y="4956048"/>
            <a:ext cx="420624" cy="420624"/>
          </a:xfrm>
          <a:prstGeom prst="ellipse">
            <a:avLst/>
          </a:prstGeom>
          <a:solidFill>
            <a:srgbClr val="FFFFFF"/>
          </a:solidFill>
          <a:ln w="19050">
            <a:solidFill>
              <a:srgbClr val="D5DFDC"/>
            </a:solidFill>
            <a:prstDash val="solid"/>
          </a:ln>
        </p:spPr>
      </p:sp>
      <p:sp>
        <p:nvSpPr>
          <p:cNvPr id="31" name="Text 29"/>
          <p:cNvSpPr/>
          <p:nvPr/>
        </p:nvSpPr>
        <p:spPr>
          <a:xfrm>
            <a:off x="6163056" y="5056632"/>
            <a:ext cx="384048" cy="137160"/>
          </a:xfrm>
          <a:prstGeom prst="rect">
            <a:avLst/>
          </a:prstGeom>
          <a:noFill/>
          <a:ln/>
        </p:spPr>
        <p:txBody>
          <a:bodyPr wrap="square" lIns="0" tIns="0" rIns="0" bIns="0" rtlCol="0" anchor="ctr"/>
          <a:lstStyle/>
          <a:p>
            <a:pPr algn="ctr" indent="0" marL="0">
              <a:buNone/>
            </a:pPr>
            <a:r>
              <a:rPr lang="en-US" sz="800" b="1" dirty="0">
                <a:solidFill>
                  <a:srgbClr val="0F766E"/>
                </a:solidFill>
              </a:rPr>
              <a:t>4</a:t>
            </a:r>
            <a:endParaRPr lang="en-US" sz="800" dirty="0"/>
          </a:p>
        </p:txBody>
      </p:sp>
      <p:sp>
        <p:nvSpPr>
          <p:cNvPr id="32" name="Text 30"/>
          <p:cNvSpPr/>
          <p:nvPr/>
        </p:nvSpPr>
        <p:spPr>
          <a:xfrm>
            <a:off x="6035040" y="5504688"/>
            <a:ext cx="1143000" cy="310896"/>
          </a:xfrm>
          <a:prstGeom prst="rect">
            <a:avLst/>
          </a:prstGeom>
          <a:noFill/>
          <a:ln/>
        </p:spPr>
        <p:txBody>
          <a:bodyPr wrap="square" lIns="0" tIns="0" rIns="0" bIns="0" rtlCol="0" anchor="ctr">
            <a:normAutofit/>
          </a:bodyPr>
          <a:lstStyle/>
          <a:p>
            <a:pPr algn="ctr" indent="0" marL="0">
              <a:buNone/>
            </a:pPr>
            <a:r>
              <a:rPr lang="en-US" sz="950" b="1" dirty="0">
                <a:solidFill>
                  <a:srgbClr val="142925"/>
                </a:solidFill>
              </a:rPr>
              <a:t>Warning signs</a:t>
            </a:r>
            <a:endParaRPr lang="en-US" sz="950" dirty="0"/>
          </a:p>
        </p:txBody>
      </p:sp>
      <p:sp>
        <p:nvSpPr>
          <p:cNvPr id="33" name="Shape 31"/>
          <p:cNvSpPr/>
          <p:nvPr/>
        </p:nvSpPr>
        <p:spPr>
          <a:xfrm>
            <a:off x="6583680" y="5166360"/>
            <a:ext cx="1325880" cy="0"/>
          </a:xfrm>
          <a:prstGeom prst="line">
            <a:avLst/>
          </a:prstGeom>
          <a:noFill/>
          <a:ln w="19050">
            <a:solidFill>
              <a:srgbClr val="D5DFDC"/>
            </a:solidFill>
            <a:prstDash val="solid"/>
            <a:headEnd type="none"/>
            <a:tailEnd type="triangle"/>
          </a:ln>
        </p:spPr>
      </p:sp>
      <p:sp>
        <p:nvSpPr>
          <p:cNvPr id="34" name="Shape 32"/>
          <p:cNvSpPr/>
          <p:nvPr/>
        </p:nvSpPr>
        <p:spPr>
          <a:xfrm>
            <a:off x="7973568" y="4956048"/>
            <a:ext cx="420624" cy="420624"/>
          </a:xfrm>
          <a:prstGeom prst="ellipse">
            <a:avLst/>
          </a:prstGeom>
          <a:solidFill>
            <a:srgbClr val="FFFFFF"/>
          </a:solidFill>
          <a:ln w="19050">
            <a:solidFill>
              <a:srgbClr val="D5DFDC"/>
            </a:solidFill>
            <a:prstDash val="solid"/>
          </a:ln>
        </p:spPr>
      </p:sp>
      <p:sp>
        <p:nvSpPr>
          <p:cNvPr id="35" name="Text 33"/>
          <p:cNvSpPr/>
          <p:nvPr/>
        </p:nvSpPr>
        <p:spPr>
          <a:xfrm>
            <a:off x="7991856" y="5056632"/>
            <a:ext cx="384048" cy="137160"/>
          </a:xfrm>
          <a:prstGeom prst="rect">
            <a:avLst/>
          </a:prstGeom>
          <a:noFill/>
          <a:ln/>
        </p:spPr>
        <p:txBody>
          <a:bodyPr wrap="square" lIns="0" tIns="0" rIns="0" bIns="0" rtlCol="0" anchor="ctr"/>
          <a:lstStyle/>
          <a:p>
            <a:pPr algn="ctr" indent="0" marL="0">
              <a:buNone/>
            </a:pPr>
            <a:r>
              <a:rPr lang="en-US" sz="800" b="1" dirty="0">
                <a:solidFill>
                  <a:srgbClr val="0F766E"/>
                </a:solidFill>
              </a:rPr>
              <a:t>5</a:t>
            </a:r>
            <a:endParaRPr lang="en-US" sz="800" dirty="0"/>
          </a:p>
        </p:txBody>
      </p:sp>
      <p:sp>
        <p:nvSpPr>
          <p:cNvPr id="36" name="Text 34"/>
          <p:cNvSpPr/>
          <p:nvPr/>
        </p:nvSpPr>
        <p:spPr>
          <a:xfrm>
            <a:off x="7863840" y="5504688"/>
            <a:ext cx="1143000" cy="310896"/>
          </a:xfrm>
          <a:prstGeom prst="rect">
            <a:avLst/>
          </a:prstGeom>
          <a:noFill/>
          <a:ln/>
        </p:spPr>
        <p:txBody>
          <a:bodyPr wrap="square" lIns="0" tIns="0" rIns="0" bIns="0" rtlCol="0" anchor="ctr">
            <a:normAutofit/>
          </a:bodyPr>
          <a:lstStyle/>
          <a:p>
            <a:pPr algn="ctr" indent="0" marL="0">
              <a:buNone/>
            </a:pPr>
            <a:r>
              <a:rPr lang="en-US" sz="950" b="1" dirty="0">
                <a:solidFill>
                  <a:srgbClr val="142925"/>
                </a:solidFill>
              </a:rPr>
              <a:t>Context complete?</a:t>
            </a:r>
            <a:endParaRPr lang="en-US" sz="950" dirty="0"/>
          </a:p>
        </p:txBody>
      </p:sp>
      <p:sp>
        <p:nvSpPr>
          <p:cNvPr id="37" name="Shape 35"/>
          <p:cNvSpPr/>
          <p:nvPr/>
        </p:nvSpPr>
        <p:spPr>
          <a:xfrm>
            <a:off x="8412480" y="5166360"/>
            <a:ext cx="1325880" cy="0"/>
          </a:xfrm>
          <a:prstGeom prst="line">
            <a:avLst/>
          </a:prstGeom>
          <a:noFill/>
          <a:ln w="19050">
            <a:solidFill>
              <a:srgbClr val="D5DFDC"/>
            </a:solidFill>
            <a:prstDash val="solid"/>
            <a:headEnd type="none"/>
            <a:tailEnd type="triangle"/>
          </a:ln>
        </p:spPr>
      </p:sp>
      <p:sp>
        <p:nvSpPr>
          <p:cNvPr id="38" name="Shape 36"/>
          <p:cNvSpPr/>
          <p:nvPr/>
        </p:nvSpPr>
        <p:spPr>
          <a:xfrm>
            <a:off x="9802368" y="4956048"/>
            <a:ext cx="420624" cy="420624"/>
          </a:xfrm>
          <a:prstGeom prst="ellipse">
            <a:avLst/>
          </a:prstGeom>
          <a:solidFill>
            <a:srgbClr val="0F766E"/>
          </a:solidFill>
          <a:ln w="19050">
            <a:solidFill>
              <a:srgbClr val="0F766E"/>
            </a:solidFill>
            <a:prstDash val="solid"/>
          </a:ln>
        </p:spPr>
      </p:sp>
      <p:sp>
        <p:nvSpPr>
          <p:cNvPr id="39" name="Text 37"/>
          <p:cNvSpPr/>
          <p:nvPr/>
        </p:nvSpPr>
        <p:spPr>
          <a:xfrm>
            <a:off x="9820656" y="5056632"/>
            <a:ext cx="384048" cy="137160"/>
          </a:xfrm>
          <a:prstGeom prst="rect">
            <a:avLst/>
          </a:prstGeom>
          <a:noFill/>
          <a:ln/>
        </p:spPr>
        <p:txBody>
          <a:bodyPr wrap="square" lIns="0" tIns="0" rIns="0" bIns="0" rtlCol="0" anchor="ctr"/>
          <a:lstStyle/>
          <a:p>
            <a:pPr algn="ctr" indent="0" marL="0">
              <a:buNone/>
            </a:pPr>
            <a:r>
              <a:rPr lang="en-US" sz="800" b="1" dirty="0">
                <a:solidFill>
                  <a:srgbClr val="FFFFFF"/>
                </a:solidFill>
              </a:rPr>
              <a:t>6</a:t>
            </a:r>
            <a:endParaRPr lang="en-US" sz="800" dirty="0"/>
          </a:p>
        </p:txBody>
      </p:sp>
      <p:sp>
        <p:nvSpPr>
          <p:cNvPr id="40" name="Text 38"/>
          <p:cNvSpPr/>
          <p:nvPr/>
        </p:nvSpPr>
        <p:spPr>
          <a:xfrm>
            <a:off x="9692640" y="5504688"/>
            <a:ext cx="1143000" cy="310896"/>
          </a:xfrm>
          <a:prstGeom prst="rect">
            <a:avLst/>
          </a:prstGeom>
          <a:noFill/>
          <a:ln/>
        </p:spPr>
        <p:txBody>
          <a:bodyPr wrap="square" lIns="0" tIns="0" rIns="0" bIns="0" rtlCol="0" anchor="ctr">
            <a:normAutofit/>
          </a:bodyPr>
          <a:lstStyle/>
          <a:p>
            <a:pPr algn="ctr" indent="0" marL="0">
              <a:buNone/>
            </a:pPr>
            <a:r>
              <a:rPr lang="en-US" sz="950" b="1" dirty="0">
                <a:solidFill>
                  <a:srgbClr val="142925"/>
                </a:solidFill>
              </a:rPr>
              <a:t>Then route</a:t>
            </a:r>
            <a:endParaRPr lang="en-US" sz="950" dirty="0"/>
          </a:p>
        </p:txBody>
      </p:sp>
      <p:sp>
        <p:nvSpPr>
          <p:cNvPr id="41" name="Shape 39"/>
          <p:cNvSpPr/>
          <p:nvPr/>
        </p:nvSpPr>
        <p:spPr>
          <a:xfrm>
            <a:off x="7726680" y="4315968"/>
            <a:ext cx="3383280" cy="932688"/>
          </a:xfrm>
          <a:prstGeom prst="roundRect">
            <a:avLst>
              <a:gd name="adj" fmla="val 7843"/>
            </a:avLst>
          </a:prstGeom>
          <a:solidFill>
            <a:srgbClr val="DDF3EE"/>
          </a:solidFill>
          <a:ln w="12700">
            <a:solidFill>
              <a:srgbClr val="DDF3EE"/>
            </a:solidFill>
            <a:prstDash val="solid"/>
          </a:ln>
        </p:spPr>
      </p:sp>
      <p:sp>
        <p:nvSpPr>
          <p:cNvPr id="42" name="Text 40"/>
          <p:cNvSpPr/>
          <p:nvPr/>
        </p:nvSpPr>
        <p:spPr>
          <a:xfrm>
            <a:off x="8001000" y="4517136"/>
            <a:ext cx="2834640" cy="530352"/>
          </a:xfrm>
          <a:prstGeom prst="rect">
            <a:avLst/>
          </a:prstGeom>
          <a:noFill/>
          <a:ln/>
        </p:spPr>
        <p:txBody>
          <a:bodyPr wrap="square" lIns="0" tIns="0" rIns="0" bIns="0" rtlCol="0" anchor="ctr">
            <a:normAutofit/>
          </a:bodyPr>
          <a:lstStyle/>
          <a:p>
            <a:pPr indent="0" marL="0">
              <a:buNone/>
            </a:pPr>
            <a:r>
              <a:rPr lang="en-US" sz="1350" b="1" dirty="0">
                <a:solidFill>
                  <a:srgbClr val="142925"/>
                </a:solidFill>
              </a:rPr>
              <a:t>Routing is a decision. A handoff is a contract. Both need evidence.</a:t>
            </a:r>
            <a:endParaRPr lang="en-US" sz="1350" dirty="0"/>
          </a:p>
        </p:txBody>
      </p:sp>
      <p:sp>
        <p:nvSpPr>
          <p:cNvPr id="25" name="Slide Number Placeholder 0"/>
          <p:cNvSpPr>
            <a:spLocks noGrp="1"/>
          </p:cNvSpPr>
          <p:nvPr>
            <p:ph type="sldNum" sz="quarter" idx="4294967295"/>
          </p:nvPr>
        </p:nvSpPr>
        <p:spPr>
          <a:xfrm>
            <a:off x="11704320" y="6565392"/>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7A8986"/>
                </a:solidFill>
                <a:latin typeface="Noto Sans"/>
                <a:ea typeface="Noto Sans"/>
                <a:cs typeface="Noto Sans"/>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94360" y="502920"/>
            <a:ext cx="4389120" cy="219456"/>
          </a:xfrm>
          <a:prstGeom prst="rect">
            <a:avLst/>
          </a:prstGeom>
          <a:noFill/>
          <a:ln/>
        </p:spPr>
        <p:txBody>
          <a:bodyPr wrap="square" lIns="0" tIns="0" rIns="0" bIns="0" rtlCol="0" anchor="ctr"/>
          <a:lstStyle/>
          <a:p>
            <a:pPr indent="0" marL="0">
              <a:buNone/>
            </a:pPr>
            <a:r>
              <a:rPr lang="en-US" sz="900" b="1" spc="120" kern="0" dirty="0">
                <a:solidFill>
                  <a:srgbClr val="0F766E"/>
                </a:solidFill>
              </a:rPr>
              <a:t>GOVERNED DESIGN</a:t>
            </a:r>
            <a:endParaRPr lang="en-US" sz="900" dirty="0"/>
          </a:p>
        </p:txBody>
      </p:sp>
      <p:sp>
        <p:nvSpPr>
          <p:cNvPr id="3" name="Text 1"/>
          <p:cNvSpPr/>
          <p:nvPr/>
        </p:nvSpPr>
        <p:spPr>
          <a:xfrm>
            <a:off x="594360" y="786384"/>
            <a:ext cx="10972800" cy="566928"/>
          </a:xfrm>
          <a:prstGeom prst="rect">
            <a:avLst/>
          </a:prstGeom>
          <a:noFill/>
          <a:ln/>
        </p:spPr>
        <p:txBody>
          <a:bodyPr wrap="square" lIns="0" tIns="0" rIns="0" bIns="0" rtlCol="0" anchor="ctr">
            <a:normAutofit/>
          </a:bodyPr>
          <a:lstStyle/>
          <a:p>
            <a:pPr indent="0" marL="0">
              <a:buNone/>
            </a:pPr>
            <a:r>
              <a:rPr lang="en-US" sz="2600" b="1" dirty="0">
                <a:solidFill>
                  <a:srgbClr val="142925"/>
                </a:solidFill>
              </a:rPr>
              <a:t>The architecture changed after the failure</a:t>
            </a:r>
            <a:endParaRPr lang="en-US" sz="2600" dirty="0"/>
          </a:p>
        </p:txBody>
      </p:sp>
      <p:sp>
        <p:nvSpPr>
          <p:cNvPr id="4" name="Text 2"/>
          <p:cNvSpPr/>
          <p:nvPr/>
        </p:nvSpPr>
        <p:spPr>
          <a:xfrm>
            <a:off x="594360" y="1353312"/>
            <a:ext cx="10698480" cy="411480"/>
          </a:xfrm>
          <a:prstGeom prst="rect">
            <a:avLst/>
          </a:prstGeom>
          <a:noFill/>
          <a:ln/>
        </p:spPr>
        <p:txBody>
          <a:bodyPr wrap="square" lIns="0" tIns="0" rIns="0" bIns="0" rtlCol="0" anchor="ctr">
            <a:normAutofit/>
          </a:bodyPr>
          <a:lstStyle/>
          <a:p>
            <a:pPr indent="0" marL="0">
              <a:buNone/>
            </a:pPr>
            <a:r>
              <a:rPr lang="en-US" sz="1300" dirty="0">
                <a:solidFill>
                  <a:srgbClr val="5B6B68"/>
                </a:solidFill>
              </a:rPr>
              <a:t>The agent still reasons. The workflow decides where reasoning is allowed.</a:t>
            </a:r>
            <a:endParaRPr lang="en-US" sz="1300" dirty="0"/>
          </a:p>
        </p:txBody>
      </p:sp>
      <p:sp>
        <p:nvSpPr>
          <p:cNvPr id="5" name="Shape 3"/>
          <p:cNvSpPr/>
          <p:nvPr/>
        </p:nvSpPr>
        <p:spPr>
          <a:xfrm>
            <a:off x="594360" y="1627632"/>
            <a:ext cx="11018520" cy="4526280"/>
          </a:xfrm>
          <a:prstGeom prst="roundRect">
            <a:avLst>
              <a:gd name="adj" fmla="val 1616"/>
            </a:avLst>
          </a:prstGeom>
          <a:solidFill>
            <a:srgbClr val="FFFFFF"/>
          </a:solidFill>
          <a:ln w="12700">
            <a:solidFill>
              <a:srgbClr val="D5DFDC"/>
            </a:solidFill>
            <a:prstDash val="solid"/>
          </a:ln>
          <a:effectLst>
            <a:outerShdw sx="100000" sy="100000" kx="0" ky="0" algn="bl" rotWithShape="0" blurRad="19050" dist="50800" dir="2700000">
              <a:srgbClr val="B6C4C0">
                <a:alpha val="15000"/>
              </a:srgbClr>
            </a:outerShdw>
          </a:effectLst>
        </p:spPr>
      </p:sp>
      <p:pic>
        <p:nvPicPr>
          <p:cNvPr id="6" name="Image 0" descr="/mnt/data/ppt_media/ppt/media/image1.jpeg">    </p:cNvPr>
          <p:cNvPicPr>
            <a:picLocks noChangeAspect="1"/>
          </p:cNvPicPr>
          <p:nvPr/>
        </p:nvPicPr>
        <p:blipFill>
          <a:blip r:embed="rId1"/>
          <a:stretch>
            <a:fillRect/>
          </a:stretch>
        </p:blipFill>
        <p:spPr>
          <a:xfrm>
            <a:off x="777240" y="1810512"/>
            <a:ext cx="10652760" cy="4114800"/>
          </a:xfrm>
          <a:prstGeom prst="rect">
            <a:avLst/>
          </a:prstGeom>
        </p:spPr>
      </p:pic>
      <p:sp>
        <p:nvSpPr>
          <p:cNvPr id="7" name="Shape 4"/>
          <p:cNvSpPr/>
          <p:nvPr/>
        </p:nvSpPr>
        <p:spPr>
          <a:xfrm>
            <a:off x="1463040" y="5596128"/>
            <a:ext cx="9235440" cy="566928"/>
          </a:xfrm>
          <a:prstGeom prst="roundRect">
            <a:avLst>
              <a:gd name="adj" fmla="val 12903"/>
            </a:avLst>
          </a:prstGeom>
          <a:solidFill>
            <a:srgbClr val="142925"/>
          </a:solidFill>
          <a:ln w="12700">
            <a:solidFill>
              <a:srgbClr val="142925"/>
            </a:solidFill>
            <a:prstDash val="solid"/>
          </a:ln>
        </p:spPr>
      </p:sp>
      <p:sp>
        <p:nvSpPr>
          <p:cNvPr id="8" name="Text 5"/>
          <p:cNvSpPr/>
          <p:nvPr/>
        </p:nvSpPr>
        <p:spPr>
          <a:xfrm>
            <a:off x="1737360" y="5797296"/>
            <a:ext cx="8686800" cy="164592"/>
          </a:xfrm>
          <a:prstGeom prst="rect">
            <a:avLst/>
          </a:prstGeom>
          <a:noFill/>
          <a:ln/>
        </p:spPr>
        <p:txBody>
          <a:bodyPr wrap="square" lIns="0" tIns="0" rIns="0" bIns="0" rtlCol="0" anchor="ctr">
            <a:normAutofit/>
          </a:bodyPr>
          <a:lstStyle/>
          <a:p>
            <a:pPr indent="0" marL="0">
              <a:buNone/>
            </a:pPr>
            <a:r>
              <a:rPr lang="en-US" sz="1320" b="1" dirty="0">
                <a:solidFill>
                  <a:srgbClr val="FFFFFF"/>
                </a:solidFill>
              </a:rPr>
              <a:t>Reasoning lives inside boundaries: routing rules, handoff context, tool checks, approval points, and traceability.</a:t>
            </a:r>
            <a:endParaRPr lang="en-US" sz="1320" dirty="0"/>
          </a:p>
        </p:txBody>
      </p:sp>
      <p:sp>
        <p:nvSpPr>
          <p:cNvPr id="25" name="Slide Number Placeholder 0"/>
          <p:cNvSpPr>
            <a:spLocks noGrp="1"/>
          </p:cNvSpPr>
          <p:nvPr>
            <p:ph type="sldNum" sz="quarter" idx="4294967295"/>
          </p:nvPr>
        </p:nvSpPr>
        <p:spPr>
          <a:xfrm>
            <a:off x="11704320" y="6565392"/>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7A8986"/>
                </a:solidFill>
                <a:latin typeface="Noto Sans"/>
                <a:ea typeface="Noto Sans"/>
                <a:cs typeface="Noto Sans"/>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94360" y="502920"/>
            <a:ext cx="4389120" cy="219456"/>
          </a:xfrm>
          <a:prstGeom prst="rect">
            <a:avLst/>
          </a:prstGeom>
          <a:noFill/>
          <a:ln/>
        </p:spPr>
        <p:txBody>
          <a:bodyPr wrap="square" lIns="0" tIns="0" rIns="0" bIns="0" rtlCol="0" anchor="ctr"/>
          <a:lstStyle/>
          <a:p>
            <a:pPr indent="0" marL="0">
              <a:buNone/>
            </a:pPr>
            <a:r>
              <a:rPr lang="en-US" sz="900" b="1" spc="120" kern="0" dirty="0">
                <a:solidFill>
                  <a:srgbClr val="0F766E"/>
                </a:solidFill>
              </a:rPr>
              <a:t>CONTEXT CONTRACT</a:t>
            </a:r>
            <a:endParaRPr lang="en-US" sz="900" dirty="0"/>
          </a:p>
        </p:txBody>
      </p:sp>
      <p:sp>
        <p:nvSpPr>
          <p:cNvPr id="3" name="Text 1"/>
          <p:cNvSpPr/>
          <p:nvPr/>
        </p:nvSpPr>
        <p:spPr>
          <a:xfrm>
            <a:off x="594360" y="786384"/>
            <a:ext cx="10972800" cy="566928"/>
          </a:xfrm>
          <a:prstGeom prst="rect">
            <a:avLst/>
          </a:prstGeom>
          <a:noFill/>
          <a:ln/>
        </p:spPr>
        <p:txBody>
          <a:bodyPr wrap="square" lIns="0" tIns="0" rIns="0" bIns="0" rtlCol="0" anchor="ctr">
            <a:normAutofit/>
          </a:bodyPr>
          <a:lstStyle/>
          <a:p>
            <a:pPr indent="0" marL="0">
              <a:buNone/>
            </a:pPr>
            <a:r>
              <a:rPr lang="en-US" sz="2600" b="1" dirty="0">
                <a:solidFill>
                  <a:srgbClr val="142925"/>
                </a:solidFill>
              </a:rPr>
              <a:t>The handoff is the product</a:t>
            </a:r>
            <a:endParaRPr lang="en-US" sz="2600" dirty="0"/>
          </a:p>
        </p:txBody>
      </p:sp>
      <p:sp>
        <p:nvSpPr>
          <p:cNvPr id="4" name="Text 2"/>
          <p:cNvSpPr/>
          <p:nvPr/>
        </p:nvSpPr>
        <p:spPr>
          <a:xfrm>
            <a:off x="594360" y="1353312"/>
            <a:ext cx="10698480" cy="411480"/>
          </a:xfrm>
          <a:prstGeom prst="rect">
            <a:avLst/>
          </a:prstGeom>
          <a:noFill/>
          <a:ln/>
        </p:spPr>
        <p:txBody>
          <a:bodyPr wrap="square" lIns="0" tIns="0" rIns="0" bIns="0" rtlCol="0" anchor="ctr">
            <a:normAutofit/>
          </a:bodyPr>
          <a:lstStyle/>
          <a:p>
            <a:pPr indent="0" marL="0">
              <a:buNone/>
            </a:pPr>
            <a:r>
              <a:rPr lang="en-US" sz="1300" dirty="0">
                <a:solidFill>
                  <a:srgbClr val="5B6B68"/>
                </a:solidFill>
              </a:rPr>
              <a:t>A specialist handoff should be inspectable, testable, and reconstructable.</a:t>
            </a:r>
            <a:endParaRPr lang="en-US" sz="1300" dirty="0"/>
          </a:p>
        </p:txBody>
      </p:sp>
      <p:sp>
        <p:nvSpPr>
          <p:cNvPr id="5" name="Shape 3"/>
          <p:cNvSpPr/>
          <p:nvPr/>
        </p:nvSpPr>
        <p:spPr>
          <a:xfrm>
            <a:off x="640080" y="1828800"/>
            <a:ext cx="2880360" cy="3931920"/>
          </a:xfrm>
          <a:prstGeom prst="roundRect">
            <a:avLst>
              <a:gd name="adj" fmla="val 2540"/>
            </a:avLst>
          </a:prstGeom>
          <a:solidFill>
            <a:srgbClr val="EEF4F2"/>
          </a:solidFill>
          <a:ln w="12700">
            <a:solidFill>
              <a:srgbClr val="D7E6E2"/>
            </a:solidFill>
            <a:prstDash val="solid"/>
          </a:ln>
        </p:spPr>
      </p:sp>
      <p:sp>
        <p:nvSpPr>
          <p:cNvPr id="6" name="Text 4"/>
          <p:cNvSpPr/>
          <p:nvPr/>
        </p:nvSpPr>
        <p:spPr>
          <a:xfrm>
            <a:off x="914400" y="2212848"/>
            <a:ext cx="2103120" cy="274320"/>
          </a:xfrm>
          <a:prstGeom prst="rect">
            <a:avLst/>
          </a:prstGeom>
          <a:noFill/>
          <a:ln/>
        </p:spPr>
        <p:txBody>
          <a:bodyPr wrap="square" lIns="0" tIns="0" rIns="0" bIns="0" rtlCol="0" anchor="ctr"/>
          <a:lstStyle/>
          <a:p>
            <a:pPr algn="ctr" indent="0" marL="0">
              <a:buNone/>
            </a:pPr>
            <a:r>
              <a:rPr lang="en-US" sz="1500" b="1" dirty="0">
                <a:solidFill>
                  <a:srgbClr val="0F766E"/>
                </a:solidFill>
              </a:rPr>
              <a:t>PCP ORCHESTRATOR</a:t>
            </a:r>
            <a:endParaRPr lang="en-US" sz="1500" dirty="0"/>
          </a:p>
        </p:txBody>
      </p:sp>
      <p:sp>
        <p:nvSpPr>
          <p:cNvPr id="7" name="Text 5"/>
          <p:cNvSpPr/>
          <p:nvPr/>
        </p:nvSpPr>
        <p:spPr>
          <a:xfrm>
            <a:off x="960120" y="2880360"/>
            <a:ext cx="2011680" cy="1234440"/>
          </a:xfrm>
          <a:prstGeom prst="rect">
            <a:avLst/>
          </a:prstGeom>
          <a:noFill/>
          <a:ln/>
        </p:spPr>
        <p:txBody>
          <a:bodyPr wrap="square" lIns="0" tIns="0" rIns="0" bIns="0" rtlCol="0" anchor="ctr">
            <a:normAutofit/>
          </a:bodyPr>
          <a:lstStyle/>
          <a:p>
            <a:pPr algn="ctr" indent="0" marL="0">
              <a:buNone/>
            </a:pPr>
            <a:r>
              <a:rPr lang="en-US" sz="1400" b="1" dirty="0">
                <a:solidFill>
                  <a:srgbClr val="142925"/>
                </a:solidFill>
              </a:rPr>
              <a:t>gathers context</a:t>
            </a:r>
            <a:endParaRPr lang="en-US" sz="1400" dirty="0"/>
          </a:p>
          <a:p>
            <a:pPr algn="ctr" indent="0" marL="0">
              <a:buNone/>
            </a:pPr>
            <a:r>
              <a:rPr lang="en-US" sz="1400" b="1" dirty="0">
                <a:solidFill>
                  <a:srgbClr val="142925"/>
                </a:solidFill>
              </a:rPr>
              <a:t>checks required fields</a:t>
            </a:r>
            <a:endParaRPr lang="en-US" sz="1400" dirty="0"/>
          </a:p>
          <a:p>
            <a:pPr algn="ctr" indent="0" marL="0">
              <a:buNone/>
            </a:pPr>
            <a:r>
              <a:rPr lang="en-US" sz="1400" b="1" dirty="0">
                <a:solidFill>
                  <a:srgbClr val="142925"/>
                </a:solidFill>
              </a:rPr>
              <a:t>decides whether routing is allowed</a:t>
            </a:r>
            <a:endParaRPr lang="en-US" sz="1400" dirty="0"/>
          </a:p>
        </p:txBody>
      </p:sp>
      <p:sp>
        <p:nvSpPr>
          <p:cNvPr id="8" name="Shape 6"/>
          <p:cNvSpPr/>
          <p:nvPr/>
        </p:nvSpPr>
        <p:spPr>
          <a:xfrm>
            <a:off x="3566160" y="3794760"/>
            <a:ext cx="1005840" cy="0"/>
          </a:xfrm>
          <a:prstGeom prst="line">
            <a:avLst/>
          </a:prstGeom>
          <a:noFill/>
          <a:ln w="25400">
            <a:solidFill>
              <a:srgbClr val="0F766E"/>
            </a:solidFill>
            <a:prstDash val="solid"/>
            <a:tailEnd type="triangle"/>
          </a:ln>
        </p:spPr>
      </p:sp>
      <p:sp>
        <p:nvSpPr>
          <p:cNvPr id="9" name="Shape 7"/>
          <p:cNvSpPr/>
          <p:nvPr/>
        </p:nvSpPr>
        <p:spPr>
          <a:xfrm>
            <a:off x="4572000" y="1709928"/>
            <a:ext cx="2971800" cy="4160520"/>
          </a:xfrm>
          <a:prstGeom prst="roundRect">
            <a:avLst>
              <a:gd name="adj" fmla="val 2462"/>
            </a:avLst>
          </a:prstGeom>
          <a:solidFill>
            <a:srgbClr val="FFFFFF"/>
          </a:solidFill>
          <a:ln w="25400">
            <a:solidFill>
              <a:srgbClr val="0F766E"/>
            </a:solidFill>
            <a:prstDash val="solid"/>
          </a:ln>
          <a:effectLst>
            <a:outerShdw sx="100000" sy="100000" kx="0" ky="0" algn="bl" rotWithShape="0" blurRad="19050" dist="50800" dir="2700000">
              <a:srgbClr val="B6C4C0">
                <a:alpha val="15000"/>
              </a:srgbClr>
            </a:outerShdw>
          </a:effectLst>
        </p:spPr>
      </p:sp>
      <p:sp>
        <p:nvSpPr>
          <p:cNvPr id="10" name="Text 8"/>
          <p:cNvSpPr/>
          <p:nvPr/>
        </p:nvSpPr>
        <p:spPr>
          <a:xfrm>
            <a:off x="4892040" y="1993392"/>
            <a:ext cx="2331720" cy="274320"/>
          </a:xfrm>
          <a:prstGeom prst="rect">
            <a:avLst/>
          </a:prstGeom>
          <a:noFill/>
          <a:ln/>
        </p:spPr>
        <p:txBody>
          <a:bodyPr wrap="square" lIns="0" tIns="0" rIns="0" bIns="0" rtlCol="0" anchor="ctr"/>
          <a:lstStyle/>
          <a:p>
            <a:pPr algn="ctr" indent="0" marL="0">
              <a:buNone/>
            </a:pPr>
            <a:r>
              <a:rPr lang="en-US" sz="1400" b="1" dirty="0">
                <a:solidFill>
                  <a:srgbClr val="142925"/>
                </a:solidFill>
              </a:rPr>
              <a:t>HANDOFF CONTRACT</a:t>
            </a:r>
            <a:endParaRPr lang="en-US" sz="1400" dirty="0"/>
          </a:p>
        </p:txBody>
      </p:sp>
      <p:sp>
        <p:nvSpPr>
          <p:cNvPr id="11" name="Shape 9"/>
          <p:cNvSpPr/>
          <p:nvPr/>
        </p:nvSpPr>
        <p:spPr>
          <a:xfrm>
            <a:off x="4892040" y="2514600"/>
            <a:ext cx="310896" cy="310896"/>
          </a:xfrm>
          <a:prstGeom prst="ellipse">
            <a:avLst/>
          </a:prstGeom>
          <a:solidFill>
            <a:srgbClr val="DDF3EE"/>
          </a:solidFill>
          <a:ln w="12700">
            <a:solidFill>
              <a:srgbClr val="DDF3EE"/>
            </a:solidFill>
            <a:prstDash val="solid"/>
          </a:ln>
        </p:spPr>
      </p:sp>
      <p:sp>
        <p:nvSpPr>
          <p:cNvPr id="12" name="Text 10"/>
          <p:cNvSpPr/>
          <p:nvPr/>
        </p:nvSpPr>
        <p:spPr>
          <a:xfrm>
            <a:off x="4901184" y="2587752"/>
            <a:ext cx="292608" cy="109728"/>
          </a:xfrm>
          <a:prstGeom prst="rect">
            <a:avLst/>
          </a:prstGeom>
          <a:noFill/>
          <a:ln/>
        </p:spPr>
        <p:txBody>
          <a:bodyPr wrap="square" lIns="0" tIns="0" rIns="0" bIns="0" rtlCol="0" anchor="ctr"/>
          <a:lstStyle/>
          <a:p>
            <a:pPr algn="ctr" indent="0" marL="0">
              <a:buNone/>
            </a:pPr>
            <a:r>
              <a:rPr lang="en-US" sz="750" b="1" dirty="0">
                <a:solidFill>
                  <a:srgbClr val="0F766E"/>
                </a:solidFill>
              </a:rPr>
              <a:t>1</a:t>
            </a:r>
            <a:endParaRPr lang="en-US" sz="750" dirty="0"/>
          </a:p>
        </p:txBody>
      </p:sp>
      <p:sp>
        <p:nvSpPr>
          <p:cNvPr id="13" name="Text 11"/>
          <p:cNvSpPr/>
          <p:nvPr/>
        </p:nvSpPr>
        <p:spPr>
          <a:xfrm>
            <a:off x="5349240" y="2542032"/>
            <a:ext cx="1828800" cy="246888"/>
          </a:xfrm>
          <a:prstGeom prst="rect">
            <a:avLst/>
          </a:prstGeom>
          <a:noFill/>
          <a:ln/>
        </p:spPr>
        <p:txBody>
          <a:bodyPr wrap="square" lIns="0" tIns="0" rIns="0" bIns="0" rtlCol="0" anchor="ctr">
            <a:normAutofit/>
          </a:bodyPr>
          <a:lstStyle/>
          <a:p>
            <a:pPr indent="0" marL="0">
              <a:buNone/>
            </a:pPr>
            <a:r>
              <a:rPr lang="en-US" sz="1050" dirty="0">
                <a:solidFill>
                  <a:srgbClr val="142925"/>
                </a:solidFill>
              </a:rPr>
              <a:t>Symptoms + patient concern</a:t>
            </a:r>
            <a:endParaRPr lang="en-US" sz="1050" dirty="0"/>
          </a:p>
        </p:txBody>
      </p:sp>
      <p:sp>
        <p:nvSpPr>
          <p:cNvPr id="14" name="Shape 12"/>
          <p:cNvSpPr/>
          <p:nvPr/>
        </p:nvSpPr>
        <p:spPr>
          <a:xfrm>
            <a:off x="4892040" y="3081528"/>
            <a:ext cx="310896" cy="310896"/>
          </a:xfrm>
          <a:prstGeom prst="ellipse">
            <a:avLst/>
          </a:prstGeom>
          <a:solidFill>
            <a:srgbClr val="DDF3EE"/>
          </a:solidFill>
          <a:ln w="12700">
            <a:solidFill>
              <a:srgbClr val="DDF3EE"/>
            </a:solidFill>
            <a:prstDash val="solid"/>
          </a:ln>
        </p:spPr>
      </p:sp>
      <p:sp>
        <p:nvSpPr>
          <p:cNvPr id="15" name="Text 13"/>
          <p:cNvSpPr/>
          <p:nvPr/>
        </p:nvSpPr>
        <p:spPr>
          <a:xfrm>
            <a:off x="4901184" y="3154680"/>
            <a:ext cx="292608" cy="109728"/>
          </a:xfrm>
          <a:prstGeom prst="rect">
            <a:avLst/>
          </a:prstGeom>
          <a:noFill/>
          <a:ln/>
        </p:spPr>
        <p:txBody>
          <a:bodyPr wrap="square" lIns="0" tIns="0" rIns="0" bIns="0" rtlCol="0" anchor="ctr"/>
          <a:lstStyle/>
          <a:p>
            <a:pPr algn="ctr" indent="0" marL="0">
              <a:buNone/>
            </a:pPr>
            <a:r>
              <a:rPr lang="en-US" sz="750" b="1" dirty="0">
                <a:solidFill>
                  <a:srgbClr val="0F766E"/>
                </a:solidFill>
              </a:rPr>
              <a:t>2</a:t>
            </a:r>
            <a:endParaRPr lang="en-US" sz="750" dirty="0"/>
          </a:p>
        </p:txBody>
      </p:sp>
      <p:sp>
        <p:nvSpPr>
          <p:cNvPr id="16" name="Text 14"/>
          <p:cNvSpPr/>
          <p:nvPr/>
        </p:nvSpPr>
        <p:spPr>
          <a:xfrm>
            <a:off x="5349240" y="3108960"/>
            <a:ext cx="1828800" cy="246888"/>
          </a:xfrm>
          <a:prstGeom prst="rect">
            <a:avLst/>
          </a:prstGeom>
          <a:noFill/>
          <a:ln/>
        </p:spPr>
        <p:txBody>
          <a:bodyPr wrap="square" lIns="0" tIns="0" rIns="0" bIns="0" rtlCol="0" anchor="ctr">
            <a:normAutofit/>
          </a:bodyPr>
          <a:lstStyle/>
          <a:p>
            <a:pPr indent="0" marL="0">
              <a:buNone/>
            </a:pPr>
            <a:r>
              <a:rPr lang="en-US" sz="1050" dirty="0">
                <a:solidFill>
                  <a:srgbClr val="142925"/>
                </a:solidFill>
              </a:rPr>
              <a:t>Timeline + severity</a:t>
            </a:r>
            <a:endParaRPr lang="en-US" sz="1050" dirty="0"/>
          </a:p>
        </p:txBody>
      </p:sp>
      <p:sp>
        <p:nvSpPr>
          <p:cNvPr id="17" name="Shape 15"/>
          <p:cNvSpPr/>
          <p:nvPr/>
        </p:nvSpPr>
        <p:spPr>
          <a:xfrm>
            <a:off x="4892040" y="3648456"/>
            <a:ext cx="310896" cy="310896"/>
          </a:xfrm>
          <a:prstGeom prst="ellipse">
            <a:avLst/>
          </a:prstGeom>
          <a:solidFill>
            <a:srgbClr val="DDF3EE"/>
          </a:solidFill>
          <a:ln w="12700">
            <a:solidFill>
              <a:srgbClr val="DDF3EE"/>
            </a:solidFill>
            <a:prstDash val="solid"/>
          </a:ln>
        </p:spPr>
      </p:sp>
      <p:sp>
        <p:nvSpPr>
          <p:cNvPr id="18" name="Text 16"/>
          <p:cNvSpPr/>
          <p:nvPr/>
        </p:nvSpPr>
        <p:spPr>
          <a:xfrm>
            <a:off x="4901184" y="3721608"/>
            <a:ext cx="292608" cy="109728"/>
          </a:xfrm>
          <a:prstGeom prst="rect">
            <a:avLst/>
          </a:prstGeom>
          <a:noFill/>
          <a:ln/>
        </p:spPr>
        <p:txBody>
          <a:bodyPr wrap="square" lIns="0" tIns="0" rIns="0" bIns="0" rtlCol="0" anchor="ctr"/>
          <a:lstStyle/>
          <a:p>
            <a:pPr algn="ctr" indent="0" marL="0">
              <a:buNone/>
            </a:pPr>
            <a:r>
              <a:rPr lang="en-US" sz="750" b="1" dirty="0">
                <a:solidFill>
                  <a:srgbClr val="0F766E"/>
                </a:solidFill>
              </a:rPr>
              <a:t>3</a:t>
            </a:r>
            <a:endParaRPr lang="en-US" sz="750" dirty="0"/>
          </a:p>
        </p:txBody>
      </p:sp>
      <p:sp>
        <p:nvSpPr>
          <p:cNvPr id="19" name="Text 17"/>
          <p:cNvSpPr/>
          <p:nvPr/>
        </p:nvSpPr>
        <p:spPr>
          <a:xfrm>
            <a:off x="5349240" y="3675888"/>
            <a:ext cx="1828800" cy="246888"/>
          </a:xfrm>
          <a:prstGeom prst="rect">
            <a:avLst/>
          </a:prstGeom>
          <a:noFill/>
          <a:ln/>
        </p:spPr>
        <p:txBody>
          <a:bodyPr wrap="square" lIns="0" tIns="0" rIns="0" bIns="0" rtlCol="0" anchor="ctr">
            <a:normAutofit/>
          </a:bodyPr>
          <a:lstStyle/>
          <a:p>
            <a:pPr indent="0" marL="0">
              <a:buNone/>
            </a:pPr>
            <a:r>
              <a:rPr lang="en-US" sz="1050" dirty="0">
                <a:solidFill>
                  <a:srgbClr val="142925"/>
                </a:solidFill>
              </a:rPr>
              <a:t>Relevant history + meds</a:t>
            </a:r>
            <a:endParaRPr lang="en-US" sz="1050" dirty="0"/>
          </a:p>
        </p:txBody>
      </p:sp>
      <p:sp>
        <p:nvSpPr>
          <p:cNvPr id="20" name="Shape 18"/>
          <p:cNvSpPr/>
          <p:nvPr/>
        </p:nvSpPr>
        <p:spPr>
          <a:xfrm>
            <a:off x="4892040" y="4215384"/>
            <a:ext cx="310896" cy="310896"/>
          </a:xfrm>
          <a:prstGeom prst="ellipse">
            <a:avLst/>
          </a:prstGeom>
          <a:solidFill>
            <a:srgbClr val="DDF3EE"/>
          </a:solidFill>
          <a:ln w="12700">
            <a:solidFill>
              <a:srgbClr val="DDF3EE"/>
            </a:solidFill>
            <a:prstDash val="solid"/>
          </a:ln>
        </p:spPr>
      </p:sp>
      <p:sp>
        <p:nvSpPr>
          <p:cNvPr id="21" name="Text 19"/>
          <p:cNvSpPr/>
          <p:nvPr/>
        </p:nvSpPr>
        <p:spPr>
          <a:xfrm>
            <a:off x="4901184" y="4288536"/>
            <a:ext cx="292608" cy="109728"/>
          </a:xfrm>
          <a:prstGeom prst="rect">
            <a:avLst/>
          </a:prstGeom>
          <a:noFill/>
          <a:ln/>
        </p:spPr>
        <p:txBody>
          <a:bodyPr wrap="square" lIns="0" tIns="0" rIns="0" bIns="0" rtlCol="0" anchor="ctr"/>
          <a:lstStyle/>
          <a:p>
            <a:pPr algn="ctr" indent="0" marL="0">
              <a:buNone/>
            </a:pPr>
            <a:r>
              <a:rPr lang="en-US" sz="750" b="1" dirty="0">
                <a:solidFill>
                  <a:srgbClr val="0F766E"/>
                </a:solidFill>
              </a:rPr>
              <a:t>4</a:t>
            </a:r>
            <a:endParaRPr lang="en-US" sz="750" dirty="0"/>
          </a:p>
        </p:txBody>
      </p:sp>
      <p:sp>
        <p:nvSpPr>
          <p:cNvPr id="22" name="Text 20"/>
          <p:cNvSpPr/>
          <p:nvPr/>
        </p:nvSpPr>
        <p:spPr>
          <a:xfrm>
            <a:off x="5349240" y="4242816"/>
            <a:ext cx="1828800" cy="246888"/>
          </a:xfrm>
          <a:prstGeom prst="rect">
            <a:avLst/>
          </a:prstGeom>
          <a:noFill/>
          <a:ln/>
        </p:spPr>
        <p:txBody>
          <a:bodyPr wrap="square" lIns="0" tIns="0" rIns="0" bIns="0" rtlCol="0" anchor="ctr">
            <a:normAutofit/>
          </a:bodyPr>
          <a:lstStyle/>
          <a:p>
            <a:pPr indent="0" marL="0">
              <a:buNone/>
            </a:pPr>
            <a:r>
              <a:rPr lang="en-US" sz="1050" dirty="0">
                <a:solidFill>
                  <a:srgbClr val="142925"/>
                </a:solidFill>
              </a:rPr>
              <a:t>Red flags checked</a:t>
            </a:r>
            <a:endParaRPr lang="en-US" sz="1050" dirty="0"/>
          </a:p>
        </p:txBody>
      </p:sp>
      <p:sp>
        <p:nvSpPr>
          <p:cNvPr id="23" name="Shape 21"/>
          <p:cNvSpPr/>
          <p:nvPr/>
        </p:nvSpPr>
        <p:spPr>
          <a:xfrm>
            <a:off x="4892040" y="4782312"/>
            <a:ext cx="310896" cy="310896"/>
          </a:xfrm>
          <a:prstGeom prst="ellipse">
            <a:avLst/>
          </a:prstGeom>
          <a:solidFill>
            <a:srgbClr val="DDF3EE"/>
          </a:solidFill>
          <a:ln w="12700">
            <a:solidFill>
              <a:srgbClr val="DDF3EE"/>
            </a:solidFill>
            <a:prstDash val="solid"/>
          </a:ln>
        </p:spPr>
      </p:sp>
      <p:sp>
        <p:nvSpPr>
          <p:cNvPr id="24" name="Text 22"/>
          <p:cNvSpPr/>
          <p:nvPr/>
        </p:nvSpPr>
        <p:spPr>
          <a:xfrm>
            <a:off x="4901184" y="4855464"/>
            <a:ext cx="292608" cy="109728"/>
          </a:xfrm>
          <a:prstGeom prst="rect">
            <a:avLst/>
          </a:prstGeom>
          <a:noFill/>
          <a:ln/>
        </p:spPr>
        <p:txBody>
          <a:bodyPr wrap="square" lIns="0" tIns="0" rIns="0" bIns="0" rtlCol="0" anchor="ctr"/>
          <a:lstStyle/>
          <a:p>
            <a:pPr algn="ctr" indent="0" marL="0">
              <a:buNone/>
            </a:pPr>
            <a:r>
              <a:rPr lang="en-US" sz="750" b="1" dirty="0">
                <a:solidFill>
                  <a:srgbClr val="0F766E"/>
                </a:solidFill>
              </a:rPr>
              <a:t>5</a:t>
            </a:r>
            <a:endParaRPr lang="en-US" sz="750" dirty="0"/>
          </a:p>
        </p:txBody>
      </p:sp>
      <p:sp>
        <p:nvSpPr>
          <p:cNvPr id="25" name="Text 23"/>
          <p:cNvSpPr/>
          <p:nvPr/>
        </p:nvSpPr>
        <p:spPr>
          <a:xfrm>
            <a:off x="5349240" y="4809744"/>
            <a:ext cx="1828800" cy="246888"/>
          </a:xfrm>
          <a:prstGeom prst="rect">
            <a:avLst/>
          </a:prstGeom>
          <a:noFill/>
          <a:ln/>
        </p:spPr>
        <p:txBody>
          <a:bodyPr wrap="square" lIns="0" tIns="0" rIns="0" bIns="0" rtlCol="0" anchor="ctr">
            <a:normAutofit/>
          </a:bodyPr>
          <a:lstStyle/>
          <a:p>
            <a:pPr indent="0" marL="0">
              <a:buNone/>
            </a:pPr>
            <a:r>
              <a:rPr lang="en-US" sz="1050" dirty="0">
                <a:solidFill>
                  <a:srgbClr val="142925"/>
                </a:solidFill>
              </a:rPr>
              <a:t>Reason for specialist input</a:t>
            </a:r>
            <a:endParaRPr lang="en-US" sz="1050" dirty="0"/>
          </a:p>
        </p:txBody>
      </p:sp>
      <p:sp>
        <p:nvSpPr>
          <p:cNvPr id="26" name="Shape 24"/>
          <p:cNvSpPr/>
          <p:nvPr/>
        </p:nvSpPr>
        <p:spPr>
          <a:xfrm>
            <a:off x="7543800" y="3794760"/>
            <a:ext cx="960120" cy="0"/>
          </a:xfrm>
          <a:prstGeom prst="line">
            <a:avLst/>
          </a:prstGeom>
          <a:noFill/>
          <a:ln w="25400">
            <a:solidFill>
              <a:srgbClr val="0F766E"/>
            </a:solidFill>
            <a:prstDash val="solid"/>
            <a:tailEnd type="triangle"/>
          </a:ln>
        </p:spPr>
      </p:sp>
      <p:sp>
        <p:nvSpPr>
          <p:cNvPr id="27" name="Shape 25"/>
          <p:cNvSpPr/>
          <p:nvPr/>
        </p:nvSpPr>
        <p:spPr>
          <a:xfrm>
            <a:off x="8549640" y="1828800"/>
            <a:ext cx="2880360" cy="3931920"/>
          </a:xfrm>
          <a:prstGeom prst="roundRect">
            <a:avLst>
              <a:gd name="adj" fmla="val 2540"/>
            </a:avLst>
          </a:prstGeom>
          <a:solidFill>
            <a:srgbClr val="EAF0FF"/>
          </a:solidFill>
          <a:ln w="12700">
            <a:solidFill>
              <a:srgbClr val="CDD8F3"/>
            </a:solidFill>
            <a:prstDash val="solid"/>
          </a:ln>
        </p:spPr>
      </p:sp>
      <p:sp>
        <p:nvSpPr>
          <p:cNvPr id="28" name="Text 26"/>
          <p:cNvSpPr/>
          <p:nvPr/>
        </p:nvSpPr>
        <p:spPr>
          <a:xfrm>
            <a:off x="8869680" y="2212848"/>
            <a:ext cx="2148840" cy="274320"/>
          </a:xfrm>
          <a:prstGeom prst="rect">
            <a:avLst/>
          </a:prstGeom>
          <a:noFill/>
          <a:ln/>
        </p:spPr>
        <p:txBody>
          <a:bodyPr wrap="square" lIns="0" tIns="0" rIns="0" bIns="0" rtlCol="0" anchor="ctr"/>
          <a:lstStyle/>
          <a:p>
            <a:pPr algn="ctr" indent="0" marL="0">
              <a:buNone/>
            </a:pPr>
            <a:r>
              <a:rPr lang="en-US" sz="1500" b="1" dirty="0">
                <a:solidFill>
                  <a:srgbClr val="2458B8"/>
                </a:solidFill>
              </a:rPr>
              <a:t>SPECIALIST AGENT</a:t>
            </a:r>
            <a:endParaRPr lang="en-US" sz="1500" dirty="0"/>
          </a:p>
        </p:txBody>
      </p:sp>
      <p:sp>
        <p:nvSpPr>
          <p:cNvPr id="29" name="Text 27"/>
          <p:cNvSpPr/>
          <p:nvPr/>
        </p:nvSpPr>
        <p:spPr>
          <a:xfrm>
            <a:off x="8915400" y="2880360"/>
            <a:ext cx="2057400" cy="1234440"/>
          </a:xfrm>
          <a:prstGeom prst="rect">
            <a:avLst/>
          </a:prstGeom>
          <a:noFill/>
          <a:ln/>
        </p:spPr>
        <p:txBody>
          <a:bodyPr wrap="square" lIns="0" tIns="0" rIns="0" bIns="0" rtlCol="0" anchor="ctr">
            <a:normAutofit/>
          </a:bodyPr>
          <a:lstStyle/>
          <a:p>
            <a:pPr algn="ctr" indent="0" marL="0">
              <a:buNone/>
            </a:pPr>
            <a:r>
              <a:rPr lang="en-US" sz="1400" b="1" dirty="0">
                <a:solidFill>
                  <a:srgbClr val="142925"/>
                </a:solidFill>
              </a:rPr>
              <a:t>answers a bounded question</a:t>
            </a:r>
            <a:endParaRPr lang="en-US" sz="1400" dirty="0"/>
          </a:p>
          <a:p>
            <a:pPr algn="ctr" indent="0" marL="0">
              <a:buNone/>
            </a:pPr>
            <a:r>
              <a:rPr lang="en-US" sz="1400" b="1" dirty="0">
                <a:solidFill>
                  <a:srgbClr val="142925"/>
                </a:solidFill>
              </a:rPr>
              <a:t>returns domain guidance</a:t>
            </a:r>
            <a:endParaRPr lang="en-US" sz="1400" dirty="0"/>
          </a:p>
          <a:p>
            <a:pPr algn="ctr" indent="0" marL="0">
              <a:buNone/>
            </a:pPr>
            <a:r>
              <a:rPr lang="en-US" sz="1400" b="1" dirty="0">
                <a:solidFill>
                  <a:srgbClr val="142925"/>
                </a:solidFill>
              </a:rPr>
              <a:t>does not take over the workflow</a:t>
            </a:r>
            <a:endParaRPr lang="en-US" sz="1400" dirty="0"/>
          </a:p>
        </p:txBody>
      </p:sp>
      <p:sp>
        <p:nvSpPr>
          <p:cNvPr id="30" name="Shape 28"/>
          <p:cNvSpPr/>
          <p:nvPr/>
        </p:nvSpPr>
        <p:spPr>
          <a:xfrm>
            <a:off x="1828800" y="5989320"/>
            <a:ext cx="8458200" cy="438912"/>
          </a:xfrm>
          <a:prstGeom prst="roundRect">
            <a:avLst>
              <a:gd name="adj" fmla="val 16667"/>
            </a:avLst>
          </a:prstGeom>
          <a:solidFill>
            <a:srgbClr val="FCEAE6"/>
          </a:solidFill>
          <a:ln w="12700">
            <a:solidFill>
              <a:srgbClr val="FCEAE6"/>
            </a:solidFill>
            <a:prstDash val="solid"/>
          </a:ln>
        </p:spPr>
      </p:sp>
      <p:sp>
        <p:nvSpPr>
          <p:cNvPr id="31" name="Text 29"/>
          <p:cNvSpPr/>
          <p:nvPr/>
        </p:nvSpPr>
        <p:spPr>
          <a:xfrm>
            <a:off x="2103120" y="6190488"/>
            <a:ext cx="7909560" cy="36576"/>
          </a:xfrm>
          <a:prstGeom prst="rect">
            <a:avLst/>
          </a:prstGeom>
          <a:noFill/>
          <a:ln/>
        </p:spPr>
        <p:txBody>
          <a:bodyPr wrap="square" lIns="0" tIns="0" rIns="0" bIns="0" rtlCol="0" anchor="ctr">
            <a:normAutofit/>
          </a:bodyPr>
          <a:lstStyle/>
          <a:p>
            <a:pPr indent="0" marL="0">
              <a:buNone/>
            </a:pPr>
            <a:r>
              <a:rPr lang="en-US" sz="1250" b="1" dirty="0">
                <a:solidFill>
                  <a:srgbClr val="C75345"/>
                </a:solidFill>
              </a:rPr>
              <a:t>If you cannot explain what crossed the boundary, you do not have a governed handoff.</a:t>
            </a:r>
            <a:endParaRPr lang="en-US" sz="1250" dirty="0"/>
          </a:p>
        </p:txBody>
      </p:sp>
      <p:sp>
        <p:nvSpPr>
          <p:cNvPr id="25" name="Slide Number Placeholder 0"/>
          <p:cNvSpPr>
            <a:spLocks noGrp="1"/>
          </p:cNvSpPr>
          <p:nvPr>
            <p:ph type="sldNum" sz="quarter" idx="4294967295"/>
          </p:nvPr>
        </p:nvSpPr>
        <p:spPr>
          <a:xfrm>
            <a:off x="11704320" y="6565392"/>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7A8986"/>
                </a:solidFill>
                <a:latin typeface="Noto Sans"/>
                <a:ea typeface="Noto Sans"/>
                <a:cs typeface="Noto Sans"/>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94360" y="502920"/>
            <a:ext cx="4389120" cy="219456"/>
          </a:xfrm>
          <a:prstGeom prst="rect">
            <a:avLst/>
          </a:prstGeom>
          <a:noFill/>
          <a:ln/>
        </p:spPr>
        <p:txBody>
          <a:bodyPr wrap="square" lIns="0" tIns="0" rIns="0" bIns="0" rtlCol="0" anchor="ctr"/>
          <a:lstStyle/>
          <a:p>
            <a:pPr indent="0" marL="0">
              <a:buNone/>
            </a:pPr>
            <a:r>
              <a:rPr lang="en-US" sz="900" b="1" spc="120" kern="0" dirty="0">
                <a:solidFill>
                  <a:srgbClr val="0F766E"/>
                </a:solidFill>
              </a:rPr>
              <a:t>INTEGRATION AND CONTROL</a:t>
            </a:r>
            <a:endParaRPr lang="en-US" sz="900" dirty="0"/>
          </a:p>
        </p:txBody>
      </p:sp>
      <p:sp>
        <p:nvSpPr>
          <p:cNvPr id="3" name="Text 1"/>
          <p:cNvSpPr/>
          <p:nvPr/>
        </p:nvSpPr>
        <p:spPr>
          <a:xfrm>
            <a:off x="594360" y="786384"/>
            <a:ext cx="10972800" cy="566928"/>
          </a:xfrm>
          <a:prstGeom prst="rect">
            <a:avLst/>
          </a:prstGeom>
          <a:noFill/>
          <a:ln/>
        </p:spPr>
        <p:txBody>
          <a:bodyPr wrap="square" lIns="0" tIns="0" rIns="0" bIns="0" rtlCol="0" anchor="ctr">
            <a:normAutofit/>
          </a:bodyPr>
          <a:lstStyle/>
          <a:p>
            <a:pPr indent="0" marL="0">
              <a:buNone/>
            </a:pPr>
            <a:r>
              <a:rPr lang="en-US" sz="2600" b="1" dirty="0">
                <a:solidFill>
                  <a:srgbClr val="142925"/>
                </a:solidFill>
              </a:rPr>
              <a:t>MCP gives the agent a contract for tools</a:t>
            </a:r>
            <a:endParaRPr lang="en-US" sz="2600" dirty="0"/>
          </a:p>
        </p:txBody>
      </p:sp>
      <p:sp>
        <p:nvSpPr>
          <p:cNvPr id="4" name="Text 2"/>
          <p:cNvSpPr/>
          <p:nvPr/>
        </p:nvSpPr>
        <p:spPr>
          <a:xfrm>
            <a:off x="594360" y="1353312"/>
            <a:ext cx="10698480" cy="411480"/>
          </a:xfrm>
          <a:prstGeom prst="rect">
            <a:avLst/>
          </a:prstGeom>
          <a:noFill/>
          <a:ln/>
        </p:spPr>
        <p:txBody>
          <a:bodyPr wrap="square" lIns="0" tIns="0" rIns="0" bIns="0" rtlCol="0" anchor="ctr">
            <a:normAutofit/>
          </a:bodyPr>
          <a:lstStyle/>
          <a:p>
            <a:pPr indent="0" marL="0">
              <a:buNone/>
            </a:pPr>
            <a:r>
              <a:rPr lang="en-US" sz="1300" dirty="0">
                <a:solidFill>
                  <a:srgbClr val="5B6B68"/>
                </a:solidFill>
              </a:rPr>
              <a:t>The protocol exposes capabilities. Enterprise policy, authorization, and audit still need an enforcement layer.</a:t>
            </a:r>
            <a:endParaRPr lang="en-US" sz="1300" dirty="0"/>
          </a:p>
        </p:txBody>
      </p:sp>
      <p:sp>
        <p:nvSpPr>
          <p:cNvPr id="5" name="Shape 3"/>
          <p:cNvSpPr/>
          <p:nvPr/>
        </p:nvSpPr>
        <p:spPr>
          <a:xfrm>
            <a:off x="658368" y="1920240"/>
            <a:ext cx="2542032" cy="2148840"/>
          </a:xfrm>
          <a:prstGeom prst="roundRect">
            <a:avLst>
              <a:gd name="adj" fmla="val 3404"/>
            </a:avLst>
          </a:prstGeom>
          <a:solidFill>
            <a:srgbClr val="EAF0FF"/>
          </a:solidFill>
          <a:ln w="12700">
            <a:solidFill>
              <a:srgbClr val="EAF0FF"/>
            </a:solidFill>
            <a:prstDash val="solid"/>
          </a:ln>
        </p:spPr>
      </p:sp>
      <p:sp>
        <p:nvSpPr>
          <p:cNvPr id="6" name="Text 4"/>
          <p:cNvSpPr/>
          <p:nvPr/>
        </p:nvSpPr>
        <p:spPr>
          <a:xfrm>
            <a:off x="859536" y="2157984"/>
            <a:ext cx="502920" cy="274320"/>
          </a:xfrm>
          <a:prstGeom prst="rect">
            <a:avLst/>
          </a:prstGeom>
          <a:noFill/>
          <a:ln/>
        </p:spPr>
        <p:txBody>
          <a:bodyPr wrap="square" lIns="0" tIns="0" rIns="0" bIns="0" rtlCol="0" anchor="ctr"/>
          <a:lstStyle/>
          <a:p>
            <a:pPr indent="0" marL="0">
              <a:buNone/>
            </a:pPr>
            <a:r>
              <a:rPr lang="en-US" sz="1700" b="1" dirty="0">
                <a:solidFill>
                  <a:srgbClr val="2458B8"/>
                </a:solidFill>
              </a:rPr>
              <a:t>01</a:t>
            </a:r>
            <a:endParaRPr lang="en-US" sz="1700" dirty="0"/>
          </a:p>
        </p:txBody>
      </p:sp>
      <p:sp>
        <p:nvSpPr>
          <p:cNvPr id="7" name="Text 5"/>
          <p:cNvSpPr/>
          <p:nvPr/>
        </p:nvSpPr>
        <p:spPr>
          <a:xfrm>
            <a:off x="859536" y="2697480"/>
            <a:ext cx="2057400" cy="246888"/>
          </a:xfrm>
          <a:prstGeom prst="rect">
            <a:avLst/>
          </a:prstGeom>
          <a:noFill/>
          <a:ln/>
        </p:spPr>
        <p:txBody>
          <a:bodyPr wrap="square" lIns="0" tIns="0" rIns="0" bIns="0" rtlCol="0" anchor="ctr"/>
          <a:lstStyle/>
          <a:p>
            <a:pPr indent="0" marL="0">
              <a:buNone/>
            </a:pPr>
            <a:r>
              <a:rPr lang="en-US" sz="1100" b="1" spc="100" kern="0" dirty="0">
                <a:solidFill>
                  <a:srgbClr val="142925"/>
                </a:solidFill>
              </a:rPr>
              <a:t>DISCOVER</a:t>
            </a:r>
            <a:endParaRPr lang="en-US" sz="1100" dirty="0"/>
          </a:p>
        </p:txBody>
      </p:sp>
      <p:sp>
        <p:nvSpPr>
          <p:cNvPr id="8" name="Text 6"/>
          <p:cNvSpPr/>
          <p:nvPr/>
        </p:nvSpPr>
        <p:spPr>
          <a:xfrm>
            <a:off x="859536" y="3127248"/>
            <a:ext cx="2057400" cy="475488"/>
          </a:xfrm>
          <a:prstGeom prst="rect">
            <a:avLst/>
          </a:prstGeom>
          <a:noFill/>
          <a:ln/>
        </p:spPr>
        <p:txBody>
          <a:bodyPr wrap="square" lIns="0" tIns="0" rIns="0" bIns="0" rtlCol="0" anchor="ctr">
            <a:normAutofit/>
          </a:bodyPr>
          <a:lstStyle/>
          <a:p>
            <a:pPr indent="0" marL="0">
              <a:buNone/>
            </a:pPr>
            <a:r>
              <a:rPr lang="en-US" sz="1220" dirty="0">
                <a:solidFill>
                  <a:srgbClr val="142925"/>
                </a:solidFill>
              </a:rPr>
              <a:t>What tools and resources exist?</a:t>
            </a:r>
            <a:endParaRPr lang="en-US" sz="1220" dirty="0"/>
          </a:p>
        </p:txBody>
      </p:sp>
      <p:sp>
        <p:nvSpPr>
          <p:cNvPr id="9" name="Shape 7"/>
          <p:cNvSpPr/>
          <p:nvPr/>
        </p:nvSpPr>
        <p:spPr>
          <a:xfrm>
            <a:off x="3474720" y="1920240"/>
            <a:ext cx="2542032" cy="2148840"/>
          </a:xfrm>
          <a:prstGeom prst="roundRect">
            <a:avLst>
              <a:gd name="adj" fmla="val 3404"/>
            </a:avLst>
          </a:prstGeom>
          <a:solidFill>
            <a:srgbClr val="DDF3EE"/>
          </a:solidFill>
          <a:ln w="12700">
            <a:solidFill>
              <a:srgbClr val="DDF3EE"/>
            </a:solidFill>
            <a:prstDash val="solid"/>
          </a:ln>
        </p:spPr>
      </p:sp>
      <p:sp>
        <p:nvSpPr>
          <p:cNvPr id="10" name="Text 8"/>
          <p:cNvSpPr/>
          <p:nvPr/>
        </p:nvSpPr>
        <p:spPr>
          <a:xfrm>
            <a:off x="3675888" y="2157984"/>
            <a:ext cx="502920" cy="274320"/>
          </a:xfrm>
          <a:prstGeom prst="rect">
            <a:avLst/>
          </a:prstGeom>
          <a:noFill/>
          <a:ln/>
        </p:spPr>
        <p:txBody>
          <a:bodyPr wrap="square" lIns="0" tIns="0" rIns="0" bIns="0" rtlCol="0" anchor="ctr"/>
          <a:lstStyle/>
          <a:p>
            <a:pPr indent="0" marL="0">
              <a:buNone/>
            </a:pPr>
            <a:r>
              <a:rPr lang="en-US" sz="1700" b="1" dirty="0">
                <a:solidFill>
                  <a:srgbClr val="0F766E"/>
                </a:solidFill>
              </a:rPr>
              <a:t>02</a:t>
            </a:r>
            <a:endParaRPr lang="en-US" sz="1700" dirty="0"/>
          </a:p>
        </p:txBody>
      </p:sp>
      <p:sp>
        <p:nvSpPr>
          <p:cNvPr id="11" name="Text 9"/>
          <p:cNvSpPr/>
          <p:nvPr/>
        </p:nvSpPr>
        <p:spPr>
          <a:xfrm>
            <a:off x="3675888" y="2697480"/>
            <a:ext cx="2057400" cy="246888"/>
          </a:xfrm>
          <a:prstGeom prst="rect">
            <a:avLst/>
          </a:prstGeom>
          <a:noFill/>
          <a:ln/>
        </p:spPr>
        <p:txBody>
          <a:bodyPr wrap="square" lIns="0" tIns="0" rIns="0" bIns="0" rtlCol="0" anchor="ctr"/>
          <a:lstStyle/>
          <a:p>
            <a:pPr indent="0" marL="0">
              <a:buNone/>
            </a:pPr>
            <a:r>
              <a:rPr lang="en-US" sz="1100" b="1" spc="100" kern="0" dirty="0">
                <a:solidFill>
                  <a:srgbClr val="142925"/>
                </a:solidFill>
              </a:rPr>
              <a:t>AUTHORIZE</a:t>
            </a:r>
            <a:endParaRPr lang="en-US" sz="1100" dirty="0"/>
          </a:p>
        </p:txBody>
      </p:sp>
      <p:sp>
        <p:nvSpPr>
          <p:cNvPr id="12" name="Text 10"/>
          <p:cNvSpPr/>
          <p:nvPr/>
        </p:nvSpPr>
        <p:spPr>
          <a:xfrm>
            <a:off x="3675888" y="3127248"/>
            <a:ext cx="2057400" cy="475488"/>
          </a:xfrm>
          <a:prstGeom prst="rect">
            <a:avLst/>
          </a:prstGeom>
          <a:noFill/>
          <a:ln/>
        </p:spPr>
        <p:txBody>
          <a:bodyPr wrap="square" lIns="0" tIns="0" rIns="0" bIns="0" rtlCol="0" anchor="ctr">
            <a:normAutofit/>
          </a:bodyPr>
          <a:lstStyle/>
          <a:p>
            <a:pPr indent="0" marL="0">
              <a:buNone/>
            </a:pPr>
            <a:r>
              <a:rPr lang="en-US" sz="1220" dirty="0">
                <a:solidFill>
                  <a:srgbClr val="142925"/>
                </a:solidFill>
              </a:rPr>
              <a:t>Who may call what, under which scope?</a:t>
            </a:r>
            <a:endParaRPr lang="en-US" sz="1220" dirty="0"/>
          </a:p>
        </p:txBody>
      </p:sp>
      <p:sp>
        <p:nvSpPr>
          <p:cNvPr id="13" name="Shape 11"/>
          <p:cNvSpPr/>
          <p:nvPr/>
        </p:nvSpPr>
        <p:spPr>
          <a:xfrm>
            <a:off x="6291072" y="1920240"/>
            <a:ext cx="2542032" cy="2148840"/>
          </a:xfrm>
          <a:prstGeom prst="roundRect">
            <a:avLst>
              <a:gd name="adj" fmla="val 3404"/>
            </a:avLst>
          </a:prstGeom>
          <a:solidFill>
            <a:srgbClr val="FFF4D6"/>
          </a:solidFill>
          <a:ln w="12700">
            <a:solidFill>
              <a:srgbClr val="FFF4D6"/>
            </a:solidFill>
            <a:prstDash val="solid"/>
          </a:ln>
        </p:spPr>
      </p:sp>
      <p:sp>
        <p:nvSpPr>
          <p:cNvPr id="14" name="Text 12"/>
          <p:cNvSpPr/>
          <p:nvPr/>
        </p:nvSpPr>
        <p:spPr>
          <a:xfrm>
            <a:off x="6492240" y="2157984"/>
            <a:ext cx="502920" cy="274320"/>
          </a:xfrm>
          <a:prstGeom prst="rect">
            <a:avLst/>
          </a:prstGeom>
          <a:noFill/>
          <a:ln/>
        </p:spPr>
        <p:txBody>
          <a:bodyPr wrap="square" lIns="0" tIns="0" rIns="0" bIns="0" rtlCol="0" anchor="ctr"/>
          <a:lstStyle/>
          <a:p>
            <a:pPr indent="0" marL="0">
              <a:buNone/>
            </a:pPr>
            <a:r>
              <a:rPr lang="en-US" sz="1700" b="1" dirty="0">
                <a:solidFill>
                  <a:srgbClr val="A97717"/>
                </a:solidFill>
              </a:rPr>
              <a:t>03</a:t>
            </a:r>
            <a:endParaRPr lang="en-US" sz="1700" dirty="0"/>
          </a:p>
        </p:txBody>
      </p:sp>
      <p:sp>
        <p:nvSpPr>
          <p:cNvPr id="15" name="Text 13"/>
          <p:cNvSpPr/>
          <p:nvPr/>
        </p:nvSpPr>
        <p:spPr>
          <a:xfrm>
            <a:off x="6492240" y="2697480"/>
            <a:ext cx="2057400" cy="246888"/>
          </a:xfrm>
          <a:prstGeom prst="rect">
            <a:avLst/>
          </a:prstGeom>
          <a:noFill/>
          <a:ln/>
        </p:spPr>
        <p:txBody>
          <a:bodyPr wrap="square" lIns="0" tIns="0" rIns="0" bIns="0" rtlCol="0" anchor="ctr"/>
          <a:lstStyle/>
          <a:p>
            <a:pPr indent="0" marL="0">
              <a:buNone/>
            </a:pPr>
            <a:r>
              <a:rPr lang="en-US" sz="1100" b="1" spc="100" kern="0" dirty="0">
                <a:solidFill>
                  <a:srgbClr val="142925"/>
                </a:solidFill>
              </a:rPr>
              <a:t>EXECUTE</a:t>
            </a:r>
            <a:endParaRPr lang="en-US" sz="1100" dirty="0"/>
          </a:p>
        </p:txBody>
      </p:sp>
      <p:sp>
        <p:nvSpPr>
          <p:cNvPr id="16" name="Text 14"/>
          <p:cNvSpPr/>
          <p:nvPr/>
        </p:nvSpPr>
        <p:spPr>
          <a:xfrm>
            <a:off x="6492240" y="3127248"/>
            <a:ext cx="2057400" cy="475488"/>
          </a:xfrm>
          <a:prstGeom prst="rect">
            <a:avLst/>
          </a:prstGeom>
          <a:noFill/>
          <a:ln/>
        </p:spPr>
        <p:txBody>
          <a:bodyPr wrap="square" lIns="0" tIns="0" rIns="0" bIns="0" rtlCol="0" anchor="ctr">
            <a:normAutofit/>
          </a:bodyPr>
          <a:lstStyle/>
          <a:p>
            <a:pPr indent="0" marL="0">
              <a:buNone/>
            </a:pPr>
            <a:r>
              <a:rPr lang="en-US" sz="1220" dirty="0">
                <a:solidFill>
                  <a:srgbClr val="142925"/>
                </a:solidFill>
              </a:rPr>
              <a:t>Validate tool, parameters, and response.</a:t>
            </a:r>
            <a:endParaRPr lang="en-US" sz="1220" dirty="0"/>
          </a:p>
        </p:txBody>
      </p:sp>
      <p:sp>
        <p:nvSpPr>
          <p:cNvPr id="17" name="Shape 15"/>
          <p:cNvSpPr/>
          <p:nvPr/>
        </p:nvSpPr>
        <p:spPr>
          <a:xfrm>
            <a:off x="9107424" y="1920240"/>
            <a:ext cx="2542032" cy="2148840"/>
          </a:xfrm>
          <a:prstGeom prst="roundRect">
            <a:avLst>
              <a:gd name="adj" fmla="val 3404"/>
            </a:avLst>
          </a:prstGeom>
          <a:solidFill>
            <a:srgbClr val="FCEAE6"/>
          </a:solidFill>
          <a:ln w="12700">
            <a:solidFill>
              <a:srgbClr val="FCEAE6"/>
            </a:solidFill>
            <a:prstDash val="solid"/>
          </a:ln>
        </p:spPr>
      </p:sp>
      <p:sp>
        <p:nvSpPr>
          <p:cNvPr id="18" name="Text 16"/>
          <p:cNvSpPr/>
          <p:nvPr/>
        </p:nvSpPr>
        <p:spPr>
          <a:xfrm>
            <a:off x="9308592" y="2157984"/>
            <a:ext cx="502920" cy="274320"/>
          </a:xfrm>
          <a:prstGeom prst="rect">
            <a:avLst/>
          </a:prstGeom>
          <a:noFill/>
          <a:ln/>
        </p:spPr>
        <p:txBody>
          <a:bodyPr wrap="square" lIns="0" tIns="0" rIns="0" bIns="0" rtlCol="0" anchor="ctr"/>
          <a:lstStyle/>
          <a:p>
            <a:pPr indent="0" marL="0">
              <a:buNone/>
            </a:pPr>
            <a:r>
              <a:rPr lang="en-US" sz="1700" b="1" dirty="0">
                <a:solidFill>
                  <a:srgbClr val="C75345"/>
                </a:solidFill>
              </a:rPr>
              <a:t>04</a:t>
            </a:r>
            <a:endParaRPr lang="en-US" sz="1700" dirty="0"/>
          </a:p>
        </p:txBody>
      </p:sp>
      <p:sp>
        <p:nvSpPr>
          <p:cNvPr id="19" name="Text 17"/>
          <p:cNvSpPr/>
          <p:nvPr/>
        </p:nvSpPr>
        <p:spPr>
          <a:xfrm>
            <a:off x="9308592" y="2697480"/>
            <a:ext cx="2057400" cy="246888"/>
          </a:xfrm>
          <a:prstGeom prst="rect">
            <a:avLst/>
          </a:prstGeom>
          <a:noFill/>
          <a:ln/>
        </p:spPr>
        <p:txBody>
          <a:bodyPr wrap="square" lIns="0" tIns="0" rIns="0" bIns="0" rtlCol="0" anchor="ctr"/>
          <a:lstStyle/>
          <a:p>
            <a:pPr indent="0" marL="0">
              <a:buNone/>
            </a:pPr>
            <a:r>
              <a:rPr lang="en-US" sz="1100" b="1" spc="100" kern="0" dirty="0">
                <a:solidFill>
                  <a:srgbClr val="142925"/>
                </a:solidFill>
              </a:rPr>
              <a:t>OBSERVE</a:t>
            </a:r>
            <a:endParaRPr lang="en-US" sz="1100" dirty="0"/>
          </a:p>
        </p:txBody>
      </p:sp>
      <p:sp>
        <p:nvSpPr>
          <p:cNvPr id="20" name="Text 18"/>
          <p:cNvSpPr/>
          <p:nvPr/>
        </p:nvSpPr>
        <p:spPr>
          <a:xfrm>
            <a:off x="9308592" y="3127248"/>
            <a:ext cx="2057400" cy="475488"/>
          </a:xfrm>
          <a:prstGeom prst="rect">
            <a:avLst/>
          </a:prstGeom>
          <a:noFill/>
          <a:ln/>
        </p:spPr>
        <p:txBody>
          <a:bodyPr wrap="square" lIns="0" tIns="0" rIns="0" bIns="0" rtlCol="0" anchor="ctr">
            <a:normAutofit/>
          </a:bodyPr>
          <a:lstStyle/>
          <a:p>
            <a:pPr indent="0" marL="0">
              <a:buNone/>
            </a:pPr>
            <a:r>
              <a:rPr lang="en-US" sz="1220" dirty="0">
                <a:solidFill>
                  <a:srgbClr val="142925"/>
                </a:solidFill>
              </a:rPr>
              <a:t>Record calls, failures, latency, and outcomes.</a:t>
            </a:r>
            <a:endParaRPr lang="en-US" sz="1220" dirty="0"/>
          </a:p>
        </p:txBody>
      </p:sp>
      <p:sp>
        <p:nvSpPr>
          <p:cNvPr id="21" name="Shape 19"/>
          <p:cNvSpPr/>
          <p:nvPr/>
        </p:nvSpPr>
        <p:spPr>
          <a:xfrm>
            <a:off x="1280160" y="4645152"/>
            <a:ext cx="9646920" cy="868680"/>
          </a:xfrm>
          <a:prstGeom prst="roundRect">
            <a:avLst>
              <a:gd name="adj" fmla="val 8421"/>
            </a:avLst>
          </a:prstGeom>
          <a:solidFill>
            <a:srgbClr val="142925"/>
          </a:solidFill>
          <a:ln w="12700">
            <a:solidFill>
              <a:srgbClr val="142925"/>
            </a:solidFill>
            <a:prstDash val="solid"/>
          </a:ln>
        </p:spPr>
      </p:sp>
      <p:sp>
        <p:nvSpPr>
          <p:cNvPr id="22" name="Text 20"/>
          <p:cNvSpPr/>
          <p:nvPr/>
        </p:nvSpPr>
        <p:spPr>
          <a:xfrm>
            <a:off x="1554480" y="4846320"/>
            <a:ext cx="9098280" cy="466344"/>
          </a:xfrm>
          <a:prstGeom prst="rect">
            <a:avLst/>
          </a:prstGeom>
          <a:noFill/>
          <a:ln/>
        </p:spPr>
        <p:txBody>
          <a:bodyPr wrap="square" lIns="0" tIns="0" rIns="0" bIns="0" rtlCol="0" anchor="ctr">
            <a:normAutofit/>
          </a:bodyPr>
          <a:lstStyle/>
          <a:p>
            <a:pPr indent="0" marL="0">
              <a:buNone/>
            </a:pPr>
            <a:r>
              <a:rPr lang="en-US" sz="1600" b="1" dirty="0">
                <a:solidFill>
                  <a:srgbClr val="FFFFFF"/>
                </a:solidFill>
              </a:rPr>
              <a:t>MCP is not a governance system by itself. The gateway is where policy can become runtime behavior.</a:t>
            </a:r>
            <a:endParaRPr lang="en-US" sz="1600" dirty="0"/>
          </a:p>
        </p:txBody>
      </p:sp>
      <p:sp>
        <p:nvSpPr>
          <p:cNvPr id="23" name="Text 21"/>
          <p:cNvSpPr/>
          <p:nvPr/>
        </p:nvSpPr>
        <p:spPr>
          <a:xfrm>
            <a:off x="1417320" y="5760720"/>
            <a:ext cx="9372600" cy="329184"/>
          </a:xfrm>
          <a:prstGeom prst="rect">
            <a:avLst/>
          </a:prstGeom>
          <a:noFill/>
          <a:ln/>
        </p:spPr>
        <p:txBody>
          <a:bodyPr wrap="square" lIns="0" tIns="0" rIns="0" bIns="0" rtlCol="0" anchor="ctr">
            <a:normAutofit/>
          </a:bodyPr>
          <a:lstStyle/>
          <a:p>
            <a:pPr algn="ctr" indent="0" marL="0">
              <a:buNone/>
            </a:pPr>
            <a:r>
              <a:rPr lang="en-US" sz="1230" dirty="0">
                <a:solidFill>
                  <a:srgbClr val="5B6B68"/>
                </a:solidFill>
              </a:rPr>
              <a:t>Why this matters in healthcare: agents should see only approved capabilities, and high-impact actions should still cross explicit approval points.</a:t>
            </a:r>
            <a:endParaRPr lang="en-US" sz="1230" dirty="0"/>
          </a:p>
        </p:txBody>
      </p:sp>
      <p:sp>
        <p:nvSpPr>
          <p:cNvPr id="24" name="Text 22"/>
          <p:cNvSpPr/>
          <p:nvPr/>
        </p:nvSpPr>
        <p:spPr>
          <a:xfrm>
            <a:off x="594360" y="6318504"/>
            <a:ext cx="9875520" cy="164592"/>
          </a:xfrm>
          <a:prstGeom prst="rect">
            <a:avLst/>
          </a:prstGeom>
          <a:noFill/>
          <a:ln/>
        </p:spPr>
        <p:txBody>
          <a:bodyPr wrap="square" lIns="0" tIns="0" rIns="0" bIns="0" rtlCol="0" anchor="ctr">
            <a:normAutofit/>
          </a:bodyPr>
          <a:lstStyle/>
          <a:p>
            <a:pPr indent="0" marL="0">
              <a:buNone/>
            </a:pPr>
            <a:r>
              <a:rPr lang="en-US" sz="650" dirty="0">
                <a:solidFill>
                  <a:srgbClr val="879591"/>
                </a:solidFill>
              </a:rPr>
              <a:t>MCP 2026-07-28 adds stateless operation and authorization hardening. Enterprise controls around MCP remain an architecture responsibility.</a:t>
            </a:r>
            <a:endParaRPr lang="en-US" sz="650" dirty="0"/>
          </a:p>
        </p:txBody>
      </p:sp>
      <p:sp>
        <p:nvSpPr>
          <p:cNvPr id="25" name="Slide Number Placeholder 0"/>
          <p:cNvSpPr>
            <a:spLocks noGrp="1"/>
          </p:cNvSpPr>
          <p:nvPr>
            <p:ph type="sldNum" sz="quarter" idx="4294967295"/>
          </p:nvPr>
        </p:nvSpPr>
        <p:spPr>
          <a:xfrm>
            <a:off x="11704320" y="6565392"/>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7A8986"/>
                </a:solidFill>
                <a:latin typeface="Noto Sans"/>
                <a:ea typeface="Noto Sans"/>
                <a:cs typeface="Noto Sans"/>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94360" y="502920"/>
            <a:ext cx="4389120" cy="219456"/>
          </a:xfrm>
          <a:prstGeom prst="rect">
            <a:avLst/>
          </a:prstGeom>
          <a:noFill/>
          <a:ln/>
        </p:spPr>
        <p:txBody>
          <a:bodyPr wrap="square" lIns="0" tIns="0" rIns="0" bIns="0" rtlCol="0" anchor="ctr"/>
          <a:lstStyle/>
          <a:p>
            <a:pPr indent="0" marL="0">
              <a:buNone/>
            </a:pPr>
            <a:r>
              <a:rPr lang="en-US" sz="900" b="1" spc="120" kern="0" dirty="0">
                <a:solidFill>
                  <a:srgbClr val="0F766E"/>
                </a:solidFill>
              </a:rPr>
              <a:t>DAY 3 AND DAY 4</a:t>
            </a:r>
            <a:endParaRPr lang="en-US" sz="900" dirty="0"/>
          </a:p>
        </p:txBody>
      </p:sp>
      <p:sp>
        <p:nvSpPr>
          <p:cNvPr id="3" name="Text 1"/>
          <p:cNvSpPr/>
          <p:nvPr/>
        </p:nvSpPr>
        <p:spPr>
          <a:xfrm>
            <a:off x="594360" y="786384"/>
            <a:ext cx="10972800" cy="566928"/>
          </a:xfrm>
          <a:prstGeom prst="rect">
            <a:avLst/>
          </a:prstGeom>
          <a:noFill/>
          <a:ln/>
        </p:spPr>
        <p:txBody>
          <a:bodyPr wrap="square" lIns="0" tIns="0" rIns="0" bIns="0" rtlCol="0" anchor="ctr">
            <a:normAutofit/>
          </a:bodyPr>
          <a:lstStyle/>
          <a:p>
            <a:pPr indent="0" marL="0">
              <a:buNone/>
            </a:pPr>
            <a:r>
              <a:rPr lang="en-US" sz="2600" b="1" dirty="0">
                <a:solidFill>
                  <a:srgbClr val="142925"/>
                </a:solidFill>
              </a:rPr>
              <a:t>Testing has to shape the design</a:t>
            </a:r>
            <a:endParaRPr lang="en-US" sz="2600" dirty="0"/>
          </a:p>
        </p:txBody>
      </p:sp>
      <p:sp>
        <p:nvSpPr>
          <p:cNvPr id="4" name="Text 2"/>
          <p:cNvSpPr/>
          <p:nvPr/>
        </p:nvSpPr>
        <p:spPr>
          <a:xfrm>
            <a:off x="594360" y="1353312"/>
            <a:ext cx="10698480" cy="411480"/>
          </a:xfrm>
          <a:prstGeom prst="rect">
            <a:avLst/>
          </a:prstGeom>
          <a:noFill/>
          <a:ln/>
        </p:spPr>
        <p:txBody>
          <a:bodyPr wrap="square" lIns="0" tIns="0" rIns="0" bIns="0" rtlCol="0" anchor="ctr">
            <a:normAutofit/>
          </a:bodyPr>
          <a:lstStyle/>
          <a:p>
            <a:pPr indent="0" marL="0">
              <a:buNone/>
            </a:pPr>
            <a:r>
              <a:rPr lang="en-US" sz="1300" dirty="0">
                <a:solidFill>
                  <a:srgbClr val="5B6B68"/>
                </a:solidFill>
              </a:rPr>
              <a:t>Test the trajectory, not only the final answer.</a:t>
            </a:r>
            <a:endParaRPr lang="en-US" sz="1300" dirty="0"/>
          </a:p>
        </p:txBody>
      </p:sp>
      <p:sp>
        <p:nvSpPr>
          <p:cNvPr id="5" name="Shape 3"/>
          <p:cNvSpPr/>
          <p:nvPr/>
        </p:nvSpPr>
        <p:spPr>
          <a:xfrm>
            <a:off x="777240" y="2148840"/>
            <a:ext cx="566928" cy="566928"/>
          </a:xfrm>
          <a:prstGeom prst="ellipse">
            <a:avLst/>
          </a:prstGeom>
          <a:solidFill>
            <a:srgbClr val="FFFFFF"/>
          </a:solidFill>
          <a:ln w="25400">
            <a:solidFill>
              <a:srgbClr val="D5DFDC"/>
            </a:solidFill>
            <a:prstDash val="solid"/>
          </a:ln>
        </p:spPr>
      </p:sp>
      <p:sp>
        <p:nvSpPr>
          <p:cNvPr id="6" name="Text 4"/>
          <p:cNvSpPr/>
          <p:nvPr/>
        </p:nvSpPr>
        <p:spPr>
          <a:xfrm>
            <a:off x="841248" y="2340864"/>
            <a:ext cx="438912" cy="109728"/>
          </a:xfrm>
          <a:prstGeom prst="rect">
            <a:avLst/>
          </a:prstGeom>
          <a:noFill/>
          <a:ln/>
        </p:spPr>
        <p:txBody>
          <a:bodyPr wrap="square" lIns="0" tIns="0" rIns="0" bIns="0" rtlCol="0" anchor="ctr"/>
          <a:lstStyle/>
          <a:p>
            <a:pPr algn="ctr" indent="0" marL="0">
              <a:buNone/>
            </a:pPr>
            <a:r>
              <a:rPr lang="en-US" sz="800" b="1" dirty="0">
                <a:solidFill>
                  <a:srgbClr val="0F766E"/>
                </a:solidFill>
              </a:rPr>
              <a:t>1</a:t>
            </a:r>
            <a:endParaRPr lang="en-US" sz="800" dirty="0"/>
          </a:p>
        </p:txBody>
      </p:sp>
      <p:sp>
        <p:nvSpPr>
          <p:cNvPr id="7" name="Shape 5"/>
          <p:cNvSpPr/>
          <p:nvPr/>
        </p:nvSpPr>
        <p:spPr>
          <a:xfrm>
            <a:off x="1353312" y="2432304"/>
            <a:ext cx="1243584" cy="0"/>
          </a:xfrm>
          <a:prstGeom prst="line">
            <a:avLst/>
          </a:prstGeom>
          <a:noFill/>
          <a:ln w="25400">
            <a:solidFill>
              <a:srgbClr val="D5DFDC"/>
            </a:solidFill>
            <a:prstDash val="solid"/>
            <a:tailEnd type="triangle"/>
          </a:ln>
        </p:spPr>
      </p:sp>
      <p:sp>
        <p:nvSpPr>
          <p:cNvPr id="8" name="Text 6"/>
          <p:cNvSpPr/>
          <p:nvPr/>
        </p:nvSpPr>
        <p:spPr>
          <a:xfrm>
            <a:off x="612648" y="2907792"/>
            <a:ext cx="914400" cy="228600"/>
          </a:xfrm>
          <a:prstGeom prst="rect">
            <a:avLst/>
          </a:prstGeom>
          <a:noFill/>
          <a:ln/>
        </p:spPr>
        <p:txBody>
          <a:bodyPr wrap="square" lIns="0" tIns="0" rIns="0" bIns="0" rtlCol="0" anchor="ctr">
            <a:normAutofit/>
          </a:bodyPr>
          <a:lstStyle/>
          <a:p>
            <a:pPr algn="ctr" indent="0" marL="0">
              <a:buNone/>
            </a:pPr>
            <a:r>
              <a:rPr lang="en-US" sz="920" b="1" dirty="0">
                <a:solidFill>
                  <a:srgbClr val="142925"/>
                </a:solidFill>
              </a:rPr>
              <a:t>INTAKE</a:t>
            </a:r>
            <a:endParaRPr lang="en-US" sz="920" dirty="0"/>
          </a:p>
        </p:txBody>
      </p:sp>
      <p:sp>
        <p:nvSpPr>
          <p:cNvPr id="9" name="Shape 7"/>
          <p:cNvSpPr/>
          <p:nvPr/>
        </p:nvSpPr>
        <p:spPr>
          <a:xfrm>
            <a:off x="2624328" y="2148840"/>
            <a:ext cx="566928" cy="566928"/>
          </a:xfrm>
          <a:prstGeom prst="ellipse">
            <a:avLst/>
          </a:prstGeom>
          <a:solidFill>
            <a:srgbClr val="FFFFFF"/>
          </a:solidFill>
          <a:ln w="25400">
            <a:solidFill>
              <a:srgbClr val="D5DFDC"/>
            </a:solidFill>
            <a:prstDash val="solid"/>
          </a:ln>
        </p:spPr>
      </p:sp>
      <p:sp>
        <p:nvSpPr>
          <p:cNvPr id="10" name="Text 8"/>
          <p:cNvSpPr/>
          <p:nvPr/>
        </p:nvSpPr>
        <p:spPr>
          <a:xfrm>
            <a:off x="2688336" y="2340864"/>
            <a:ext cx="438912" cy="109728"/>
          </a:xfrm>
          <a:prstGeom prst="rect">
            <a:avLst/>
          </a:prstGeom>
          <a:noFill/>
          <a:ln/>
        </p:spPr>
        <p:txBody>
          <a:bodyPr wrap="square" lIns="0" tIns="0" rIns="0" bIns="0" rtlCol="0" anchor="ctr"/>
          <a:lstStyle/>
          <a:p>
            <a:pPr algn="ctr" indent="0" marL="0">
              <a:buNone/>
            </a:pPr>
            <a:r>
              <a:rPr lang="en-US" sz="800" b="1" dirty="0">
                <a:solidFill>
                  <a:srgbClr val="0F766E"/>
                </a:solidFill>
              </a:rPr>
              <a:t>2</a:t>
            </a:r>
            <a:endParaRPr lang="en-US" sz="800" dirty="0"/>
          </a:p>
        </p:txBody>
      </p:sp>
      <p:sp>
        <p:nvSpPr>
          <p:cNvPr id="11" name="Shape 9"/>
          <p:cNvSpPr/>
          <p:nvPr/>
        </p:nvSpPr>
        <p:spPr>
          <a:xfrm>
            <a:off x="3200400" y="2432304"/>
            <a:ext cx="1243584" cy="0"/>
          </a:xfrm>
          <a:prstGeom prst="line">
            <a:avLst/>
          </a:prstGeom>
          <a:noFill/>
          <a:ln w="25400">
            <a:solidFill>
              <a:srgbClr val="D5DFDC"/>
            </a:solidFill>
            <a:prstDash val="solid"/>
            <a:tailEnd type="triangle"/>
          </a:ln>
        </p:spPr>
      </p:sp>
      <p:sp>
        <p:nvSpPr>
          <p:cNvPr id="12" name="Text 10"/>
          <p:cNvSpPr/>
          <p:nvPr/>
        </p:nvSpPr>
        <p:spPr>
          <a:xfrm>
            <a:off x="2459736" y="2907792"/>
            <a:ext cx="914400" cy="228600"/>
          </a:xfrm>
          <a:prstGeom prst="rect">
            <a:avLst/>
          </a:prstGeom>
          <a:noFill/>
          <a:ln/>
        </p:spPr>
        <p:txBody>
          <a:bodyPr wrap="square" lIns="0" tIns="0" rIns="0" bIns="0" rtlCol="0" anchor="ctr">
            <a:normAutofit/>
          </a:bodyPr>
          <a:lstStyle/>
          <a:p>
            <a:pPr algn="ctr" indent="0" marL="0">
              <a:buNone/>
            </a:pPr>
            <a:r>
              <a:rPr lang="en-US" sz="920" b="1" dirty="0">
                <a:solidFill>
                  <a:srgbClr val="142925"/>
                </a:solidFill>
              </a:rPr>
              <a:t>ROUTE</a:t>
            </a:r>
            <a:endParaRPr lang="en-US" sz="920" dirty="0"/>
          </a:p>
        </p:txBody>
      </p:sp>
      <p:sp>
        <p:nvSpPr>
          <p:cNvPr id="13" name="Shape 11"/>
          <p:cNvSpPr/>
          <p:nvPr/>
        </p:nvSpPr>
        <p:spPr>
          <a:xfrm>
            <a:off x="4471416" y="2148840"/>
            <a:ext cx="566928" cy="566928"/>
          </a:xfrm>
          <a:prstGeom prst="ellipse">
            <a:avLst/>
          </a:prstGeom>
          <a:solidFill>
            <a:srgbClr val="FFFFFF"/>
          </a:solidFill>
          <a:ln w="25400">
            <a:solidFill>
              <a:srgbClr val="D5DFDC"/>
            </a:solidFill>
            <a:prstDash val="solid"/>
          </a:ln>
        </p:spPr>
      </p:sp>
      <p:sp>
        <p:nvSpPr>
          <p:cNvPr id="14" name="Text 12"/>
          <p:cNvSpPr/>
          <p:nvPr/>
        </p:nvSpPr>
        <p:spPr>
          <a:xfrm>
            <a:off x="4535424" y="2340864"/>
            <a:ext cx="438912" cy="109728"/>
          </a:xfrm>
          <a:prstGeom prst="rect">
            <a:avLst/>
          </a:prstGeom>
          <a:noFill/>
          <a:ln/>
        </p:spPr>
        <p:txBody>
          <a:bodyPr wrap="square" lIns="0" tIns="0" rIns="0" bIns="0" rtlCol="0" anchor="ctr"/>
          <a:lstStyle/>
          <a:p>
            <a:pPr algn="ctr" indent="0" marL="0">
              <a:buNone/>
            </a:pPr>
            <a:r>
              <a:rPr lang="en-US" sz="800" b="1" dirty="0">
                <a:solidFill>
                  <a:srgbClr val="0F766E"/>
                </a:solidFill>
              </a:rPr>
              <a:t>3</a:t>
            </a:r>
            <a:endParaRPr lang="en-US" sz="800" dirty="0"/>
          </a:p>
        </p:txBody>
      </p:sp>
      <p:sp>
        <p:nvSpPr>
          <p:cNvPr id="15" name="Shape 13"/>
          <p:cNvSpPr/>
          <p:nvPr/>
        </p:nvSpPr>
        <p:spPr>
          <a:xfrm>
            <a:off x="5047488" y="2432304"/>
            <a:ext cx="1243584" cy="0"/>
          </a:xfrm>
          <a:prstGeom prst="line">
            <a:avLst/>
          </a:prstGeom>
          <a:noFill/>
          <a:ln w="25400">
            <a:solidFill>
              <a:srgbClr val="D5DFDC"/>
            </a:solidFill>
            <a:prstDash val="solid"/>
            <a:tailEnd type="triangle"/>
          </a:ln>
        </p:spPr>
      </p:sp>
      <p:sp>
        <p:nvSpPr>
          <p:cNvPr id="16" name="Text 14"/>
          <p:cNvSpPr/>
          <p:nvPr/>
        </p:nvSpPr>
        <p:spPr>
          <a:xfrm>
            <a:off x="4306824" y="2907792"/>
            <a:ext cx="914400" cy="228600"/>
          </a:xfrm>
          <a:prstGeom prst="rect">
            <a:avLst/>
          </a:prstGeom>
          <a:noFill/>
          <a:ln/>
        </p:spPr>
        <p:txBody>
          <a:bodyPr wrap="square" lIns="0" tIns="0" rIns="0" bIns="0" rtlCol="0" anchor="ctr">
            <a:normAutofit/>
          </a:bodyPr>
          <a:lstStyle/>
          <a:p>
            <a:pPr algn="ctr" indent="0" marL="0">
              <a:buNone/>
            </a:pPr>
            <a:r>
              <a:rPr lang="en-US" sz="920" b="1" dirty="0">
                <a:solidFill>
                  <a:srgbClr val="142925"/>
                </a:solidFill>
              </a:rPr>
              <a:t>HANDOFF</a:t>
            </a:r>
            <a:endParaRPr lang="en-US" sz="920" dirty="0"/>
          </a:p>
        </p:txBody>
      </p:sp>
      <p:sp>
        <p:nvSpPr>
          <p:cNvPr id="17" name="Shape 15"/>
          <p:cNvSpPr/>
          <p:nvPr/>
        </p:nvSpPr>
        <p:spPr>
          <a:xfrm>
            <a:off x="6318504" y="2148840"/>
            <a:ext cx="566928" cy="566928"/>
          </a:xfrm>
          <a:prstGeom prst="ellipse">
            <a:avLst/>
          </a:prstGeom>
          <a:solidFill>
            <a:srgbClr val="FFFFFF"/>
          </a:solidFill>
          <a:ln w="25400">
            <a:solidFill>
              <a:srgbClr val="D5DFDC"/>
            </a:solidFill>
            <a:prstDash val="solid"/>
          </a:ln>
        </p:spPr>
      </p:sp>
      <p:sp>
        <p:nvSpPr>
          <p:cNvPr id="18" name="Text 16"/>
          <p:cNvSpPr/>
          <p:nvPr/>
        </p:nvSpPr>
        <p:spPr>
          <a:xfrm>
            <a:off x="6382512" y="2340864"/>
            <a:ext cx="438912" cy="109728"/>
          </a:xfrm>
          <a:prstGeom prst="rect">
            <a:avLst/>
          </a:prstGeom>
          <a:noFill/>
          <a:ln/>
        </p:spPr>
        <p:txBody>
          <a:bodyPr wrap="square" lIns="0" tIns="0" rIns="0" bIns="0" rtlCol="0" anchor="ctr"/>
          <a:lstStyle/>
          <a:p>
            <a:pPr algn="ctr" indent="0" marL="0">
              <a:buNone/>
            </a:pPr>
            <a:r>
              <a:rPr lang="en-US" sz="800" b="1" dirty="0">
                <a:solidFill>
                  <a:srgbClr val="0F766E"/>
                </a:solidFill>
              </a:rPr>
              <a:t>4</a:t>
            </a:r>
            <a:endParaRPr lang="en-US" sz="800" dirty="0"/>
          </a:p>
        </p:txBody>
      </p:sp>
      <p:sp>
        <p:nvSpPr>
          <p:cNvPr id="19" name="Shape 17"/>
          <p:cNvSpPr/>
          <p:nvPr/>
        </p:nvSpPr>
        <p:spPr>
          <a:xfrm>
            <a:off x="6894576" y="2432304"/>
            <a:ext cx="1243584" cy="0"/>
          </a:xfrm>
          <a:prstGeom prst="line">
            <a:avLst/>
          </a:prstGeom>
          <a:noFill/>
          <a:ln w="25400">
            <a:solidFill>
              <a:srgbClr val="D5DFDC"/>
            </a:solidFill>
            <a:prstDash val="solid"/>
            <a:tailEnd type="triangle"/>
          </a:ln>
        </p:spPr>
      </p:sp>
      <p:sp>
        <p:nvSpPr>
          <p:cNvPr id="20" name="Text 18"/>
          <p:cNvSpPr/>
          <p:nvPr/>
        </p:nvSpPr>
        <p:spPr>
          <a:xfrm>
            <a:off x="6153912" y="2907792"/>
            <a:ext cx="914400" cy="228600"/>
          </a:xfrm>
          <a:prstGeom prst="rect">
            <a:avLst/>
          </a:prstGeom>
          <a:noFill/>
          <a:ln/>
        </p:spPr>
        <p:txBody>
          <a:bodyPr wrap="square" lIns="0" tIns="0" rIns="0" bIns="0" rtlCol="0" anchor="ctr">
            <a:normAutofit/>
          </a:bodyPr>
          <a:lstStyle/>
          <a:p>
            <a:pPr algn="ctr" indent="0" marL="0">
              <a:buNone/>
            </a:pPr>
            <a:r>
              <a:rPr lang="en-US" sz="920" b="1" dirty="0">
                <a:solidFill>
                  <a:srgbClr val="142925"/>
                </a:solidFill>
              </a:rPr>
              <a:t>TOOL</a:t>
            </a:r>
            <a:endParaRPr lang="en-US" sz="920" dirty="0"/>
          </a:p>
        </p:txBody>
      </p:sp>
      <p:sp>
        <p:nvSpPr>
          <p:cNvPr id="21" name="Shape 19"/>
          <p:cNvSpPr/>
          <p:nvPr/>
        </p:nvSpPr>
        <p:spPr>
          <a:xfrm>
            <a:off x="8165592" y="2148840"/>
            <a:ext cx="566928" cy="566928"/>
          </a:xfrm>
          <a:prstGeom prst="ellipse">
            <a:avLst/>
          </a:prstGeom>
          <a:solidFill>
            <a:srgbClr val="FFFFFF"/>
          </a:solidFill>
          <a:ln w="25400">
            <a:solidFill>
              <a:srgbClr val="D5DFDC"/>
            </a:solidFill>
            <a:prstDash val="solid"/>
          </a:ln>
        </p:spPr>
      </p:sp>
      <p:sp>
        <p:nvSpPr>
          <p:cNvPr id="22" name="Text 20"/>
          <p:cNvSpPr/>
          <p:nvPr/>
        </p:nvSpPr>
        <p:spPr>
          <a:xfrm>
            <a:off x="8229600" y="2340864"/>
            <a:ext cx="438912" cy="109728"/>
          </a:xfrm>
          <a:prstGeom prst="rect">
            <a:avLst/>
          </a:prstGeom>
          <a:noFill/>
          <a:ln/>
        </p:spPr>
        <p:txBody>
          <a:bodyPr wrap="square" lIns="0" tIns="0" rIns="0" bIns="0" rtlCol="0" anchor="ctr"/>
          <a:lstStyle/>
          <a:p>
            <a:pPr algn="ctr" indent="0" marL="0">
              <a:buNone/>
            </a:pPr>
            <a:r>
              <a:rPr lang="en-US" sz="800" b="1" dirty="0">
                <a:solidFill>
                  <a:srgbClr val="0F766E"/>
                </a:solidFill>
              </a:rPr>
              <a:t>5</a:t>
            </a:r>
            <a:endParaRPr lang="en-US" sz="800" dirty="0"/>
          </a:p>
        </p:txBody>
      </p:sp>
      <p:sp>
        <p:nvSpPr>
          <p:cNvPr id="23" name="Shape 21"/>
          <p:cNvSpPr/>
          <p:nvPr/>
        </p:nvSpPr>
        <p:spPr>
          <a:xfrm>
            <a:off x="8741664" y="2432304"/>
            <a:ext cx="1243584" cy="0"/>
          </a:xfrm>
          <a:prstGeom prst="line">
            <a:avLst/>
          </a:prstGeom>
          <a:noFill/>
          <a:ln w="25400">
            <a:solidFill>
              <a:srgbClr val="D5DFDC"/>
            </a:solidFill>
            <a:prstDash val="solid"/>
            <a:tailEnd type="triangle"/>
          </a:ln>
        </p:spPr>
      </p:sp>
      <p:sp>
        <p:nvSpPr>
          <p:cNvPr id="24" name="Text 22"/>
          <p:cNvSpPr/>
          <p:nvPr/>
        </p:nvSpPr>
        <p:spPr>
          <a:xfrm>
            <a:off x="8001000" y="2907792"/>
            <a:ext cx="914400" cy="228600"/>
          </a:xfrm>
          <a:prstGeom prst="rect">
            <a:avLst/>
          </a:prstGeom>
          <a:noFill/>
          <a:ln/>
        </p:spPr>
        <p:txBody>
          <a:bodyPr wrap="square" lIns="0" tIns="0" rIns="0" bIns="0" rtlCol="0" anchor="ctr">
            <a:normAutofit/>
          </a:bodyPr>
          <a:lstStyle/>
          <a:p>
            <a:pPr algn="ctr" indent="0" marL="0">
              <a:buNone/>
            </a:pPr>
            <a:r>
              <a:rPr lang="en-US" sz="920" b="1" dirty="0">
                <a:solidFill>
                  <a:srgbClr val="142925"/>
                </a:solidFill>
              </a:rPr>
              <a:t>APPROVAL</a:t>
            </a:r>
            <a:endParaRPr lang="en-US" sz="920" dirty="0"/>
          </a:p>
        </p:txBody>
      </p:sp>
      <p:sp>
        <p:nvSpPr>
          <p:cNvPr id="25" name="Shape 23"/>
          <p:cNvSpPr/>
          <p:nvPr/>
        </p:nvSpPr>
        <p:spPr>
          <a:xfrm>
            <a:off x="10012680" y="2148840"/>
            <a:ext cx="566928" cy="566928"/>
          </a:xfrm>
          <a:prstGeom prst="ellipse">
            <a:avLst/>
          </a:prstGeom>
          <a:solidFill>
            <a:srgbClr val="0F766E"/>
          </a:solidFill>
          <a:ln w="25400">
            <a:solidFill>
              <a:srgbClr val="0F766E"/>
            </a:solidFill>
            <a:prstDash val="solid"/>
          </a:ln>
        </p:spPr>
      </p:sp>
      <p:sp>
        <p:nvSpPr>
          <p:cNvPr id="26" name="Text 24"/>
          <p:cNvSpPr/>
          <p:nvPr/>
        </p:nvSpPr>
        <p:spPr>
          <a:xfrm>
            <a:off x="10076688" y="2340864"/>
            <a:ext cx="438912" cy="109728"/>
          </a:xfrm>
          <a:prstGeom prst="rect">
            <a:avLst/>
          </a:prstGeom>
          <a:noFill/>
          <a:ln/>
        </p:spPr>
        <p:txBody>
          <a:bodyPr wrap="square" lIns="0" tIns="0" rIns="0" bIns="0" rtlCol="0" anchor="ctr"/>
          <a:lstStyle/>
          <a:p>
            <a:pPr algn="ctr" indent="0" marL="0">
              <a:buNone/>
            </a:pPr>
            <a:r>
              <a:rPr lang="en-US" sz="800" b="1" dirty="0">
                <a:solidFill>
                  <a:srgbClr val="FFFFFF"/>
                </a:solidFill>
              </a:rPr>
              <a:t>6</a:t>
            </a:r>
            <a:endParaRPr lang="en-US" sz="800" dirty="0"/>
          </a:p>
        </p:txBody>
      </p:sp>
      <p:sp>
        <p:nvSpPr>
          <p:cNvPr id="27" name="Text 25"/>
          <p:cNvSpPr/>
          <p:nvPr/>
        </p:nvSpPr>
        <p:spPr>
          <a:xfrm>
            <a:off x="9848088" y="2907792"/>
            <a:ext cx="914400" cy="228600"/>
          </a:xfrm>
          <a:prstGeom prst="rect">
            <a:avLst/>
          </a:prstGeom>
          <a:noFill/>
          <a:ln/>
        </p:spPr>
        <p:txBody>
          <a:bodyPr wrap="square" lIns="0" tIns="0" rIns="0" bIns="0" rtlCol="0" anchor="ctr">
            <a:normAutofit/>
          </a:bodyPr>
          <a:lstStyle/>
          <a:p>
            <a:pPr algn="ctr" indent="0" marL="0">
              <a:buNone/>
            </a:pPr>
            <a:r>
              <a:rPr lang="en-US" sz="920" b="1" dirty="0">
                <a:solidFill>
                  <a:srgbClr val="142925"/>
                </a:solidFill>
              </a:rPr>
              <a:t>OUTCOME</a:t>
            </a:r>
            <a:endParaRPr lang="en-US" sz="920" dirty="0"/>
          </a:p>
        </p:txBody>
      </p:sp>
      <p:sp>
        <p:nvSpPr>
          <p:cNvPr id="28" name="Shape 26"/>
          <p:cNvSpPr/>
          <p:nvPr/>
        </p:nvSpPr>
        <p:spPr>
          <a:xfrm>
            <a:off x="594360" y="3657600"/>
            <a:ext cx="3474720" cy="841248"/>
          </a:xfrm>
          <a:prstGeom prst="roundRect">
            <a:avLst>
              <a:gd name="adj" fmla="val 8696"/>
            </a:avLst>
          </a:prstGeom>
          <a:solidFill>
            <a:srgbClr val="FFFFFF"/>
          </a:solidFill>
          <a:ln w="12700">
            <a:solidFill>
              <a:srgbClr val="D5DFDC"/>
            </a:solidFill>
            <a:prstDash val="solid"/>
          </a:ln>
        </p:spPr>
      </p:sp>
      <p:sp>
        <p:nvSpPr>
          <p:cNvPr id="29" name="Text 27"/>
          <p:cNvSpPr/>
          <p:nvPr/>
        </p:nvSpPr>
        <p:spPr>
          <a:xfrm>
            <a:off x="777240" y="3813048"/>
            <a:ext cx="1097280" cy="201168"/>
          </a:xfrm>
          <a:prstGeom prst="rect">
            <a:avLst/>
          </a:prstGeom>
          <a:noFill/>
          <a:ln/>
        </p:spPr>
        <p:txBody>
          <a:bodyPr wrap="square" lIns="0" tIns="0" rIns="0" bIns="0" rtlCol="0" anchor="ctr"/>
          <a:lstStyle/>
          <a:p>
            <a:pPr indent="0" marL="0">
              <a:buNone/>
            </a:pPr>
            <a:r>
              <a:rPr lang="en-US" sz="1020" b="1" dirty="0">
                <a:solidFill>
                  <a:srgbClr val="0F766E"/>
                </a:solidFill>
              </a:rPr>
              <a:t>Required fields</a:t>
            </a:r>
            <a:endParaRPr lang="en-US" sz="1020" dirty="0"/>
          </a:p>
        </p:txBody>
      </p:sp>
      <p:sp>
        <p:nvSpPr>
          <p:cNvPr id="30" name="Text 28"/>
          <p:cNvSpPr/>
          <p:nvPr/>
        </p:nvSpPr>
        <p:spPr>
          <a:xfrm>
            <a:off x="1828800" y="3776472"/>
            <a:ext cx="2011680" cy="457200"/>
          </a:xfrm>
          <a:prstGeom prst="rect">
            <a:avLst/>
          </a:prstGeom>
          <a:noFill/>
          <a:ln/>
        </p:spPr>
        <p:txBody>
          <a:bodyPr wrap="square" lIns="0" tIns="0" rIns="0" bIns="0" rtlCol="0" anchor="ctr">
            <a:normAutofit/>
          </a:bodyPr>
          <a:lstStyle/>
          <a:p>
            <a:pPr indent="0" marL="0">
              <a:buNone/>
            </a:pPr>
            <a:r>
              <a:rPr lang="en-US" sz="950" dirty="0">
                <a:solidFill>
                  <a:srgbClr val="142925"/>
                </a:solidFill>
              </a:rPr>
              <a:t>onset, severity, change, warning signs</a:t>
            </a:r>
            <a:endParaRPr lang="en-US" sz="950" dirty="0"/>
          </a:p>
        </p:txBody>
      </p:sp>
      <p:sp>
        <p:nvSpPr>
          <p:cNvPr id="31" name="Shape 29"/>
          <p:cNvSpPr/>
          <p:nvPr/>
        </p:nvSpPr>
        <p:spPr>
          <a:xfrm>
            <a:off x="4389120" y="3657600"/>
            <a:ext cx="3474720" cy="841248"/>
          </a:xfrm>
          <a:prstGeom prst="roundRect">
            <a:avLst>
              <a:gd name="adj" fmla="val 8696"/>
            </a:avLst>
          </a:prstGeom>
          <a:solidFill>
            <a:srgbClr val="FFFFFF"/>
          </a:solidFill>
          <a:ln w="12700">
            <a:solidFill>
              <a:srgbClr val="D5DFDC"/>
            </a:solidFill>
            <a:prstDash val="solid"/>
          </a:ln>
        </p:spPr>
      </p:sp>
      <p:sp>
        <p:nvSpPr>
          <p:cNvPr id="32" name="Text 30"/>
          <p:cNvSpPr/>
          <p:nvPr/>
        </p:nvSpPr>
        <p:spPr>
          <a:xfrm>
            <a:off x="4572000" y="3813048"/>
            <a:ext cx="1097280" cy="201168"/>
          </a:xfrm>
          <a:prstGeom prst="rect">
            <a:avLst/>
          </a:prstGeom>
          <a:noFill/>
          <a:ln/>
        </p:spPr>
        <p:txBody>
          <a:bodyPr wrap="square" lIns="0" tIns="0" rIns="0" bIns="0" rtlCol="0" anchor="ctr"/>
          <a:lstStyle/>
          <a:p>
            <a:pPr indent="0" marL="0">
              <a:buNone/>
            </a:pPr>
            <a:r>
              <a:rPr lang="en-US" sz="1020" b="1" dirty="0">
                <a:solidFill>
                  <a:srgbClr val="0F766E"/>
                </a:solidFill>
              </a:rPr>
              <a:t>Routing rule</a:t>
            </a:r>
            <a:endParaRPr lang="en-US" sz="1020" dirty="0"/>
          </a:p>
        </p:txBody>
      </p:sp>
      <p:sp>
        <p:nvSpPr>
          <p:cNvPr id="33" name="Text 31"/>
          <p:cNvSpPr/>
          <p:nvPr/>
        </p:nvSpPr>
        <p:spPr>
          <a:xfrm>
            <a:off x="5623560" y="3776472"/>
            <a:ext cx="2011680" cy="457200"/>
          </a:xfrm>
          <a:prstGeom prst="rect">
            <a:avLst/>
          </a:prstGeom>
          <a:noFill/>
          <a:ln/>
        </p:spPr>
        <p:txBody>
          <a:bodyPr wrap="square" lIns="0" tIns="0" rIns="0" bIns="0" rtlCol="0" anchor="ctr">
            <a:normAutofit/>
          </a:bodyPr>
          <a:lstStyle/>
          <a:p>
            <a:pPr indent="0" marL="0">
              <a:buNone/>
            </a:pPr>
            <a:r>
              <a:rPr lang="en-US" sz="950" dirty="0">
                <a:solidFill>
                  <a:srgbClr val="142925"/>
                </a:solidFill>
              </a:rPr>
              <a:t>specialist only after required context</a:t>
            </a:r>
            <a:endParaRPr lang="en-US" sz="950" dirty="0"/>
          </a:p>
        </p:txBody>
      </p:sp>
      <p:sp>
        <p:nvSpPr>
          <p:cNvPr id="34" name="Shape 32"/>
          <p:cNvSpPr/>
          <p:nvPr/>
        </p:nvSpPr>
        <p:spPr>
          <a:xfrm>
            <a:off x="8183880" y="3657600"/>
            <a:ext cx="3474720" cy="841248"/>
          </a:xfrm>
          <a:prstGeom prst="roundRect">
            <a:avLst>
              <a:gd name="adj" fmla="val 8696"/>
            </a:avLst>
          </a:prstGeom>
          <a:solidFill>
            <a:srgbClr val="FFFFFF"/>
          </a:solidFill>
          <a:ln w="12700">
            <a:solidFill>
              <a:srgbClr val="D5DFDC"/>
            </a:solidFill>
            <a:prstDash val="solid"/>
          </a:ln>
        </p:spPr>
      </p:sp>
      <p:sp>
        <p:nvSpPr>
          <p:cNvPr id="35" name="Text 33"/>
          <p:cNvSpPr/>
          <p:nvPr/>
        </p:nvSpPr>
        <p:spPr>
          <a:xfrm>
            <a:off x="8366760" y="3813048"/>
            <a:ext cx="1097280" cy="201168"/>
          </a:xfrm>
          <a:prstGeom prst="rect">
            <a:avLst/>
          </a:prstGeom>
          <a:noFill/>
          <a:ln/>
        </p:spPr>
        <p:txBody>
          <a:bodyPr wrap="square" lIns="0" tIns="0" rIns="0" bIns="0" rtlCol="0" anchor="ctr"/>
          <a:lstStyle/>
          <a:p>
            <a:pPr indent="0" marL="0">
              <a:buNone/>
            </a:pPr>
            <a:r>
              <a:rPr lang="en-US" sz="1020" b="1" dirty="0">
                <a:solidFill>
                  <a:srgbClr val="0F766E"/>
                </a:solidFill>
              </a:rPr>
              <a:t>Handoff trace</a:t>
            </a:r>
            <a:endParaRPr lang="en-US" sz="1020" dirty="0"/>
          </a:p>
        </p:txBody>
      </p:sp>
      <p:sp>
        <p:nvSpPr>
          <p:cNvPr id="36" name="Text 34"/>
          <p:cNvSpPr/>
          <p:nvPr/>
        </p:nvSpPr>
        <p:spPr>
          <a:xfrm>
            <a:off x="9418320" y="3776472"/>
            <a:ext cx="2011680" cy="457200"/>
          </a:xfrm>
          <a:prstGeom prst="rect">
            <a:avLst/>
          </a:prstGeom>
          <a:noFill/>
          <a:ln/>
        </p:spPr>
        <p:txBody>
          <a:bodyPr wrap="square" lIns="0" tIns="0" rIns="0" bIns="0" rtlCol="0" anchor="ctr">
            <a:normAutofit/>
          </a:bodyPr>
          <a:lstStyle/>
          <a:p>
            <a:pPr indent="0" marL="0">
              <a:buNone/>
            </a:pPr>
            <a:r>
              <a:rPr lang="en-US" sz="950" dirty="0">
                <a:solidFill>
                  <a:srgbClr val="142925"/>
                </a:solidFill>
              </a:rPr>
              <a:t>what moved, why, and to whom</a:t>
            </a:r>
            <a:endParaRPr lang="en-US" sz="950" dirty="0"/>
          </a:p>
        </p:txBody>
      </p:sp>
      <p:sp>
        <p:nvSpPr>
          <p:cNvPr id="37" name="Shape 35"/>
          <p:cNvSpPr/>
          <p:nvPr/>
        </p:nvSpPr>
        <p:spPr>
          <a:xfrm>
            <a:off x="594360" y="4736592"/>
            <a:ext cx="3474720" cy="841248"/>
          </a:xfrm>
          <a:prstGeom prst="roundRect">
            <a:avLst>
              <a:gd name="adj" fmla="val 8696"/>
            </a:avLst>
          </a:prstGeom>
          <a:solidFill>
            <a:srgbClr val="FFFFFF"/>
          </a:solidFill>
          <a:ln w="12700">
            <a:solidFill>
              <a:srgbClr val="D5DFDC"/>
            </a:solidFill>
            <a:prstDash val="solid"/>
          </a:ln>
        </p:spPr>
      </p:sp>
      <p:sp>
        <p:nvSpPr>
          <p:cNvPr id="38" name="Text 36"/>
          <p:cNvSpPr/>
          <p:nvPr/>
        </p:nvSpPr>
        <p:spPr>
          <a:xfrm>
            <a:off x="777240" y="4892040"/>
            <a:ext cx="1097280" cy="201168"/>
          </a:xfrm>
          <a:prstGeom prst="rect">
            <a:avLst/>
          </a:prstGeom>
          <a:noFill/>
          <a:ln/>
        </p:spPr>
        <p:txBody>
          <a:bodyPr wrap="square" lIns="0" tIns="0" rIns="0" bIns="0" rtlCol="0" anchor="ctr"/>
          <a:lstStyle/>
          <a:p>
            <a:pPr indent="0" marL="0">
              <a:buNone/>
            </a:pPr>
            <a:r>
              <a:rPr lang="en-US" sz="1020" b="1" dirty="0">
                <a:solidFill>
                  <a:srgbClr val="0F766E"/>
                </a:solidFill>
              </a:rPr>
              <a:t>Tool validation</a:t>
            </a:r>
            <a:endParaRPr lang="en-US" sz="1020" dirty="0"/>
          </a:p>
        </p:txBody>
      </p:sp>
      <p:sp>
        <p:nvSpPr>
          <p:cNvPr id="39" name="Text 37"/>
          <p:cNvSpPr/>
          <p:nvPr/>
        </p:nvSpPr>
        <p:spPr>
          <a:xfrm>
            <a:off x="1828800" y="4855464"/>
            <a:ext cx="2011680" cy="457200"/>
          </a:xfrm>
          <a:prstGeom prst="rect">
            <a:avLst/>
          </a:prstGeom>
          <a:noFill/>
          <a:ln/>
        </p:spPr>
        <p:txBody>
          <a:bodyPr wrap="square" lIns="0" tIns="0" rIns="0" bIns="0" rtlCol="0" anchor="ctr">
            <a:normAutofit/>
          </a:bodyPr>
          <a:lstStyle/>
          <a:p>
            <a:pPr indent="0" marL="0">
              <a:buNone/>
            </a:pPr>
            <a:r>
              <a:rPr lang="en-US" sz="950" dirty="0">
                <a:solidFill>
                  <a:srgbClr val="142925"/>
                </a:solidFill>
              </a:rPr>
              <a:t>tool, fields, permissions, response</a:t>
            </a:r>
            <a:endParaRPr lang="en-US" sz="950" dirty="0"/>
          </a:p>
        </p:txBody>
      </p:sp>
      <p:sp>
        <p:nvSpPr>
          <p:cNvPr id="40" name="Shape 38"/>
          <p:cNvSpPr/>
          <p:nvPr/>
        </p:nvSpPr>
        <p:spPr>
          <a:xfrm>
            <a:off x="4389120" y="4736592"/>
            <a:ext cx="3474720" cy="841248"/>
          </a:xfrm>
          <a:prstGeom prst="roundRect">
            <a:avLst>
              <a:gd name="adj" fmla="val 8696"/>
            </a:avLst>
          </a:prstGeom>
          <a:solidFill>
            <a:srgbClr val="FFFFFF"/>
          </a:solidFill>
          <a:ln w="12700">
            <a:solidFill>
              <a:srgbClr val="D5DFDC"/>
            </a:solidFill>
            <a:prstDash val="solid"/>
          </a:ln>
        </p:spPr>
      </p:sp>
      <p:sp>
        <p:nvSpPr>
          <p:cNvPr id="41" name="Text 39"/>
          <p:cNvSpPr/>
          <p:nvPr/>
        </p:nvSpPr>
        <p:spPr>
          <a:xfrm>
            <a:off x="4572000" y="4892040"/>
            <a:ext cx="1097280" cy="201168"/>
          </a:xfrm>
          <a:prstGeom prst="rect">
            <a:avLst/>
          </a:prstGeom>
          <a:noFill/>
          <a:ln/>
        </p:spPr>
        <p:txBody>
          <a:bodyPr wrap="square" lIns="0" tIns="0" rIns="0" bIns="0" rtlCol="0" anchor="ctr"/>
          <a:lstStyle/>
          <a:p>
            <a:pPr indent="0" marL="0">
              <a:buNone/>
            </a:pPr>
            <a:r>
              <a:rPr lang="en-US" sz="1020" b="1" dirty="0">
                <a:solidFill>
                  <a:srgbClr val="0F766E"/>
                </a:solidFill>
              </a:rPr>
              <a:t>Decision right</a:t>
            </a:r>
            <a:endParaRPr lang="en-US" sz="1020" dirty="0"/>
          </a:p>
        </p:txBody>
      </p:sp>
      <p:sp>
        <p:nvSpPr>
          <p:cNvPr id="42" name="Text 40"/>
          <p:cNvSpPr/>
          <p:nvPr/>
        </p:nvSpPr>
        <p:spPr>
          <a:xfrm>
            <a:off x="5623560" y="4855464"/>
            <a:ext cx="2011680" cy="457200"/>
          </a:xfrm>
          <a:prstGeom prst="rect">
            <a:avLst/>
          </a:prstGeom>
          <a:noFill/>
          <a:ln/>
        </p:spPr>
        <p:txBody>
          <a:bodyPr wrap="square" lIns="0" tIns="0" rIns="0" bIns="0" rtlCol="0" anchor="ctr">
            <a:normAutofit/>
          </a:bodyPr>
          <a:lstStyle/>
          <a:p>
            <a:pPr indent="0" marL="0">
              <a:buNone/>
            </a:pPr>
            <a:r>
              <a:rPr lang="en-US" sz="950" dirty="0">
                <a:solidFill>
                  <a:srgbClr val="142925"/>
                </a:solidFill>
              </a:rPr>
              <a:t>human review for high-impact action</a:t>
            </a:r>
            <a:endParaRPr lang="en-US" sz="950" dirty="0"/>
          </a:p>
        </p:txBody>
      </p:sp>
      <p:sp>
        <p:nvSpPr>
          <p:cNvPr id="43" name="Shape 41"/>
          <p:cNvSpPr/>
          <p:nvPr/>
        </p:nvSpPr>
        <p:spPr>
          <a:xfrm>
            <a:off x="8183880" y="4736592"/>
            <a:ext cx="3474720" cy="841248"/>
          </a:xfrm>
          <a:prstGeom prst="roundRect">
            <a:avLst>
              <a:gd name="adj" fmla="val 8696"/>
            </a:avLst>
          </a:prstGeom>
          <a:solidFill>
            <a:srgbClr val="FFFFFF"/>
          </a:solidFill>
          <a:ln w="12700">
            <a:solidFill>
              <a:srgbClr val="D5DFDC"/>
            </a:solidFill>
            <a:prstDash val="solid"/>
          </a:ln>
        </p:spPr>
      </p:sp>
      <p:sp>
        <p:nvSpPr>
          <p:cNvPr id="44" name="Text 42"/>
          <p:cNvSpPr/>
          <p:nvPr/>
        </p:nvSpPr>
        <p:spPr>
          <a:xfrm>
            <a:off x="8366760" y="4892040"/>
            <a:ext cx="1097280" cy="201168"/>
          </a:xfrm>
          <a:prstGeom prst="rect">
            <a:avLst/>
          </a:prstGeom>
          <a:noFill/>
          <a:ln/>
        </p:spPr>
        <p:txBody>
          <a:bodyPr wrap="square" lIns="0" tIns="0" rIns="0" bIns="0" rtlCol="0" anchor="ctr"/>
          <a:lstStyle/>
          <a:p>
            <a:pPr indent="0" marL="0">
              <a:buNone/>
            </a:pPr>
            <a:r>
              <a:rPr lang="en-US" sz="1020" b="1" dirty="0">
                <a:solidFill>
                  <a:srgbClr val="0F766E"/>
                </a:solidFill>
              </a:rPr>
              <a:t>Regression</a:t>
            </a:r>
            <a:endParaRPr lang="en-US" sz="1020" dirty="0"/>
          </a:p>
        </p:txBody>
      </p:sp>
      <p:sp>
        <p:nvSpPr>
          <p:cNvPr id="45" name="Text 43"/>
          <p:cNvSpPr/>
          <p:nvPr/>
        </p:nvSpPr>
        <p:spPr>
          <a:xfrm>
            <a:off x="9418320" y="4855464"/>
            <a:ext cx="2011680" cy="457200"/>
          </a:xfrm>
          <a:prstGeom prst="rect">
            <a:avLst/>
          </a:prstGeom>
          <a:noFill/>
          <a:ln/>
        </p:spPr>
        <p:txBody>
          <a:bodyPr wrap="square" lIns="0" tIns="0" rIns="0" bIns="0" rtlCol="0" anchor="ctr">
            <a:normAutofit/>
          </a:bodyPr>
          <a:lstStyle/>
          <a:p>
            <a:pPr indent="0" marL="0">
              <a:buNone/>
            </a:pPr>
            <a:r>
              <a:rPr lang="en-US" sz="950" dirty="0">
                <a:solidFill>
                  <a:srgbClr val="142925"/>
                </a:solidFill>
              </a:rPr>
              <a:t>rerun after prompt, model, tool, policy, or agent changes</a:t>
            </a:r>
            <a:endParaRPr lang="en-US" sz="950" dirty="0"/>
          </a:p>
        </p:txBody>
      </p:sp>
      <p:sp>
        <p:nvSpPr>
          <p:cNvPr id="46" name="Shape 44"/>
          <p:cNvSpPr/>
          <p:nvPr/>
        </p:nvSpPr>
        <p:spPr>
          <a:xfrm>
            <a:off x="1874520" y="5925312"/>
            <a:ext cx="8321040" cy="475488"/>
          </a:xfrm>
          <a:prstGeom prst="roundRect">
            <a:avLst>
              <a:gd name="adj" fmla="val 15385"/>
            </a:avLst>
          </a:prstGeom>
          <a:solidFill>
            <a:srgbClr val="DDF3EE"/>
          </a:solidFill>
          <a:ln w="12700">
            <a:solidFill>
              <a:srgbClr val="DDF3EE"/>
            </a:solidFill>
            <a:prstDash val="solid"/>
          </a:ln>
        </p:spPr>
      </p:sp>
      <p:sp>
        <p:nvSpPr>
          <p:cNvPr id="47" name="Text 45"/>
          <p:cNvSpPr/>
          <p:nvPr/>
        </p:nvSpPr>
        <p:spPr>
          <a:xfrm>
            <a:off x="2148840" y="6126480"/>
            <a:ext cx="7772400" cy="73152"/>
          </a:xfrm>
          <a:prstGeom prst="rect">
            <a:avLst/>
          </a:prstGeom>
          <a:noFill/>
          <a:ln/>
        </p:spPr>
        <p:txBody>
          <a:bodyPr wrap="square" lIns="0" tIns="0" rIns="0" bIns="0" rtlCol="0" anchor="ctr">
            <a:normAutofit/>
          </a:bodyPr>
          <a:lstStyle/>
          <a:p>
            <a:pPr indent="0" marL="0">
              <a:buNone/>
            </a:pPr>
            <a:r>
              <a:rPr lang="en-US" sz="1320" b="1" dirty="0">
                <a:solidFill>
                  <a:srgbClr val="142925"/>
                </a:solidFill>
              </a:rPr>
              <a:t>A trace is useful only when you know what should have happened.</a:t>
            </a:r>
            <a:endParaRPr lang="en-US" sz="1320" dirty="0"/>
          </a:p>
        </p:txBody>
      </p:sp>
      <p:sp>
        <p:nvSpPr>
          <p:cNvPr id="25" name="Slide Number Placeholder 0"/>
          <p:cNvSpPr>
            <a:spLocks noGrp="1"/>
          </p:cNvSpPr>
          <p:nvPr>
            <p:ph type="sldNum" sz="quarter" idx="4294967295"/>
          </p:nvPr>
        </p:nvSpPr>
        <p:spPr>
          <a:xfrm>
            <a:off x="11704320" y="6565392"/>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7A8986"/>
                </a:solidFill>
                <a:latin typeface="Noto Sans"/>
                <a:ea typeface="Noto Sans"/>
                <a:cs typeface="Noto Sans"/>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94360" y="502920"/>
            <a:ext cx="4389120" cy="219456"/>
          </a:xfrm>
          <a:prstGeom prst="rect">
            <a:avLst/>
          </a:prstGeom>
          <a:noFill/>
          <a:ln/>
        </p:spPr>
        <p:txBody>
          <a:bodyPr wrap="square" lIns="0" tIns="0" rIns="0" bIns="0" rtlCol="0" anchor="ctr"/>
          <a:lstStyle/>
          <a:p>
            <a:pPr indent="0" marL="0">
              <a:buNone/>
            </a:pPr>
            <a:r>
              <a:rPr lang="en-US" sz="900" b="1" spc="120" kern="0" dirty="0">
                <a:solidFill>
                  <a:srgbClr val="0F766E"/>
                </a:solidFill>
              </a:rPr>
              <a:t>DECISION RIGHTS</a:t>
            </a:r>
            <a:endParaRPr lang="en-US" sz="900" dirty="0"/>
          </a:p>
        </p:txBody>
      </p:sp>
      <p:sp>
        <p:nvSpPr>
          <p:cNvPr id="3" name="Text 1"/>
          <p:cNvSpPr/>
          <p:nvPr/>
        </p:nvSpPr>
        <p:spPr>
          <a:xfrm>
            <a:off x="594360" y="786384"/>
            <a:ext cx="10972800" cy="566928"/>
          </a:xfrm>
          <a:prstGeom prst="rect">
            <a:avLst/>
          </a:prstGeom>
          <a:noFill/>
          <a:ln/>
        </p:spPr>
        <p:txBody>
          <a:bodyPr wrap="square" lIns="0" tIns="0" rIns="0" bIns="0" rtlCol="0" anchor="ctr">
            <a:normAutofit/>
          </a:bodyPr>
          <a:lstStyle/>
          <a:p>
            <a:pPr indent="0" marL="0">
              <a:buNone/>
            </a:pPr>
            <a:r>
              <a:rPr lang="en-US" sz="2600" b="1" dirty="0">
                <a:solidFill>
                  <a:srgbClr val="142925"/>
                </a:solidFill>
              </a:rPr>
              <a:t>Human review is a workflow state</a:t>
            </a:r>
            <a:endParaRPr lang="en-US" sz="2600" dirty="0"/>
          </a:p>
        </p:txBody>
      </p:sp>
      <p:sp>
        <p:nvSpPr>
          <p:cNvPr id="4" name="Text 2"/>
          <p:cNvSpPr/>
          <p:nvPr/>
        </p:nvSpPr>
        <p:spPr>
          <a:xfrm>
            <a:off x="594360" y="1353312"/>
            <a:ext cx="10698480" cy="411480"/>
          </a:xfrm>
          <a:prstGeom prst="rect">
            <a:avLst/>
          </a:prstGeom>
          <a:noFill/>
          <a:ln/>
        </p:spPr>
        <p:txBody>
          <a:bodyPr wrap="square" lIns="0" tIns="0" rIns="0" bIns="0" rtlCol="0" anchor="ctr">
            <a:normAutofit/>
          </a:bodyPr>
          <a:lstStyle/>
          <a:p>
            <a:pPr indent="0" marL="0">
              <a:buNone/>
            </a:pPr>
            <a:r>
              <a:rPr lang="en-US" sz="1300" dirty="0">
                <a:solidFill>
                  <a:srgbClr val="5B6B68"/>
                </a:solidFill>
              </a:rPr>
              <a:t>Do not sprinkle “human in the loop” on top. Define exactly where authority changes hands.</a:t>
            </a:r>
            <a:endParaRPr lang="en-US" sz="1300" dirty="0"/>
          </a:p>
        </p:txBody>
      </p:sp>
      <p:sp>
        <p:nvSpPr>
          <p:cNvPr id="5" name="Shape 3"/>
          <p:cNvSpPr/>
          <p:nvPr/>
        </p:nvSpPr>
        <p:spPr>
          <a:xfrm>
            <a:off x="685800" y="1938528"/>
            <a:ext cx="10835640" cy="960120"/>
          </a:xfrm>
          <a:prstGeom prst="roundRect">
            <a:avLst>
              <a:gd name="adj" fmla="val 7619"/>
            </a:avLst>
          </a:prstGeom>
          <a:solidFill>
            <a:srgbClr val="FFFFFF"/>
          </a:solidFill>
          <a:ln w="12700">
            <a:solidFill>
              <a:srgbClr val="D5DFDC"/>
            </a:solidFill>
            <a:prstDash val="solid"/>
          </a:ln>
        </p:spPr>
      </p:sp>
      <p:sp>
        <p:nvSpPr>
          <p:cNvPr id="6" name="Shape 4"/>
          <p:cNvSpPr/>
          <p:nvPr/>
        </p:nvSpPr>
        <p:spPr>
          <a:xfrm>
            <a:off x="914400" y="2249424"/>
            <a:ext cx="1600200" cy="310896"/>
          </a:xfrm>
          <a:prstGeom prst="roundRect">
            <a:avLst/>
          </a:prstGeom>
          <a:solidFill>
            <a:srgbClr val="DDF3EE"/>
          </a:solidFill>
          <a:ln w="12700">
            <a:solidFill>
              <a:srgbClr val="DDF3EE"/>
            </a:solidFill>
            <a:prstDash val="solid"/>
          </a:ln>
        </p:spPr>
      </p:sp>
      <p:sp>
        <p:nvSpPr>
          <p:cNvPr id="7" name="Text 5"/>
          <p:cNvSpPr/>
          <p:nvPr/>
        </p:nvSpPr>
        <p:spPr>
          <a:xfrm>
            <a:off x="987552" y="2313432"/>
            <a:ext cx="1453896" cy="164592"/>
          </a:xfrm>
          <a:prstGeom prst="rect">
            <a:avLst/>
          </a:prstGeom>
          <a:noFill/>
          <a:ln/>
        </p:spPr>
        <p:txBody>
          <a:bodyPr wrap="square" lIns="0" tIns="0" rIns="0" bIns="0" rtlCol="0" anchor="ctr">
            <a:normAutofit/>
          </a:bodyPr>
          <a:lstStyle/>
          <a:p>
            <a:pPr algn="ctr" indent="0" marL="0">
              <a:buNone/>
            </a:pPr>
            <a:r>
              <a:rPr lang="en-US" sz="850" b="1" dirty="0">
                <a:solidFill>
                  <a:srgbClr val="0F766E"/>
                </a:solidFill>
              </a:rPr>
              <a:t>AGENT CAN DO</a:t>
            </a:r>
            <a:endParaRPr lang="en-US" sz="850" dirty="0"/>
          </a:p>
        </p:txBody>
      </p:sp>
      <p:sp>
        <p:nvSpPr>
          <p:cNvPr id="8" name="Text 6"/>
          <p:cNvSpPr/>
          <p:nvPr/>
        </p:nvSpPr>
        <p:spPr>
          <a:xfrm>
            <a:off x="2788920" y="2130552"/>
            <a:ext cx="5394960" cy="512064"/>
          </a:xfrm>
          <a:prstGeom prst="rect">
            <a:avLst/>
          </a:prstGeom>
          <a:noFill/>
          <a:ln/>
        </p:spPr>
        <p:txBody>
          <a:bodyPr wrap="square" lIns="0" tIns="0" rIns="0" bIns="0" rtlCol="0" anchor="ctr">
            <a:normAutofit/>
          </a:bodyPr>
          <a:lstStyle/>
          <a:p>
            <a:pPr indent="0" marL="0">
              <a:buNone/>
            </a:pPr>
            <a:r>
              <a:rPr lang="en-US" sz="1300" b="1" dirty="0">
                <a:solidFill>
                  <a:srgbClr val="142925"/>
                </a:solidFill>
              </a:rPr>
              <a:t>Gather context, summarize records, draft questions, prepare a message</a:t>
            </a:r>
            <a:endParaRPr lang="en-US" sz="1300" dirty="0"/>
          </a:p>
        </p:txBody>
      </p:sp>
      <p:sp>
        <p:nvSpPr>
          <p:cNvPr id="9" name="Text 7"/>
          <p:cNvSpPr/>
          <p:nvPr/>
        </p:nvSpPr>
        <p:spPr>
          <a:xfrm>
            <a:off x="8549640" y="2212848"/>
            <a:ext cx="2606040" cy="329184"/>
          </a:xfrm>
          <a:prstGeom prst="rect">
            <a:avLst/>
          </a:prstGeom>
          <a:noFill/>
          <a:ln/>
        </p:spPr>
        <p:txBody>
          <a:bodyPr wrap="square" lIns="0" tIns="0" rIns="0" bIns="0" rtlCol="0" anchor="ctr">
            <a:normAutofit/>
          </a:bodyPr>
          <a:lstStyle/>
          <a:p>
            <a:pPr algn="r" indent="0" marL="0">
              <a:buNone/>
            </a:pPr>
            <a:r>
              <a:rPr lang="en-US" sz="1100" dirty="0">
                <a:solidFill>
                  <a:srgbClr val="5B6B68"/>
                </a:solidFill>
              </a:rPr>
              <a:t>Low impact, reversible</a:t>
            </a:r>
            <a:endParaRPr lang="en-US" sz="1100" dirty="0"/>
          </a:p>
        </p:txBody>
      </p:sp>
      <p:sp>
        <p:nvSpPr>
          <p:cNvPr id="10" name="Shape 8"/>
          <p:cNvSpPr/>
          <p:nvPr/>
        </p:nvSpPr>
        <p:spPr>
          <a:xfrm>
            <a:off x="685800" y="3182112"/>
            <a:ext cx="10835640" cy="960120"/>
          </a:xfrm>
          <a:prstGeom prst="roundRect">
            <a:avLst>
              <a:gd name="adj" fmla="val 7619"/>
            </a:avLst>
          </a:prstGeom>
          <a:solidFill>
            <a:srgbClr val="FFFFFF"/>
          </a:solidFill>
          <a:ln w="12700">
            <a:solidFill>
              <a:srgbClr val="D5DFDC"/>
            </a:solidFill>
            <a:prstDash val="solid"/>
          </a:ln>
        </p:spPr>
      </p:sp>
      <p:sp>
        <p:nvSpPr>
          <p:cNvPr id="11" name="Shape 9"/>
          <p:cNvSpPr/>
          <p:nvPr/>
        </p:nvSpPr>
        <p:spPr>
          <a:xfrm>
            <a:off x="914400" y="3493008"/>
            <a:ext cx="1600200" cy="310896"/>
          </a:xfrm>
          <a:prstGeom prst="roundRect">
            <a:avLst/>
          </a:prstGeom>
          <a:solidFill>
            <a:srgbClr val="FFF4D6"/>
          </a:solidFill>
          <a:ln w="12700">
            <a:solidFill>
              <a:srgbClr val="FFF4D6"/>
            </a:solidFill>
            <a:prstDash val="solid"/>
          </a:ln>
        </p:spPr>
      </p:sp>
      <p:sp>
        <p:nvSpPr>
          <p:cNvPr id="12" name="Text 10"/>
          <p:cNvSpPr/>
          <p:nvPr/>
        </p:nvSpPr>
        <p:spPr>
          <a:xfrm>
            <a:off x="987552" y="3557016"/>
            <a:ext cx="1453896" cy="164592"/>
          </a:xfrm>
          <a:prstGeom prst="rect">
            <a:avLst/>
          </a:prstGeom>
          <a:noFill/>
          <a:ln/>
        </p:spPr>
        <p:txBody>
          <a:bodyPr wrap="square" lIns="0" tIns="0" rIns="0" bIns="0" rtlCol="0" anchor="ctr">
            <a:normAutofit/>
          </a:bodyPr>
          <a:lstStyle/>
          <a:p>
            <a:pPr algn="ctr" indent="0" marL="0">
              <a:buNone/>
            </a:pPr>
            <a:r>
              <a:rPr lang="en-US" sz="850" b="1" dirty="0">
                <a:solidFill>
                  <a:srgbClr val="A97717"/>
                </a:solidFill>
              </a:rPr>
              <a:t>AGENT MUST ASK</a:t>
            </a:r>
            <a:endParaRPr lang="en-US" sz="850" dirty="0"/>
          </a:p>
        </p:txBody>
      </p:sp>
      <p:sp>
        <p:nvSpPr>
          <p:cNvPr id="13" name="Text 11"/>
          <p:cNvSpPr/>
          <p:nvPr/>
        </p:nvSpPr>
        <p:spPr>
          <a:xfrm>
            <a:off x="2788920" y="3374136"/>
            <a:ext cx="5394960" cy="512064"/>
          </a:xfrm>
          <a:prstGeom prst="rect">
            <a:avLst/>
          </a:prstGeom>
          <a:noFill/>
          <a:ln/>
        </p:spPr>
        <p:txBody>
          <a:bodyPr wrap="square" lIns="0" tIns="0" rIns="0" bIns="0" rtlCol="0" anchor="ctr">
            <a:normAutofit/>
          </a:bodyPr>
          <a:lstStyle/>
          <a:p>
            <a:pPr indent="0" marL="0">
              <a:buNone/>
            </a:pPr>
            <a:r>
              <a:rPr lang="en-US" sz="1300" b="1" dirty="0">
                <a:solidFill>
                  <a:srgbClr val="142925"/>
                </a:solidFill>
              </a:rPr>
              <a:t>Ambiguous routing, missing required context, out-of-scope tool request</a:t>
            </a:r>
            <a:endParaRPr lang="en-US" sz="1300" dirty="0"/>
          </a:p>
        </p:txBody>
      </p:sp>
      <p:sp>
        <p:nvSpPr>
          <p:cNvPr id="14" name="Text 12"/>
          <p:cNvSpPr/>
          <p:nvPr/>
        </p:nvSpPr>
        <p:spPr>
          <a:xfrm>
            <a:off x="8549640" y="3456432"/>
            <a:ext cx="2606040" cy="329184"/>
          </a:xfrm>
          <a:prstGeom prst="rect">
            <a:avLst/>
          </a:prstGeom>
          <a:noFill/>
          <a:ln/>
        </p:spPr>
        <p:txBody>
          <a:bodyPr wrap="square" lIns="0" tIns="0" rIns="0" bIns="0" rtlCol="0" anchor="ctr">
            <a:normAutofit/>
          </a:bodyPr>
          <a:lstStyle/>
          <a:p>
            <a:pPr algn="r" indent="0" marL="0">
              <a:buNone/>
            </a:pPr>
            <a:r>
              <a:rPr lang="en-US" sz="1100" dirty="0">
                <a:solidFill>
                  <a:srgbClr val="5B6B68"/>
                </a:solidFill>
              </a:rPr>
              <a:t>Uncertain or policy-sensitive</a:t>
            </a:r>
            <a:endParaRPr lang="en-US" sz="1100" dirty="0"/>
          </a:p>
        </p:txBody>
      </p:sp>
      <p:sp>
        <p:nvSpPr>
          <p:cNvPr id="15" name="Shape 13"/>
          <p:cNvSpPr/>
          <p:nvPr/>
        </p:nvSpPr>
        <p:spPr>
          <a:xfrm>
            <a:off x="685800" y="4425696"/>
            <a:ext cx="10835640" cy="960120"/>
          </a:xfrm>
          <a:prstGeom prst="roundRect">
            <a:avLst>
              <a:gd name="adj" fmla="val 7619"/>
            </a:avLst>
          </a:prstGeom>
          <a:solidFill>
            <a:srgbClr val="FFFFFF"/>
          </a:solidFill>
          <a:ln w="12700">
            <a:solidFill>
              <a:srgbClr val="D5DFDC"/>
            </a:solidFill>
            <a:prstDash val="solid"/>
          </a:ln>
        </p:spPr>
      </p:sp>
      <p:sp>
        <p:nvSpPr>
          <p:cNvPr id="16" name="Shape 14"/>
          <p:cNvSpPr/>
          <p:nvPr/>
        </p:nvSpPr>
        <p:spPr>
          <a:xfrm>
            <a:off x="914400" y="4736592"/>
            <a:ext cx="1600200" cy="310896"/>
          </a:xfrm>
          <a:prstGeom prst="roundRect">
            <a:avLst/>
          </a:prstGeom>
          <a:solidFill>
            <a:srgbClr val="FCEAE6"/>
          </a:solidFill>
          <a:ln w="12700">
            <a:solidFill>
              <a:srgbClr val="FCEAE6"/>
            </a:solidFill>
            <a:prstDash val="solid"/>
          </a:ln>
        </p:spPr>
      </p:sp>
      <p:sp>
        <p:nvSpPr>
          <p:cNvPr id="17" name="Text 15"/>
          <p:cNvSpPr/>
          <p:nvPr/>
        </p:nvSpPr>
        <p:spPr>
          <a:xfrm>
            <a:off x="987552" y="4800600"/>
            <a:ext cx="1453896" cy="164592"/>
          </a:xfrm>
          <a:prstGeom prst="rect">
            <a:avLst/>
          </a:prstGeom>
          <a:noFill/>
          <a:ln/>
        </p:spPr>
        <p:txBody>
          <a:bodyPr wrap="square" lIns="0" tIns="0" rIns="0" bIns="0" rtlCol="0" anchor="ctr">
            <a:normAutofit/>
          </a:bodyPr>
          <a:lstStyle/>
          <a:p>
            <a:pPr algn="ctr" indent="0" marL="0">
              <a:buNone/>
            </a:pPr>
            <a:r>
              <a:rPr lang="en-US" sz="850" b="1" dirty="0">
                <a:solidFill>
                  <a:srgbClr val="C75345"/>
                </a:solidFill>
              </a:rPr>
              <a:t>CLINICIAN DECIDES</a:t>
            </a:r>
            <a:endParaRPr lang="en-US" sz="850" dirty="0"/>
          </a:p>
        </p:txBody>
      </p:sp>
      <p:sp>
        <p:nvSpPr>
          <p:cNvPr id="18" name="Text 16"/>
          <p:cNvSpPr/>
          <p:nvPr/>
        </p:nvSpPr>
        <p:spPr>
          <a:xfrm>
            <a:off x="2788920" y="4617720"/>
            <a:ext cx="5394960" cy="512064"/>
          </a:xfrm>
          <a:prstGeom prst="rect">
            <a:avLst/>
          </a:prstGeom>
          <a:noFill/>
          <a:ln/>
        </p:spPr>
        <p:txBody>
          <a:bodyPr wrap="square" lIns="0" tIns="0" rIns="0" bIns="0" rtlCol="0" anchor="ctr">
            <a:normAutofit/>
          </a:bodyPr>
          <a:lstStyle/>
          <a:p>
            <a:pPr indent="0" marL="0">
              <a:buNone/>
            </a:pPr>
            <a:r>
              <a:rPr lang="en-US" sz="1300" b="1" dirty="0">
                <a:solidFill>
                  <a:srgbClr val="142925"/>
                </a:solidFill>
              </a:rPr>
              <a:t>Diagnosis, treatment, medication change, high-impact clinical action</a:t>
            </a:r>
            <a:endParaRPr lang="en-US" sz="1300" dirty="0"/>
          </a:p>
        </p:txBody>
      </p:sp>
      <p:sp>
        <p:nvSpPr>
          <p:cNvPr id="19" name="Text 17"/>
          <p:cNvSpPr/>
          <p:nvPr/>
        </p:nvSpPr>
        <p:spPr>
          <a:xfrm>
            <a:off x="8549640" y="4700016"/>
            <a:ext cx="2606040" cy="329184"/>
          </a:xfrm>
          <a:prstGeom prst="rect">
            <a:avLst/>
          </a:prstGeom>
          <a:noFill/>
          <a:ln/>
        </p:spPr>
        <p:txBody>
          <a:bodyPr wrap="square" lIns="0" tIns="0" rIns="0" bIns="0" rtlCol="0" anchor="ctr">
            <a:normAutofit/>
          </a:bodyPr>
          <a:lstStyle/>
          <a:p>
            <a:pPr algn="r" indent="0" marL="0">
              <a:buNone/>
            </a:pPr>
            <a:r>
              <a:rPr lang="en-US" sz="1100" dirty="0">
                <a:solidFill>
                  <a:srgbClr val="5B6B68"/>
                </a:solidFill>
              </a:rPr>
              <a:t>Clinical accountability</a:t>
            </a:r>
            <a:endParaRPr lang="en-US" sz="1100" dirty="0"/>
          </a:p>
        </p:txBody>
      </p:sp>
      <p:sp>
        <p:nvSpPr>
          <p:cNvPr id="20" name="Shape 18"/>
          <p:cNvSpPr/>
          <p:nvPr/>
        </p:nvSpPr>
        <p:spPr>
          <a:xfrm>
            <a:off x="1325880" y="5815584"/>
            <a:ext cx="9326880" cy="530352"/>
          </a:xfrm>
          <a:prstGeom prst="roundRect">
            <a:avLst>
              <a:gd name="adj" fmla="val 13793"/>
            </a:avLst>
          </a:prstGeom>
          <a:solidFill>
            <a:srgbClr val="142925"/>
          </a:solidFill>
          <a:ln w="12700">
            <a:solidFill>
              <a:srgbClr val="142925"/>
            </a:solidFill>
            <a:prstDash val="solid"/>
          </a:ln>
        </p:spPr>
      </p:sp>
      <p:sp>
        <p:nvSpPr>
          <p:cNvPr id="21" name="Text 19"/>
          <p:cNvSpPr/>
          <p:nvPr/>
        </p:nvSpPr>
        <p:spPr>
          <a:xfrm>
            <a:off x="1600200" y="6016752"/>
            <a:ext cx="8778240" cy="128016"/>
          </a:xfrm>
          <a:prstGeom prst="rect">
            <a:avLst/>
          </a:prstGeom>
          <a:noFill/>
          <a:ln/>
        </p:spPr>
        <p:txBody>
          <a:bodyPr wrap="square" lIns="0" tIns="0" rIns="0" bIns="0" rtlCol="0" anchor="ctr">
            <a:normAutofit/>
          </a:bodyPr>
          <a:lstStyle/>
          <a:p>
            <a:pPr indent="0" marL="0">
              <a:buNone/>
            </a:pPr>
            <a:r>
              <a:rPr lang="en-US" sz="1400" b="1" dirty="0">
                <a:solidFill>
                  <a:srgbClr val="FFFFFF"/>
                </a:solidFill>
              </a:rPr>
              <a:t>Good governance is not less autonomy everywhere. It is the right autonomy at the right step.</a:t>
            </a:r>
            <a:endParaRPr lang="en-US" sz="1400" dirty="0"/>
          </a:p>
        </p:txBody>
      </p:sp>
      <p:sp>
        <p:nvSpPr>
          <p:cNvPr id="25" name="Slide Number Placeholder 0"/>
          <p:cNvSpPr>
            <a:spLocks noGrp="1"/>
          </p:cNvSpPr>
          <p:nvPr>
            <p:ph type="sldNum" sz="quarter" idx="4294967295"/>
          </p:nvPr>
        </p:nvSpPr>
        <p:spPr>
          <a:xfrm>
            <a:off x="11704320" y="6565392"/>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7A8986"/>
                </a:solidFill>
                <a:latin typeface="Noto Sans"/>
                <a:ea typeface="Noto Sans"/>
                <a:cs typeface="Noto Sans"/>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94360" y="502920"/>
            <a:ext cx="4389120" cy="219456"/>
          </a:xfrm>
          <a:prstGeom prst="rect">
            <a:avLst/>
          </a:prstGeom>
          <a:noFill/>
          <a:ln/>
        </p:spPr>
        <p:txBody>
          <a:bodyPr wrap="square" lIns="0" tIns="0" rIns="0" bIns="0" rtlCol="0" anchor="ctr"/>
          <a:lstStyle/>
          <a:p>
            <a:pPr indent="0" marL="0">
              <a:buNone/>
            </a:pPr>
            <a:r>
              <a:rPr lang="en-US" sz="900" b="1" spc="120" kern="0" dirty="0">
                <a:solidFill>
                  <a:srgbClr val="0F766E"/>
                </a:solidFill>
              </a:rPr>
              <a:t>FROM PROTOTYPE TO PRODUCTION</a:t>
            </a:r>
            <a:endParaRPr lang="en-US" sz="900" dirty="0"/>
          </a:p>
        </p:txBody>
      </p:sp>
      <p:sp>
        <p:nvSpPr>
          <p:cNvPr id="3" name="Text 1"/>
          <p:cNvSpPr/>
          <p:nvPr/>
        </p:nvSpPr>
        <p:spPr>
          <a:xfrm>
            <a:off x="594360" y="786384"/>
            <a:ext cx="10972800" cy="566928"/>
          </a:xfrm>
          <a:prstGeom prst="rect">
            <a:avLst/>
          </a:prstGeom>
          <a:noFill/>
          <a:ln/>
        </p:spPr>
        <p:txBody>
          <a:bodyPr wrap="square" lIns="0" tIns="0" rIns="0" bIns="0" rtlCol="0" anchor="ctr">
            <a:normAutofit/>
          </a:bodyPr>
          <a:lstStyle/>
          <a:p>
            <a:pPr indent="0" marL="0">
              <a:buNone/>
            </a:pPr>
            <a:r>
              <a:rPr lang="en-US" sz="2600" b="1" dirty="0">
                <a:solidFill>
                  <a:srgbClr val="142925"/>
                </a:solidFill>
              </a:rPr>
              <a:t>The real work starts after the demo</a:t>
            </a:r>
            <a:endParaRPr lang="en-US" sz="2600" dirty="0"/>
          </a:p>
        </p:txBody>
      </p:sp>
      <p:sp>
        <p:nvSpPr>
          <p:cNvPr id="4" name="Text 2"/>
          <p:cNvSpPr/>
          <p:nvPr/>
        </p:nvSpPr>
        <p:spPr>
          <a:xfrm>
            <a:off x="594360" y="1353312"/>
            <a:ext cx="10698480" cy="411480"/>
          </a:xfrm>
          <a:prstGeom prst="rect">
            <a:avLst/>
          </a:prstGeom>
          <a:noFill/>
          <a:ln/>
        </p:spPr>
        <p:txBody>
          <a:bodyPr wrap="square" lIns="0" tIns="0" rIns="0" bIns="0" rtlCol="0" anchor="ctr">
            <a:normAutofit/>
          </a:bodyPr>
          <a:lstStyle/>
          <a:p>
            <a:pPr indent="0" marL="0">
              <a:buNone/>
            </a:pPr>
            <a:r>
              <a:rPr lang="en-US" sz="1300" dirty="0">
                <a:solidFill>
                  <a:srgbClr val="5B6B68"/>
                </a:solidFill>
              </a:rPr>
              <a:t>Day 1 proves possibility. Day 3 and Day 4 build operational trust.</a:t>
            </a:r>
            <a:endParaRPr lang="en-US" sz="1300" dirty="0"/>
          </a:p>
        </p:txBody>
      </p:sp>
      <p:sp>
        <p:nvSpPr>
          <p:cNvPr id="5" name="Shape 3"/>
          <p:cNvSpPr/>
          <p:nvPr/>
        </p:nvSpPr>
        <p:spPr>
          <a:xfrm>
            <a:off x="640080" y="1965960"/>
            <a:ext cx="2578608" cy="2331720"/>
          </a:xfrm>
          <a:prstGeom prst="roundRect">
            <a:avLst>
              <a:gd name="adj" fmla="val 3137"/>
            </a:avLst>
          </a:prstGeom>
          <a:solidFill>
            <a:srgbClr val="FFFFFF"/>
          </a:solidFill>
          <a:ln w="12700">
            <a:solidFill>
              <a:srgbClr val="D5DFDC"/>
            </a:solidFill>
            <a:prstDash val="solid"/>
          </a:ln>
          <a:effectLst>
            <a:outerShdw sx="100000" sy="100000" kx="0" ky="0" algn="bl" rotWithShape="0" blurRad="19050" dist="50800" dir="2700000">
              <a:srgbClr val="B6C4C0">
                <a:alpha val="15000"/>
              </a:srgbClr>
            </a:outerShdw>
          </a:effectLst>
        </p:spPr>
      </p:sp>
      <p:sp>
        <p:nvSpPr>
          <p:cNvPr id="6" name="Text 4"/>
          <p:cNvSpPr/>
          <p:nvPr/>
        </p:nvSpPr>
        <p:spPr>
          <a:xfrm>
            <a:off x="841248" y="2185416"/>
            <a:ext cx="411480" cy="320040"/>
          </a:xfrm>
          <a:prstGeom prst="rect">
            <a:avLst/>
          </a:prstGeom>
          <a:noFill/>
          <a:ln/>
        </p:spPr>
        <p:txBody>
          <a:bodyPr wrap="square" lIns="0" tIns="0" rIns="0" bIns="0" rtlCol="0" anchor="ctr"/>
          <a:lstStyle/>
          <a:p>
            <a:pPr indent="0" marL="0">
              <a:buNone/>
            </a:pPr>
            <a:r>
              <a:rPr lang="en-US" sz="1800" b="1" dirty="0">
                <a:solidFill>
                  <a:srgbClr val="5B6B68"/>
                </a:solidFill>
              </a:rPr>
              <a:t>1</a:t>
            </a:r>
            <a:endParaRPr lang="en-US" sz="1800" dirty="0"/>
          </a:p>
        </p:txBody>
      </p:sp>
      <p:sp>
        <p:nvSpPr>
          <p:cNvPr id="7" name="Text 5"/>
          <p:cNvSpPr/>
          <p:nvPr/>
        </p:nvSpPr>
        <p:spPr>
          <a:xfrm>
            <a:off x="841248" y="2770632"/>
            <a:ext cx="2121408" cy="347472"/>
          </a:xfrm>
          <a:prstGeom prst="rect">
            <a:avLst/>
          </a:prstGeom>
          <a:noFill/>
          <a:ln/>
        </p:spPr>
        <p:txBody>
          <a:bodyPr wrap="square" lIns="0" tIns="0" rIns="0" bIns="0" rtlCol="0" anchor="ctr">
            <a:normAutofit/>
          </a:bodyPr>
          <a:lstStyle/>
          <a:p>
            <a:pPr indent="0" marL="0">
              <a:buNone/>
            </a:pPr>
            <a:r>
              <a:rPr lang="en-US" sz="1200" b="1" dirty="0">
                <a:solidFill>
                  <a:srgbClr val="142925"/>
                </a:solidFill>
              </a:rPr>
              <a:t>DEMO WORKS</a:t>
            </a:r>
            <a:endParaRPr lang="en-US" sz="1200" dirty="0"/>
          </a:p>
        </p:txBody>
      </p:sp>
      <p:sp>
        <p:nvSpPr>
          <p:cNvPr id="8" name="Text 6"/>
          <p:cNvSpPr/>
          <p:nvPr/>
        </p:nvSpPr>
        <p:spPr>
          <a:xfrm>
            <a:off x="841248" y="3319272"/>
            <a:ext cx="2121408" cy="594360"/>
          </a:xfrm>
          <a:prstGeom prst="rect">
            <a:avLst/>
          </a:prstGeom>
          <a:noFill/>
          <a:ln/>
        </p:spPr>
        <p:txBody>
          <a:bodyPr wrap="square" lIns="0" tIns="0" rIns="0" bIns="0" rtlCol="0" anchor="ctr">
            <a:normAutofit/>
          </a:bodyPr>
          <a:lstStyle/>
          <a:p>
            <a:pPr indent="0" marL="0">
              <a:buNone/>
            </a:pPr>
            <a:r>
              <a:rPr lang="en-US" sz="1150" dirty="0">
                <a:solidFill>
                  <a:srgbClr val="5B6B68"/>
                </a:solidFill>
              </a:rPr>
              <a:t>Agents answer. Tools connect.</a:t>
            </a:r>
            <a:endParaRPr lang="en-US" sz="1150" dirty="0"/>
          </a:p>
        </p:txBody>
      </p:sp>
      <p:sp>
        <p:nvSpPr>
          <p:cNvPr id="9" name="Shape 7"/>
          <p:cNvSpPr/>
          <p:nvPr/>
        </p:nvSpPr>
        <p:spPr>
          <a:xfrm>
            <a:off x="3456432" y="2377440"/>
            <a:ext cx="2578608" cy="2331720"/>
          </a:xfrm>
          <a:prstGeom prst="roundRect">
            <a:avLst>
              <a:gd name="adj" fmla="val 3137"/>
            </a:avLst>
          </a:prstGeom>
          <a:solidFill>
            <a:srgbClr val="FFFFFF"/>
          </a:solidFill>
          <a:ln w="12700">
            <a:solidFill>
              <a:srgbClr val="D5DFDC"/>
            </a:solidFill>
            <a:prstDash val="solid"/>
          </a:ln>
          <a:effectLst>
            <a:outerShdw sx="100000" sy="100000" kx="0" ky="0" algn="bl" rotWithShape="0" blurRad="19050" dist="50800" dir="2700000">
              <a:srgbClr val="B6C4C0">
                <a:alpha val="15000"/>
              </a:srgbClr>
            </a:outerShdw>
          </a:effectLst>
        </p:spPr>
      </p:sp>
      <p:sp>
        <p:nvSpPr>
          <p:cNvPr id="10" name="Text 8"/>
          <p:cNvSpPr/>
          <p:nvPr/>
        </p:nvSpPr>
        <p:spPr>
          <a:xfrm>
            <a:off x="3657600" y="2596896"/>
            <a:ext cx="411480" cy="320040"/>
          </a:xfrm>
          <a:prstGeom prst="rect">
            <a:avLst/>
          </a:prstGeom>
          <a:noFill/>
          <a:ln/>
        </p:spPr>
        <p:txBody>
          <a:bodyPr wrap="square" lIns="0" tIns="0" rIns="0" bIns="0" rtlCol="0" anchor="ctr"/>
          <a:lstStyle/>
          <a:p>
            <a:pPr indent="0" marL="0">
              <a:buNone/>
            </a:pPr>
            <a:r>
              <a:rPr lang="en-US" sz="1800" b="1" dirty="0">
                <a:solidFill>
                  <a:srgbClr val="5B6B68"/>
                </a:solidFill>
              </a:rPr>
              <a:t>2</a:t>
            </a:r>
            <a:endParaRPr lang="en-US" sz="1800" dirty="0"/>
          </a:p>
        </p:txBody>
      </p:sp>
      <p:sp>
        <p:nvSpPr>
          <p:cNvPr id="11" name="Text 9"/>
          <p:cNvSpPr/>
          <p:nvPr/>
        </p:nvSpPr>
        <p:spPr>
          <a:xfrm>
            <a:off x="3657600" y="3182112"/>
            <a:ext cx="2121408" cy="347472"/>
          </a:xfrm>
          <a:prstGeom prst="rect">
            <a:avLst/>
          </a:prstGeom>
          <a:noFill/>
          <a:ln/>
        </p:spPr>
        <p:txBody>
          <a:bodyPr wrap="square" lIns="0" tIns="0" rIns="0" bIns="0" rtlCol="0" anchor="ctr">
            <a:normAutofit/>
          </a:bodyPr>
          <a:lstStyle/>
          <a:p>
            <a:pPr indent="0" marL="0">
              <a:buNone/>
            </a:pPr>
            <a:r>
              <a:rPr lang="en-US" sz="1200" b="1" dirty="0">
                <a:solidFill>
                  <a:srgbClr val="142925"/>
                </a:solidFill>
              </a:rPr>
              <a:t>WORKFLOW IS TESTABLE</a:t>
            </a:r>
            <a:endParaRPr lang="en-US" sz="1200" dirty="0"/>
          </a:p>
        </p:txBody>
      </p:sp>
      <p:sp>
        <p:nvSpPr>
          <p:cNvPr id="12" name="Text 10"/>
          <p:cNvSpPr/>
          <p:nvPr/>
        </p:nvSpPr>
        <p:spPr>
          <a:xfrm>
            <a:off x="3657600" y="3730752"/>
            <a:ext cx="2121408" cy="594360"/>
          </a:xfrm>
          <a:prstGeom prst="rect">
            <a:avLst/>
          </a:prstGeom>
          <a:noFill/>
          <a:ln/>
        </p:spPr>
        <p:txBody>
          <a:bodyPr wrap="square" lIns="0" tIns="0" rIns="0" bIns="0" rtlCol="0" anchor="ctr">
            <a:normAutofit/>
          </a:bodyPr>
          <a:lstStyle/>
          <a:p>
            <a:pPr indent="0" marL="0">
              <a:buNone/>
            </a:pPr>
            <a:r>
              <a:rPr lang="en-US" sz="1150" dirty="0">
                <a:solidFill>
                  <a:srgbClr val="5B6B68"/>
                </a:solidFill>
              </a:rPr>
              <a:t>Expected paths and checkpoints are defined.</a:t>
            </a:r>
            <a:endParaRPr lang="en-US" sz="1150" dirty="0"/>
          </a:p>
        </p:txBody>
      </p:sp>
      <p:sp>
        <p:nvSpPr>
          <p:cNvPr id="13" name="Shape 11"/>
          <p:cNvSpPr/>
          <p:nvPr/>
        </p:nvSpPr>
        <p:spPr>
          <a:xfrm>
            <a:off x="6272784" y="2788920"/>
            <a:ext cx="2578608" cy="2331720"/>
          </a:xfrm>
          <a:prstGeom prst="roundRect">
            <a:avLst>
              <a:gd name="adj" fmla="val 3137"/>
            </a:avLst>
          </a:prstGeom>
          <a:solidFill>
            <a:srgbClr val="FFFFFF"/>
          </a:solidFill>
          <a:ln w="12700">
            <a:solidFill>
              <a:srgbClr val="D5DFDC"/>
            </a:solidFill>
            <a:prstDash val="solid"/>
          </a:ln>
          <a:effectLst>
            <a:outerShdw sx="100000" sy="100000" kx="0" ky="0" algn="bl" rotWithShape="0" blurRad="19050" dist="50800" dir="2700000">
              <a:srgbClr val="B6C4C0">
                <a:alpha val="15000"/>
              </a:srgbClr>
            </a:outerShdw>
          </a:effectLst>
        </p:spPr>
      </p:sp>
      <p:sp>
        <p:nvSpPr>
          <p:cNvPr id="14" name="Text 12"/>
          <p:cNvSpPr/>
          <p:nvPr/>
        </p:nvSpPr>
        <p:spPr>
          <a:xfrm>
            <a:off x="6473952" y="3008376"/>
            <a:ext cx="411480" cy="320040"/>
          </a:xfrm>
          <a:prstGeom prst="rect">
            <a:avLst/>
          </a:prstGeom>
          <a:noFill/>
          <a:ln/>
        </p:spPr>
        <p:txBody>
          <a:bodyPr wrap="square" lIns="0" tIns="0" rIns="0" bIns="0" rtlCol="0" anchor="ctr"/>
          <a:lstStyle/>
          <a:p>
            <a:pPr indent="0" marL="0">
              <a:buNone/>
            </a:pPr>
            <a:r>
              <a:rPr lang="en-US" sz="1800" b="1" dirty="0">
                <a:solidFill>
                  <a:srgbClr val="5B6B68"/>
                </a:solidFill>
              </a:rPr>
              <a:t>3</a:t>
            </a:r>
            <a:endParaRPr lang="en-US" sz="1800" dirty="0"/>
          </a:p>
        </p:txBody>
      </p:sp>
      <p:sp>
        <p:nvSpPr>
          <p:cNvPr id="15" name="Text 13"/>
          <p:cNvSpPr/>
          <p:nvPr/>
        </p:nvSpPr>
        <p:spPr>
          <a:xfrm>
            <a:off x="6473952" y="3593592"/>
            <a:ext cx="2121408" cy="347472"/>
          </a:xfrm>
          <a:prstGeom prst="rect">
            <a:avLst/>
          </a:prstGeom>
          <a:noFill/>
          <a:ln/>
        </p:spPr>
        <p:txBody>
          <a:bodyPr wrap="square" lIns="0" tIns="0" rIns="0" bIns="0" rtlCol="0" anchor="ctr">
            <a:normAutofit/>
          </a:bodyPr>
          <a:lstStyle/>
          <a:p>
            <a:pPr indent="0" marL="0">
              <a:buNone/>
            </a:pPr>
            <a:r>
              <a:rPr lang="en-US" sz="1200" b="1" dirty="0">
                <a:solidFill>
                  <a:srgbClr val="142925"/>
                </a:solidFill>
              </a:rPr>
              <a:t>WORKFLOW IS GOVERNABLE</a:t>
            </a:r>
            <a:endParaRPr lang="en-US" sz="1200" dirty="0"/>
          </a:p>
        </p:txBody>
      </p:sp>
      <p:sp>
        <p:nvSpPr>
          <p:cNvPr id="16" name="Text 14"/>
          <p:cNvSpPr/>
          <p:nvPr/>
        </p:nvSpPr>
        <p:spPr>
          <a:xfrm>
            <a:off x="6473952" y="4142232"/>
            <a:ext cx="2121408" cy="594360"/>
          </a:xfrm>
          <a:prstGeom prst="rect">
            <a:avLst/>
          </a:prstGeom>
          <a:noFill/>
          <a:ln/>
        </p:spPr>
        <p:txBody>
          <a:bodyPr wrap="square" lIns="0" tIns="0" rIns="0" bIns="0" rtlCol="0" anchor="ctr">
            <a:normAutofit/>
          </a:bodyPr>
          <a:lstStyle/>
          <a:p>
            <a:pPr indent="0" marL="0">
              <a:buNone/>
            </a:pPr>
            <a:r>
              <a:rPr lang="en-US" sz="1150" dirty="0">
                <a:solidFill>
                  <a:srgbClr val="5B6B68"/>
                </a:solidFill>
              </a:rPr>
              <a:t>Access, approval, traceability, and boundaries are explicit.</a:t>
            </a:r>
            <a:endParaRPr lang="en-US" sz="1150" dirty="0"/>
          </a:p>
        </p:txBody>
      </p:sp>
      <p:sp>
        <p:nvSpPr>
          <p:cNvPr id="17" name="Shape 15"/>
          <p:cNvSpPr/>
          <p:nvPr/>
        </p:nvSpPr>
        <p:spPr>
          <a:xfrm>
            <a:off x="9089136" y="3200400"/>
            <a:ext cx="2578608" cy="2331720"/>
          </a:xfrm>
          <a:prstGeom prst="roundRect">
            <a:avLst>
              <a:gd name="adj" fmla="val 3137"/>
            </a:avLst>
          </a:prstGeom>
          <a:solidFill>
            <a:srgbClr val="DDF3EE"/>
          </a:solidFill>
          <a:ln w="12700">
            <a:solidFill>
              <a:srgbClr val="A9D5CA"/>
            </a:solidFill>
            <a:prstDash val="solid"/>
          </a:ln>
          <a:effectLst>
            <a:outerShdw sx="100000" sy="100000" kx="0" ky="0" algn="bl" rotWithShape="0" blurRad="19050" dist="50800" dir="2700000">
              <a:srgbClr val="B6C4C0">
                <a:alpha val="15000"/>
              </a:srgbClr>
            </a:outerShdw>
          </a:effectLst>
        </p:spPr>
      </p:sp>
      <p:sp>
        <p:nvSpPr>
          <p:cNvPr id="18" name="Text 16"/>
          <p:cNvSpPr/>
          <p:nvPr/>
        </p:nvSpPr>
        <p:spPr>
          <a:xfrm>
            <a:off x="9290304" y="3419856"/>
            <a:ext cx="411480" cy="320040"/>
          </a:xfrm>
          <a:prstGeom prst="rect">
            <a:avLst/>
          </a:prstGeom>
          <a:noFill/>
          <a:ln/>
        </p:spPr>
        <p:txBody>
          <a:bodyPr wrap="square" lIns="0" tIns="0" rIns="0" bIns="0" rtlCol="0" anchor="ctr"/>
          <a:lstStyle/>
          <a:p>
            <a:pPr indent="0" marL="0">
              <a:buNone/>
            </a:pPr>
            <a:r>
              <a:rPr lang="en-US" sz="1800" b="1" dirty="0">
                <a:solidFill>
                  <a:srgbClr val="0F766E"/>
                </a:solidFill>
              </a:rPr>
              <a:t>4</a:t>
            </a:r>
            <a:endParaRPr lang="en-US" sz="1800" dirty="0"/>
          </a:p>
        </p:txBody>
      </p:sp>
      <p:sp>
        <p:nvSpPr>
          <p:cNvPr id="19" name="Text 17"/>
          <p:cNvSpPr/>
          <p:nvPr/>
        </p:nvSpPr>
        <p:spPr>
          <a:xfrm>
            <a:off x="9290304" y="4005072"/>
            <a:ext cx="2121408" cy="347472"/>
          </a:xfrm>
          <a:prstGeom prst="rect">
            <a:avLst/>
          </a:prstGeom>
          <a:noFill/>
          <a:ln/>
        </p:spPr>
        <p:txBody>
          <a:bodyPr wrap="square" lIns="0" tIns="0" rIns="0" bIns="0" rtlCol="0" anchor="ctr">
            <a:normAutofit/>
          </a:bodyPr>
          <a:lstStyle/>
          <a:p>
            <a:pPr indent="0" marL="0">
              <a:buNone/>
            </a:pPr>
            <a:r>
              <a:rPr lang="en-US" sz="1200" b="1" dirty="0">
                <a:solidFill>
                  <a:srgbClr val="142925"/>
                </a:solidFill>
              </a:rPr>
              <a:t>WORKFLOW IMPROVES</a:t>
            </a:r>
            <a:endParaRPr lang="en-US" sz="1200" dirty="0"/>
          </a:p>
        </p:txBody>
      </p:sp>
      <p:sp>
        <p:nvSpPr>
          <p:cNvPr id="20" name="Text 18"/>
          <p:cNvSpPr/>
          <p:nvPr/>
        </p:nvSpPr>
        <p:spPr>
          <a:xfrm>
            <a:off x="9290304" y="4553712"/>
            <a:ext cx="2121408" cy="594360"/>
          </a:xfrm>
          <a:prstGeom prst="rect">
            <a:avLst/>
          </a:prstGeom>
          <a:noFill/>
          <a:ln/>
        </p:spPr>
        <p:txBody>
          <a:bodyPr wrap="square" lIns="0" tIns="0" rIns="0" bIns="0" rtlCol="0" anchor="ctr">
            <a:normAutofit/>
          </a:bodyPr>
          <a:lstStyle/>
          <a:p>
            <a:pPr indent="0" marL="0">
              <a:buNone/>
            </a:pPr>
            <a:r>
              <a:rPr lang="en-US" sz="1150" dirty="0">
                <a:solidFill>
                  <a:srgbClr val="5B6B68"/>
                </a:solidFill>
              </a:rPr>
              <a:t>Monitoring and regression testing run after every change.</a:t>
            </a:r>
            <a:endParaRPr lang="en-US" sz="1150" dirty="0"/>
          </a:p>
        </p:txBody>
      </p:sp>
      <p:sp>
        <p:nvSpPr>
          <p:cNvPr id="21" name="Shape 19"/>
          <p:cNvSpPr/>
          <p:nvPr/>
        </p:nvSpPr>
        <p:spPr>
          <a:xfrm>
            <a:off x="1097280" y="5715000"/>
            <a:ext cx="9966960" cy="566928"/>
          </a:xfrm>
          <a:prstGeom prst="roundRect">
            <a:avLst>
              <a:gd name="adj" fmla="val 12903"/>
            </a:avLst>
          </a:prstGeom>
          <a:solidFill>
            <a:srgbClr val="142925"/>
          </a:solidFill>
          <a:ln w="12700">
            <a:solidFill>
              <a:srgbClr val="142925"/>
            </a:solidFill>
            <a:prstDash val="solid"/>
          </a:ln>
        </p:spPr>
      </p:sp>
      <p:sp>
        <p:nvSpPr>
          <p:cNvPr id="22" name="Text 20"/>
          <p:cNvSpPr/>
          <p:nvPr/>
        </p:nvSpPr>
        <p:spPr>
          <a:xfrm>
            <a:off x="1371600" y="5916168"/>
            <a:ext cx="9418320" cy="164592"/>
          </a:xfrm>
          <a:prstGeom prst="rect">
            <a:avLst/>
          </a:prstGeom>
          <a:noFill/>
          <a:ln/>
        </p:spPr>
        <p:txBody>
          <a:bodyPr wrap="square" lIns="0" tIns="0" rIns="0" bIns="0" rtlCol="0" anchor="ctr">
            <a:normAutofit/>
          </a:bodyPr>
          <a:lstStyle/>
          <a:p>
            <a:pPr indent="0" marL="0">
              <a:buNone/>
            </a:pPr>
            <a:r>
              <a:rPr lang="en-US" sz="1400" b="1" dirty="0">
                <a:solidFill>
                  <a:srgbClr val="FFFFFF"/>
                </a:solidFill>
              </a:rPr>
              <a:t>Production readiness means we can prove the workflow behaved safely, not merely that the model produced a plausible response.</a:t>
            </a:r>
            <a:endParaRPr lang="en-US" sz="1400" dirty="0"/>
          </a:p>
        </p:txBody>
      </p:sp>
      <p:sp>
        <p:nvSpPr>
          <p:cNvPr id="25" name="Slide Number Placeholder 0"/>
          <p:cNvSpPr>
            <a:spLocks noGrp="1"/>
          </p:cNvSpPr>
          <p:nvPr>
            <p:ph type="sldNum" sz="quarter" idx="4294967295"/>
          </p:nvPr>
        </p:nvSpPr>
        <p:spPr>
          <a:xfrm>
            <a:off x="11704320" y="6565392"/>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7A8986"/>
                </a:solidFill>
                <a:latin typeface="Noto Sans"/>
                <a:ea typeface="Noto Sans"/>
                <a:cs typeface="Noto Sans"/>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94360" y="502920"/>
            <a:ext cx="4389120" cy="219456"/>
          </a:xfrm>
          <a:prstGeom prst="rect">
            <a:avLst/>
          </a:prstGeom>
          <a:noFill/>
          <a:ln/>
        </p:spPr>
        <p:txBody>
          <a:bodyPr wrap="square" lIns="0" tIns="0" rIns="0" bIns="0" rtlCol="0" anchor="ctr"/>
          <a:lstStyle/>
          <a:p>
            <a:pPr indent="0" marL="0">
              <a:buNone/>
            </a:pPr>
            <a:r>
              <a:rPr lang="en-US" sz="900" b="1" spc="120" kern="0" dirty="0">
                <a:solidFill>
                  <a:srgbClr val="0F766E"/>
                </a:solidFill>
              </a:rPr>
              <a:t>CLOSE</a:t>
            </a:r>
            <a:endParaRPr lang="en-US" sz="900" dirty="0"/>
          </a:p>
        </p:txBody>
      </p:sp>
      <p:sp>
        <p:nvSpPr>
          <p:cNvPr id="3" name="Text 1"/>
          <p:cNvSpPr/>
          <p:nvPr/>
        </p:nvSpPr>
        <p:spPr>
          <a:xfrm>
            <a:off x="594360" y="786384"/>
            <a:ext cx="10972800" cy="566928"/>
          </a:xfrm>
          <a:prstGeom prst="rect">
            <a:avLst/>
          </a:prstGeom>
          <a:noFill/>
          <a:ln/>
        </p:spPr>
        <p:txBody>
          <a:bodyPr wrap="square" lIns="0" tIns="0" rIns="0" bIns="0" rtlCol="0" anchor="ctr">
            <a:normAutofit/>
          </a:bodyPr>
          <a:lstStyle/>
          <a:p>
            <a:pPr indent="0" marL="0">
              <a:buNone/>
            </a:pPr>
            <a:r>
              <a:rPr lang="en-US" sz="2600" b="1" dirty="0">
                <a:solidFill>
                  <a:srgbClr val="142925"/>
                </a:solidFill>
              </a:rPr>
              <a:t>One takeaway</a:t>
            </a:r>
            <a:endParaRPr lang="en-US" sz="2600" dirty="0"/>
          </a:p>
        </p:txBody>
      </p:sp>
      <p:sp>
        <p:nvSpPr>
          <p:cNvPr id="4" name="Shape 2"/>
          <p:cNvSpPr/>
          <p:nvPr/>
        </p:nvSpPr>
        <p:spPr>
          <a:xfrm>
            <a:off x="868680" y="1572768"/>
            <a:ext cx="10469880" cy="1828800"/>
          </a:xfrm>
          <a:prstGeom prst="roundRect">
            <a:avLst>
              <a:gd name="adj" fmla="val 4000"/>
            </a:avLst>
          </a:prstGeom>
          <a:solidFill>
            <a:srgbClr val="DDF3EE"/>
          </a:solidFill>
          <a:ln w="12700">
            <a:solidFill>
              <a:srgbClr val="DDF3EE"/>
            </a:solidFill>
            <a:prstDash val="solid"/>
          </a:ln>
        </p:spPr>
      </p:sp>
      <p:sp>
        <p:nvSpPr>
          <p:cNvPr id="5" name="Text 3"/>
          <p:cNvSpPr/>
          <p:nvPr/>
        </p:nvSpPr>
        <p:spPr>
          <a:xfrm>
            <a:off x="1143000" y="1773936"/>
            <a:ext cx="9921240" cy="1426464"/>
          </a:xfrm>
          <a:prstGeom prst="rect">
            <a:avLst/>
          </a:prstGeom>
          <a:noFill/>
          <a:ln/>
        </p:spPr>
        <p:txBody>
          <a:bodyPr wrap="square" lIns="0" tIns="0" rIns="0" bIns="0" rtlCol="0" anchor="ctr">
            <a:normAutofit/>
          </a:bodyPr>
          <a:lstStyle/>
          <a:p>
            <a:pPr indent="0" marL="0">
              <a:buNone/>
            </a:pPr>
            <a:r>
              <a:rPr lang="en-US" sz="2200" b="1" dirty="0">
                <a:solidFill>
                  <a:srgbClr val="142925"/>
                </a:solidFill>
              </a:rPr>
              <a:t>A healthcare agent becomes useful when it connects fragmented patient information into a longitudinal view, identifies what needs attention, and supports the right next action with clear human oversight.</a:t>
            </a:r>
            <a:endParaRPr lang="en-US" sz="2200" dirty="0"/>
          </a:p>
        </p:txBody>
      </p:sp>
      <p:sp>
        <p:nvSpPr>
          <p:cNvPr id="6" name="Shape 4"/>
          <p:cNvSpPr/>
          <p:nvPr/>
        </p:nvSpPr>
        <p:spPr>
          <a:xfrm>
            <a:off x="914400" y="3886200"/>
            <a:ext cx="3154680" cy="1234440"/>
          </a:xfrm>
          <a:prstGeom prst="roundRect">
            <a:avLst>
              <a:gd name="adj" fmla="val 5926"/>
            </a:avLst>
          </a:prstGeom>
          <a:solidFill>
            <a:srgbClr val="FFFFFF"/>
          </a:solidFill>
          <a:ln w="12700">
            <a:solidFill>
              <a:srgbClr val="D5DFDC"/>
            </a:solidFill>
            <a:prstDash val="solid"/>
          </a:ln>
        </p:spPr>
      </p:sp>
      <p:sp>
        <p:nvSpPr>
          <p:cNvPr id="7" name="Text 5"/>
          <p:cNvSpPr/>
          <p:nvPr/>
        </p:nvSpPr>
        <p:spPr>
          <a:xfrm>
            <a:off x="1133856" y="4133088"/>
            <a:ext cx="960120" cy="228600"/>
          </a:xfrm>
          <a:prstGeom prst="rect">
            <a:avLst/>
          </a:prstGeom>
          <a:noFill/>
          <a:ln/>
        </p:spPr>
        <p:txBody>
          <a:bodyPr wrap="square" lIns="0" tIns="0" rIns="0" bIns="0" rtlCol="0" anchor="ctr"/>
          <a:lstStyle/>
          <a:p>
            <a:pPr indent="0" marL="0">
              <a:buNone/>
            </a:pPr>
            <a:r>
              <a:rPr lang="en-US" sz="1100" b="1" spc="100" kern="0" dirty="0">
                <a:solidFill>
                  <a:srgbClr val="0F766E"/>
                </a:solidFill>
              </a:rPr>
              <a:t>DESIGN</a:t>
            </a:r>
            <a:endParaRPr lang="en-US" sz="1100" dirty="0"/>
          </a:p>
        </p:txBody>
      </p:sp>
      <p:sp>
        <p:nvSpPr>
          <p:cNvPr id="8" name="Text 6"/>
          <p:cNvSpPr/>
          <p:nvPr/>
        </p:nvSpPr>
        <p:spPr>
          <a:xfrm>
            <a:off x="1133856" y="4498848"/>
            <a:ext cx="2697480" cy="411480"/>
          </a:xfrm>
          <a:prstGeom prst="rect">
            <a:avLst/>
          </a:prstGeom>
          <a:noFill/>
          <a:ln/>
        </p:spPr>
        <p:txBody>
          <a:bodyPr wrap="square" lIns="0" tIns="0" rIns="0" bIns="0" rtlCol="0" anchor="ctr">
            <a:normAutofit/>
          </a:bodyPr>
          <a:lstStyle/>
          <a:p>
            <a:pPr indent="0" marL="0">
              <a:buNone/>
            </a:pPr>
            <a:r>
              <a:rPr lang="en-US" sz="1080" dirty="0">
                <a:solidFill>
                  <a:srgbClr val="142925"/>
                </a:solidFill>
              </a:rPr>
              <a:t>Start with the care process and expected outcome.</a:t>
            </a:r>
            <a:endParaRPr lang="en-US" sz="1080" dirty="0"/>
          </a:p>
        </p:txBody>
      </p:sp>
      <p:sp>
        <p:nvSpPr>
          <p:cNvPr id="9" name="Shape 7"/>
          <p:cNvSpPr/>
          <p:nvPr/>
        </p:nvSpPr>
        <p:spPr>
          <a:xfrm>
            <a:off x="4572000" y="3886200"/>
            <a:ext cx="3154680" cy="1234440"/>
          </a:xfrm>
          <a:prstGeom prst="roundRect">
            <a:avLst>
              <a:gd name="adj" fmla="val 5926"/>
            </a:avLst>
          </a:prstGeom>
          <a:solidFill>
            <a:srgbClr val="FFFFFF"/>
          </a:solidFill>
          <a:ln w="12700">
            <a:solidFill>
              <a:srgbClr val="D5DFDC"/>
            </a:solidFill>
            <a:prstDash val="solid"/>
          </a:ln>
        </p:spPr>
      </p:sp>
      <p:sp>
        <p:nvSpPr>
          <p:cNvPr id="10" name="Text 8"/>
          <p:cNvSpPr/>
          <p:nvPr/>
        </p:nvSpPr>
        <p:spPr>
          <a:xfrm>
            <a:off x="4791456" y="4133088"/>
            <a:ext cx="960120" cy="228600"/>
          </a:xfrm>
          <a:prstGeom prst="rect">
            <a:avLst/>
          </a:prstGeom>
          <a:noFill/>
          <a:ln/>
        </p:spPr>
        <p:txBody>
          <a:bodyPr wrap="square" lIns="0" tIns="0" rIns="0" bIns="0" rtlCol="0" anchor="ctr"/>
          <a:lstStyle/>
          <a:p>
            <a:pPr indent="0" marL="0">
              <a:buNone/>
            </a:pPr>
            <a:r>
              <a:rPr lang="en-US" sz="1100" b="1" spc="100" kern="0" dirty="0">
                <a:solidFill>
                  <a:srgbClr val="0F766E"/>
                </a:solidFill>
              </a:rPr>
              <a:t>GOVERN</a:t>
            </a:r>
            <a:endParaRPr lang="en-US" sz="1100" dirty="0"/>
          </a:p>
        </p:txBody>
      </p:sp>
      <p:sp>
        <p:nvSpPr>
          <p:cNvPr id="11" name="Text 9"/>
          <p:cNvSpPr/>
          <p:nvPr/>
        </p:nvSpPr>
        <p:spPr>
          <a:xfrm>
            <a:off x="4791456" y="4498848"/>
            <a:ext cx="2697480" cy="411480"/>
          </a:xfrm>
          <a:prstGeom prst="rect">
            <a:avLst/>
          </a:prstGeom>
          <a:noFill/>
          <a:ln/>
        </p:spPr>
        <p:txBody>
          <a:bodyPr wrap="square" lIns="0" tIns="0" rIns="0" bIns="0" rtlCol="0" anchor="ctr">
            <a:normAutofit/>
          </a:bodyPr>
          <a:lstStyle/>
          <a:p>
            <a:pPr indent="0" marL="0">
              <a:buNone/>
            </a:pPr>
            <a:r>
              <a:rPr lang="en-US" sz="1080" dirty="0">
                <a:solidFill>
                  <a:srgbClr val="142925"/>
                </a:solidFill>
              </a:rPr>
              <a:t>Define boundaries, routing, handoffs, tool access, and decision rights.</a:t>
            </a:r>
            <a:endParaRPr lang="en-US" sz="1080" dirty="0"/>
          </a:p>
        </p:txBody>
      </p:sp>
      <p:sp>
        <p:nvSpPr>
          <p:cNvPr id="12" name="Shape 10"/>
          <p:cNvSpPr/>
          <p:nvPr/>
        </p:nvSpPr>
        <p:spPr>
          <a:xfrm>
            <a:off x="8229600" y="3886200"/>
            <a:ext cx="3154680" cy="1234440"/>
          </a:xfrm>
          <a:prstGeom prst="roundRect">
            <a:avLst>
              <a:gd name="adj" fmla="val 5926"/>
            </a:avLst>
          </a:prstGeom>
          <a:solidFill>
            <a:srgbClr val="FFFFFF"/>
          </a:solidFill>
          <a:ln w="12700">
            <a:solidFill>
              <a:srgbClr val="D5DFDC"/>
            </a:solidFill>
            <a:prstDash val="solid"/>
          </a:ln>
        </p:spPr>
      </p:sp>
      <p:sp>
        <p:nvSpPr>
          <p:cNvPr id="13" name="Text 11"/>
          <p:cNvSpPr/>
          <p:nvPr/>
        </p:nvSpPr>
        <p:spPr>
          <a:xfrm>
            <a:off x="8449056" y="4133088"/>
            <a:ext cx="960120" cy="228600"/>
          </a:xfrm>
          <a:prstGeom prst="rect">
            <a:avLst/>
          </a:prstGeom>
          <a:noFill/>
          <a:ln/>
        </p:spPr>
        <p:txBody>
          <a:bodyPr wrap="square" lIns="0" tIns="0" rIns="0" bIns="0" rtlCol="0" anchor="ctr"/>
          <a:lstStyle/>
          <a:p>
            <a:pPr indent="0" marL="0">
              <a:buNone/>
            </a:pPr>
            <a:r>
              <a:rPr lang="en-US" sz="1100" b="1" spc="100" kern="0" dirty="0">
                <a:solidFill>
                  <a:srgbClr val="0F766E"/>
                </a:solidFill>
              </a:rPr>
              <a:t>TEST</a:t>
            </a:r>
            <a:endParaRPr lang="en-US" sz="1100" dirty="0"/>
          </a:p>
        </p:txBody>
      </p:sp>
      <p:sp>
        <p:nvSpPr>
          <p:cNvPr id="14" name="Text 12"/>
          <p:cNvSpPr/>
          <p:nvPr/>
        </p:nvSpPr>
        <p:spPr>
          <a:xfrm>
            <a:off x="8449056" y="4498848"/>
            <a:ext cx="2697480" cy="411480"/>
          </a:xfrm>
          <a:prstGeom prst="rect">
            <a:avLst/>
          </a:prstGeom>
          <a:noFill/>
          <a:ln/>
        </p:spPr>
        <p:txBody>
          <a:bodyPr wrap="square" lIns="0" tIns="0" rIns="0" bIns="0" rtlCol="0" anchor="ctr">
            <a:normAutofit/>
          </a:bodyPr>
          <a:lstStyle/>
          <a:p>
            <a:pPr indent="0" marL="0">
              <a:buNone/>
            </a:pPr>
            <a:r>
              <a:rPr lang="en-US" sz="1080" dirty="0">
                <a:solidFill>
                  <a:srgbClr val="142925"/>
                </a:solidFill>
              </a:rPr>
              <a:t>Validate the full trajectory after every meaningful change.</a:t>
            </a:r>
            <a:endParaRPr lang="en-US" sz="1080" dirty="0"/>
          </a:p>
        </p:txBody>
      </p:sp>
      <p:sp>
        <p:nvSpPr>
          <p:cNvPr id="15" name="Text 13"/>
          <p:cNvSpPr/>
          <p:nvPr/>
        </p:nvSpPr>
        <p:spPr>
          <a:xfrm>
            <a:off x="868680" y="5650992"/>
            <a:ext cx="1828800" cy="384048"/>
          </a:xfrm>
          <a:prstGeom prst="rect">
            <a:avLst/>
          </a:prstGeom>
          <a:noFill/>
          <a:ln/>
        </p:spPr>
        <p:txBody>
          <a:bodyPr wrap="square" lIns="0" tIns="0" rIns="0" bIns="0" rtlCol="0" anchor="ctr"/>
          <a:lstStyle/>
          <a:p>
            <a:pPr indent="0" marL="0">
              <a:buNone/>
            </a:pPr>
            <a:r>
              <a:rPr lang="en-US" sz="2200" b="1" dirty="0">
                <a:solidFill>
                  <a:srgbClr val="142925"/>
                </a:solidFill>
              </a:rPr>
              <a:t>Thank you</a:t>
            </a:r>
            <a:endParaRPr lang="en-US" sz="2200" dirty="0"/>
          </a:p>
        </p:txBody>
      </p:sp>
      <p:sp>
        <p:nvSpPr>
          <p:cNvPr id="16" name="Text 14"/>
          <p:cNvSpPr/>
          <p:nvPr/>
        </p:nvSpPr>
        <p:spPr>
          <a:xfrm>
            <a:off x="868680" y="6089904"/>
            <a:ext cx="3840480" cy="228600"/>
          </a:xfrm>
          <a:prstGeom prst="rect">
            <a:avLst/>
          </a:prstGeom>
          <a:noFill/>
          <a:ln/>
        </p:spPr>
        <p:txBody>
          <a:bodyPr wrap="square" lIns="0" tIns="0" rIns="0" bIns="0" rtlCol="0" anchor="ctr"/>
          <a:lstStyle/>
          <a:p>
            <a:pPr indent="0" marL="0">
              <a:buNone/>
            </a:pPr>
            <a:r>
              <a:rPr lang="en-US" sz="1050" dirty="0">
                <a:solidFill>
                  <a:srgbClr val="5B6B68"/>
                </a:solidFill>
              </a:rPr>
              <a:t>Monika Aggarwal  |  Agent Sense  |  IBM</a:t>
            </a:r>
            <a:endParaRPr lang="en-US" sz="1050" dirty="0"/>
          </a:p>
        </p:txBody>
      </p:sp>
      <p:sp>
        <p:nvSpPr>
          <p:cNvPr id="17" name="Text 15"/>
          <p:cNvSpPr/>
          <p:nvPr/>
        </p:nvSpPr>
        <p:spPr>
          <a:xfrm>
            <a:off x="9738360" y="5623560"/>
            <a:ext cx="1188720" cy="438912"/>
          </a:xfrm>
          <a:prstGeom prst="rect">
            <a:avLst/>
          </a:prstGeom>
          <a:noFill/>
          <a:ln/>
        </p:spPr>
        <p:txBody>
          <a:bodyPr wrap="square" lIns="0" tIns="0" rIns="0" bIns="0" rtlCol="0" anchor="ctr"/>
          <a:lstStyle/>
          <a:p>
            <a:pPr algn="r" indent="0" marL="0">
              <a:buNone/>
            </a:pPr>
            <a:r>
              <a:rPr lang="en-US" sz="2400" b="1" dirty="0">
                <a:solidFill>
                  <a:srgbClr val="0F766E"/>
                </a:solidFill>
              </a:rPr>
              <a:t>Q&amp;A</a:t>
            </a:r>
            <a:endParaRPr lang="en-US" sz="2400" dirty="0"/>
          </a:p>
        </p:txBody>
      </p:sp>
      <p:sp>
        <p:nvSpPr>
          <p:cNvPr id="25" name="Slide Number Placeholder 0"/>
          <p:cNvSpPr>
            <a:spLocks noGrp="1"/>
          </p:cNvSpPr>
          <p:nvPr>
            <p:ph type="sldNum" sz="quarter" idx="4294967295"/>
          </p:nvPr>
        </p:nvSpPr>
        <p:spPr>
          <a:xfrm>
            <a:off x="11704320" y="6565392"/>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7A8986"/>
                </a:solidFill>
                <a:latin typeface="Noto Sans"/>
                <a:ea typeface="Noto Sans"/>
                <a:cs typeface="Noto Sans"/>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94360" y="502920"/>
            <a:ext cx="4389120" cy="219456"/>
          </a:xfrm>
          <a:prstGeom prst="rect">
            <a:avLst/>
          </a:prstGeom>
          <a:noFill/>
          <a:ln/>
        </p:spPr>
        <p:txBody>
          <a:bodyPr wrap="square" lIns="0" tIns="0" rIns="0" bIns="0" rtlCol="0" anchor="ctr"/>
          <a:lstStyle/>
          <a:p>
            <a:pPr indent="0" marL="0">
              <a:buNone/>
            </a:pPr>
            <a:r>
              <a:rPr lang="en-US" sz="900" b="1" spc="120" kern="0" dirty="0">
                <a:solidFill>
                  <a:srgbClr val="0F766E"/>
                </a:solidFill>
              </a:rPr>
              <a:t>APPENDIX</a:t>
            </a:r>
            <a:endParaRPr lang="en-US" sz="900" dirty="0"/>
          </a:p>
        </p:txBody>
      </p:sp>
      <p:sp>
        <p:nvSpPr>
          <p:cNvPr id="3" name="Text 1"/>
          <p:cNvSpPr/>
          <p:nvPr/>
        </p:nvSpPr>
        <p:spPr>
          <a:xfrm>
            <a:off x="594360" y="786384"/>
            <a:ext cx="10972800" cy="566928"/>
          </a:xfrm>
          <a:prstGeom prst="rect">
            <a:avLst/>
          </a:prstGeom>
          <a:noFill/>
          <a:ln/>
        </p:spPr>
        <p:txBody>
          <a:bodyPr wrap="square" lIns="0" tIns="0" rIns="0" bIns="0" rtlCol="0" anchor="ctr">
            <a:normAutofit/>
          </a:bodyPr>
          <a:lstStyle/>
          <a:p>
            <a:pPr indent="0" marL="0">
              <a:buNone/>
            </a:pPr>
            <a:r>
              <a:rPr lang="en-US" sz="2600" b="1" dirty="0">
                <a:solidFill>
                  <a:srgbClr val="142925"/>
                </a:solidFill>
              </a:rPr>
              <a:t>Selected sources</a:t>
            </a:r>
            <a:endParaRPr lang="en-US" sz="2600" dirty="0"/>
          </a:p>
        </p:txBody>
      </p:sp>
      <p:sp>
        <p:nvSpPr>
          <p:cNvPr id="4" name="Text 2"/>
          <p:cNvSpPr/>
          <p:nvPr/>
        </p:nvSpPr>
        <p:spPr>
          <a:xfrm>
            <a:off x="594360" y="1353312"/>
            <a:ext cx="10698480" cy="411480"/>
          </a:xfrm>
          <a:prstGeom prst="rect">
            <a:avLst/>
          </a:prstGeom>
          <a:noFill/>
          <a:ln/>
        </p:spPr>
        <p:txBody>
          <a:bodyPr wrap="square" lIns="0" tIns="0" rIns="0" bIns="0" rtlCol="0" anchor="ctr">
            <a:normAutofit/>
          </a:bodyPr>
          <a:lstStyle/>
          <a:p>
            <a:pPr indent="0" marL="0">
              <a:buNone/>
            </a:pPr>
            <a:r>
              <a:rPr lang="en-US" sz="1300" dirty="0">
                <a:solidFill>
                  <a:srgbClr val="5B6B68"/>
                </a:solidFill>
              </a:rPr>
              <a:t>Public references used to verify product and protocol framing.</a:t>
            </a:r>
            <a:endParaRPr lang="en-US" sz="1300" dirty="0"/>
          </a:p>
        </p:txBody>
      </p:sp>
      <p:sp>
        <p:nvSpPr>
          <p:cNvPr id="5" name="Text 3"/>
          <p:cNvSpPr/>
          <p:nvPr/>
        </p:nvSpPr>
        <p:spPr>
          <a:xfrm>
            <a:off x="777240" y="1783080"/>
            <a:ext cx="2103120" cy="256032"/>
          </a:xfrm>
          <a:prstGeom prst="rect">
            <a:avLst/>
          </a:prstGeom>
          <a:noFill/>
          <a:ln/>
        </p:spPr>
        <p:txBody>
          <a:bodyPr wrap="square" lIns="0" tIns="0" rIns="0" bIns="0" rtlCol="0" anchor="ctr"/>
          <a:lstStyle/>
          <a:p>
            <a:pPr indent="0" marL="0">
              <a:buNone/>
            </a:pPr>
            <a:r>
              <a:rPr lang="en-US" sz="1200" b="1" dirty="0">
                <a:solidFill>
                  <a:srgbClr val="0F766E"/>
                </a:solidFill>
              </a:rPr>
              <a:t>Applied AI Summit 2026</a:t>
            </a:r>
            <a:endParaRPr lang="en-US" sz="1200" dirty="0"/>
          </a:p>
        </p:txBody>
      </p:sp>
      <p:sp>
        <p:nvSpPr>
          <p:cNvPr id="6" name="Text 4"/>
          <p:cNvSpPr/>
          <p:nvPr/>
        </p:nvSpPr>
        <p:spPr>
          <a:xfrm>
            <a:off x="2743200" y="1783080"/>
            <a:ext cx="4023360" cy="384048"/>
          </a:xfrm>
          <a:prstGeom prst="rect">
            <a:avLst/>
          </a:prstGeom>
          <a:noFill/>
          <a:ln/>
        </p:spPr>
        <p:txBody>
          <a:bodyPr wrap="square" lIns="0" tIns="0" rIns="0" bIns="0" rtlCol="0" anchor="ctr">
            <a:normAutofit/>
          </a:bodyPr>
          <a:lstStyle/>
          <a:p>
            <a:pPr indent="0" marL="0">
              <a:buNone/>
            </a:pPr>
            <a:r>
              <a:rPr lang="en-US" sz="1100" dirty="0">
                <a:solidFill>
                  <a:srgbClr val="142925"/>
                </a:solidFill>
              </a:rPr>
              <a:t>Official schedule, Healthcare AI track, October 13 to 15, 2026</a:t>
            </a:r>
            <a:endParaRPr lang="en-US" sz="1100" dirty="0"/>
          </a:p>
        </p:txBody>
      </p:sp>
      <p:sp>
        <p:nvSpPr>
          <p:cNvPr id="7" name="Text 5"/>
          <p:cNvSpPr/>
          <p:nvPr/>
        </p:nvSpPr>
        <p:spPr>
          <a:xfrm>
            <a:off x="6903720" y="1783080"/>
            <a:ext cx="4389120" cy="384048"/>
          </a:xfrm>
          <a:prstGeom prst="rect">
            <a:avLst/>
          </a:prstGeom>
          <a:noFill/>
          <a:ln/>
        </p:spPr>
        <p:txBody>
          <a:bodyPr wrap="square" lIns="0" tIns="0" rIns="0" bIns="0" rtlCol="0" anchor="ctr">
            <a:normAutofit/>
          </a:bodyPr>
          <a:lstStyle/>
          <a:p>
            <a:pPr indent="0" marL="0">
              <a:buNone/>
            </a:pPr>
            <a:r>
              <a:rPr lang="en-US" sz="850" dirty="0">
                <a:solidFill>
                  <a:srgbClr val="5B6B68"/>
                </a:solidFill>
              </a:rPr>
              <a:t>https://appliedaisummit.org/schedule/</a:t>
            </a:r>
            <a:endParaRPr lang="en-US" sz="850" dirty="0"/>
          </a:p>
        </p:txBody>
      </p:sp>
      <p:sp>
        <p:nvSpPr>
          <p:cNvPr id="8" name="Shape 6"/>
          <p:cNvSpPr/>
          <p:nvPr/>
        </p:nvSpPr>
        <p:spPr>
          <a:xfrm>
            <a:off x="777240" y="2441448"/>
            <a:ext cx="10424160" cy="0"/>
          </a:xfrm>
          <a:prstGeom prst="line">
            <a:avLst/>
          </a:prstGeom>
          <a:noFill/>
          <a:ln w="10160">
            <a:solidFill>
              <a:srgbClr val="D5DFDC"/>
            </a:solidFill>
            <a:prstDash val="solid"/>
          </a:ln>
        </p:spPr>
      </p:sp>
      <p:sp>
        <p:nvSpPr>
          <p:cNvPr id="9" name="Text 7"/>
          <p:cNvSpPr/>
          <p:nvPr/>
        </p:nvSpPr>
        <p:spPr>
          <a:xfrm>
            <a:off x="777240" y="2834640"/>
            <a:ext cx="2103120" cy="256032"/>
          </a:xfrm>
          <a:prstGeom prst="rect">
            <a:avLst/>
          </a:prstGeom>
          <a:noFill/>
          <a:ln/>
        </p:spPr>
        <p:txBody>
          <a:bodyPr wrap="square" lIns="0" tIns="0" rIns="0" bIns="0" rtlCol="0" anchor="ctr"/>
          <a:lstStyle/>
          <a:p>
            <a:pPr indent="0" marL="0">
              <a:buNone/>
            </a:pPr>
            <a:r>
              <a:rPr lang="en-US" sz="1200" b="1" dirty="0">
                <a:solidFill>
                  <a:srgbClr val="0F766E"/>
                </a:solidFill>
              </a:rPr>
              <a:t>IBM Bob</a:t>
            </a:r>
            <a:endParaRPr lang="en-US" sz="1200" dirty="0"/>
          </a:p>
        </p:txBody>
      </p:sp>
      <p:sp>
        <p:nvSpPr>
          <p:cNvPr id="10" name="Text 8"/>
          <p:cNvSpPr/>
          <p:nvPr/>
        </p:nvSpPr>
        <p:spPr>
          <a:xfrm>
            <a:off x="2743200" y="2834640"/>
            <a:ext cx="4023360" cy="384048"/>
          </a:xfrm>
          <a:prstGeom prst="rect">
            <a:avLst/>
          </a:prstGeom>
          <a:noFill/>
          <a:ln/>
        </p:spPr>
        <p:txBody>
          <a:bodyPr wrap="square" lIns="0" tIns="0" rIns="0" bIns="0" rtlCol="0" anchor="ctr">
            <a:normAutofit/>
          </a:bodyPr>
          <a:lstStyle/>
          <a:p>
            <a:pPr indent="0" marL="0">
              <a:buNone/>
            </a:pPr>
            <a:r>
              <a:rPr lang="en-US" sz="1100" dirty="0">
                <a:solidFill>
                  <a:srgbClr val="142925"/>
                </a:solidFill>
              </a:rPr>
              <a:t>AI SDLC partner for planning, coding, testing, and working with real codebases</a:t>
            </a:r>
            <a:endParaRPr lang="en-US" sz="1100" dirty="0"/>
          </a:p>
        </p:txBody>
      </p:sp>
      <p:sp>
        <p:nvSpPr>
          <p:cNvPr id="11" name="Text 9"/>
          <p:cNvSpPr/>
          <p:nvPr/>
        </p:nvSpPr>
        <p:spPr>
          <a:xfrm>
            <a:off x="6903720" y="2834640"/>
            <a:ext cx="4389120" cy="384048"/>
          </a:xfrm>
          <a:prstGeom prst="rect">
            <a:avLst/>
          </a:prstGeom>
          <a:noFill/>
          <a:ln/>
        </p:spPr>
        <p:txBody>
          <a:bodyPr wrap="square" lIns="0" tIns="0" rIns="0" bIns="0" rtlCol="0" anchor="ctr">
            <a:normAutofit/>
          </a:bodyPr>
          <a:lstStyle/>
          <a:p>
            <a:pPr indent="0" marL="0">
              <a:buNone/>
            </a:pPr>
            <a:r>
              <a:rPr lang="en-US" sz="850" dirty="0">
                <a:solidFill>
                  <a:srgbClr val="5B6B68"/>
                </a:solidFill>
              </a:rPr>
              <a:t>https://bob.ibm.com/docs/ide</a:t>
            </a:r>
            <a:endParaRPr lang="en-US" sz="850" dirty="0"/>
          </a:p>
        </p:txBody>
      </p:sp>
      <p:sp>
        <p:nvSpPr>
          <p:cNvPr id="12" name="Shape 10"/>
          <p:cNvSpPr/>
          <p:nvPr/>
        </p:nvSpPr>
        <p:spPr>
          <a:xfrm>
            <a:off x="777240" y="3493008"/>
            <a:ext cx="10424160" cy="0"/>
          </a:xfrm>
          <a:prstGeom prst="line">
            <a:avLst/>
          </a:prstGeom>
          <a:noFill/>
          <a:ln w="10160">
            <a:solidFill>
              <a:srgbClr val="D5DFDC"/>
            </a:solidFill>
            <a:prstDash val="solid"/>
          </a:ln>
        </p:spPr>
      </p:sp>
      <p:sp>
        <p:nvSpPr>
          <p:cNvPr id="13" name="Text 11"/>
          <p:cNvSpPr/>
          <p:nvPr/>
        </p:nvSpPr>
        <p:spPr>
          <a:xfrm>
            <a:off x="777240" y="3886200"/>
            <a:ext cx="2103120" cy="256032"/>
          </a:xfrm>
          <a:prstGeom prst="rect">
            <a:avLst/>
          </a:prstGeom>
          <a:noFill/>
          <a:ln/>
        </p:spPr>
        <p:txBody>
          <a:bodyPr wrap="square" lIns="0" tIns="0" rIns="0" bIns="0" rtlCol="0" anchor="ctr"/>
          <a:lstStyle/>
          <a:p>
            <a:pPr indent="0" marL="0">
              <a:buNone/>
            </a:pPr>
            <a:r>
              <a:rPr lang="en-US" sz="1200" b="1" dirty="0">
                <a:solidFill>
                  <a:srgbClr val="0F766E"/>
                </a:solidFill>
              </a:rPr>
              <a:t>IBM Bob multi-agent updates</a:t>
            </a:r>
            <a:endParaRPr lang="en-US" sz="1200" dirty="0"/>
          </a:p>
        </p:txBody>
      </p:sp>
      <p:sp>
        <p:nvSpPr>
          <p:cNvPr id="14" name="Text 12"/>
          <p:cNvSpPr/>
          <p:nvPr/>
        </p:nvSpPr>
        <p:spPr>
          <a:xfrm>
            <a:off x="2743200" y="3886200"/>
            <a:ext cx="4023360" cy="384048"/>
          </a:xfrm>
          <a:prstGeom prst="rect">
            <a:avLst/>
          </a:prstGeom>
          <a:noFill/>
          <a:ln/>
        </p:spPr>
        <p:txBody>
          <a:bodyPr wrap="square" lIns="0" tIns="0" rIns="0" bIns="0" rtlCol="0" anchor="ctr">
            <a:normAutofit/>
          </a:bodyPr>
          <a:lstStyle/>
          <a:p>
            <a:pPr indent="0" marL="0">
              <a:buNone/>
            </a:pPr>
            <a:r>
              <a:rPr lang="en-US" sz="1100" dirty="0">
                <a:solidFill>
                  <a:srgbClr val="142925"/>
                </a:solidFill>
              </a:rPr>
              <a:t>Enterprise multi-agent capabilities and specialized workflows, July 2026</a:t>
            </a:r>
            <a:endParaRPr lang="en-US" sz="1100" dirty="0"/>
          </a:p>
        </p:txBody>
      </p:sp>
      <p:sp>
        <p:nvSpPr>
          <p:cNvPr id="15" name="Text 13"/>
          <p:cNvSpPr/>
          <p:nvPr/>
        </p:nvSpPr>
        <p:spPr>
          <a:xfrm>
            <a:off x="6903720" y="3886200"/>
            <a:ext cx="4389120" cy="384048"/>
          </a:xfrm>
          <a:prstGeom prst="rect">
            <a:avLst/>
          </a:prstGeom>
          <a:noFill/>
          <a:ln/>
        </p:spPr>
        <p:txBody>
          <a:bodyPr wrap="square" lIns="0" tIns="0" rIns="0" bIns="0" rtlCol="0" anchor="ctr">
            <a:normAutofit/>
          </a:bodyPr>
          <a:lstStyle/>
          <a:p>
            <a:pPr indent="0" marL="0">
              <a:buNone/>
            </a:pPr>
            <a:r>
              <a:rPr lang="en-US" sz="850" dirty="0">
                <a:solidFill>
                  <a:srgbClr val="5B6B68"/>
                </a:solidFill>
              </a:rPr>
              <a:t>https://newsroom.ibm.com/2026-07-09-ibm-advances-enterprise-ai-software-development-with-multi-agent-capabilities-and-specialized-modernization-workflows</a:t>
            </a:r>
            <a:endParaRPr lang="en-US" sz="850" dirty="0"/>
          </a:p>
        </p:txBody>
      </p:sp>
      <p:sp>
        <p:nvSpPr>
          <p:cNvPr id="16" name="Shape 14"/>
          <p:cNvSpPr/>
          <p:nvPr/>
        </p:nvSpPr>
        <p:spPr>
          <a:xfrm>
            <a:off x="777240" y="4544568"/>
            <a:ext cx="10424160" cy="0"/>
          </a:xfrm>
          <a:prstGeom prst="line">
            <a:avLst/>
          </a:prstGeom>
          <a:noFill/>
          <a:ln w="10160">
            <a:solidFill>
              <a:srgbClr val="D5DFDC"/>
            </a:solidFill>
            <a:prstDash val="solid"/>
          </a:ln>
        </p:spPr>
      </p:sp>
      <p:sp>
        <p:nvSpPr>
          <p:cNvPr id="17" name="Text 15"/>
          <p:cNvSpPr/>
          <p:nvPr/>
        </p:nvSpPr>
        <p:spPr>
          <a:xfrm>
            <a:off x="777240" y="4937760"/>
            <a:ext cx="2103120" cy="256032"/>
          </a:xfrm>
          <a:prstGeom prst="rect">
            <a:avLst/>
          </a:prstGeom>
          <a:noFill/>
          <a:ln/>
        </p:spPr>
        <p:txBody>
          <a:bodyPr wrap="square" lIns="0" tIns="0" rIns="0" bIns="0" rtlCol="0" anchor="ctr"/>
          <a:lstStyle/>
          <a:p>
            <a:pPr indent="0" marL="0">
              <a:buNone/>
            </a:pPr>
            <a:r>
              <a:rPr lang="en-US" sz="1200" b="1" dirty="0">
                <a:solidFill>
                  <a:srgbClr val="0F766E"/>
                </a:solidFill>
              </a:rPr>
              <a:t>Model Context Protocol</a:t>
            </a:r>
            <a:endParaRPr lang="en-US" sz="1200" dirty="0"/>
          </a:p>
        </p:txBody>
      </p:sp>
      <p:sp>
        <p:nvSpPr>
          <p:cNvPr id="18" name="Text 16"/>
          <p:cNvSpPr/>
          <p:nvPr/>
        </p:nvSpPr>
        <p:spPr>
          <a:xfrm>
            <a:off x="2743200" y="4937760"/>
            <a:ext cx="4023360" cy="384048"/>
          </a:xfrm>
          <a:prstGeom prst="rect">
            <a:avLst/>
          </a:prstGeom>
          <a:noFill/>
          <a:ln/>
        </p:spPr>
        <p:txBody>
          <a:bodyPr wrap="square" lIns="0" tIns="0" rIns="0" bIns="0" rtlCol="0" anchor="ctr">
            <a:normAutofit/>
          </a:bodyPr>
          <a:lstStyle/>
          <a:p>
            <a:pPr indent="0" marL="0">
              <a:buNone/>
            </a:pPr>
            <a:r>
              <a:rPr lang="en-US" sz="1100" dirty="0">
                <a:solidFill>
                  <a:srgbClr val="142925"/>
                </a:solidFill>
              </a:rPr>
              <a:t>2026-07-28 specification release and authorization hardening</a:t>
            </a:r>
            <a:endParaRPr lang="en-US" sz="1100" dirty="0"/>
          </a:p>
        </p:txBody>
      </p:sp>
      <p:sp>
        <p:nvSpPr>
          <p:cNvPr id="19" name="Text 17"/>
          <p:cNvSpPr/>
          <p:nvPr/>
        </p:nvSpPr>
        <p:spPr>
          <a:xfrm>
            <a:off x="6903720" y="4937760"/>
            <a:ext cx="4389120" cy="384048"/>
          </a:xfrm>
          <a:prstGeom prst="rect">
            <a:avLst/>
          </a:prstGeom>
          <a:noFill/>
          <a:ln/>
        </p:spPr>
        <p:txBody>
          <a:bodyPr wrap="square" lIns="0" tIns="0" rIns="0" bIns="0" rtlCol="0" anchor="ctr">
            <a:normAutofit/>
          </a:bodyPr>
          <a:lstStyle/>
          <a:p>
            <a:pPr indent="0" marL="0">
              <a:buNone/>
            </a:pPr>
            <a:r>
              <a:rPr lang="en-US" sz="850" dirty="0">
                <a:solidFill>
                  <a:srgbClr val="5B6B68"/>
                </a:solidFill>
              </a:rPr>
              <a:t>https://blog.modelcontextprotocol.io/posts/2026-07-28/</a:t>
            </a:r>
            <a:endParaRPr lang="en-US" sz="850" dirty="0"/>
          </a:p>
        </p:txBody>
      </p:sp>
      <p:sp>
        <p:nvSpPr>
          <p:cNvPr id="20" name="Shape 18"/>
          <p:cNvSpPr/>
          <p:nvPr/>
        </p:nvSpPr>
        <p:spPr>
          <a:xfrm>
            <a:off x="777240" y="5596128"/>
            <a:ext cx="10424160" cy="0"/>
          </a:xfrm>
          <a:prstGeom prst="line">
            <a:avLst/>
          </a:prstGeom>
          <a:noFill/>
          <a:ln w="10160">
            <a:solidFill>
              <a:srgbClr val="D5DFDC"/>
            </a:solidFill>
            <a:prstDash val="solid"/>
          </a:ln>
        </p:spPr>
      </p:sp>
      <p:sp>
        <p:nvSpPr>
          <p:cNvPr id="21" name="Text 19"/>
          <p:cNvSpPr/>
          <p:nvPr/>
        </p:nvSpPr>
        <p:spPr>
          <a:xfrm>
            <a:off x="777240" y="5943600"/>
            <a:ext cx="10241280" cy="384048"/>
          </a:xfrm>
          <a:prstGeom prst="rect">
            <a:avLst/>
          </a:prstGeom>
          <a:noFill/>
          <a:ln/>
        </p:spPr>
        <p:txBody>
          <a:bodyPr wrap="square" lIns="0" tIns="0" rIns="0" bIns="0" rtlCol="0" anchor="ctr">
            <a:normAutofit/>
          </a:bodyPr>
          <a:lstStyle/>
          <a:p>
            <a:pPr indent="0" marL="0">
              <a:buNone/>
            </a:pPr>
            <a:r>
              <a:rPr lang="en-US" sz="1000" dirty="0">
                <a:solidFill>
                  <a:srgbClr val="5B6B68"/>
                </a:solidFill>
              </a:rPr>
              <a:t>Speaker evidence used in this deck comes from the presenter’s own prior healthcare delivery work and the prototype demonstrated in this session.</a:t>
            </a:r>
            <a:endParaRPr lang="en-US" sz="1000" dirty="0"/>
          </a:p>
        </p:txBody>
      </p:sp>
      <p:sp>
        <p:nvSpPr>
          <p:cNvPr id="25" name="Slide Number Placeholder 0"/>
          <p:cNvSpPr>
            <a:spLocks noGrp="1"/>
          </p:cNvSpPr>
          <p:nvPr>
            <p:ph type="sldNum" sz="quarter" idx="4294967295"/>
          </p:nvPr>
        </p:nvSpPr>
        <p:spPr>
          <a:xfrm>
            <a:off x="11704320" y="6565392"/>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7A8986"/>
                </a:solidFill>
                <a:latin typeface="Noto Sans"/>
                <a:ea typeface="Noto Sans"/>
                <a:cs typeface="Noto Sans"/>
              </a:defRPr>
            </a:lvl1pPr>
          </a:lstStyle>
          <a:p>
            <a:pPr algn="l"/>
            <a:fld id="{F7021451-1387-4CA6-816F-3879F97B5CBC}" type="slidenum">
              <a:rPr b="0" lang="en-US"/>
              <a:t>14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oto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IBM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When Physicians Cannot Connect the Dots</dc:title>
  <dc:subject>Applied AI Summit 2026 - Healthcare AI</dc:subject>
  <dc:creator>Monika Aggarwal</dc:creator>
  <cp:lastModifiedBy>Monika Aggarwal</cp:lastModifiedBy>
  <cp:revision>1</cp:revision>
  <dcterms:created xsi:type="dcterms:W3CDTF">2026-10-12T16:19:32Z</dcterms:created>
  <dcterms:modified xsi:type="dcterms:W3CDTF">2026-10-12T16:19:32Z</dcterms:modified>
</cp:coreProperties>
</file>