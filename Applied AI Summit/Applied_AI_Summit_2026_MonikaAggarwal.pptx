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71" r:id="rId12"/>
    <p:sldId id="267" r:id="rId13"/>
    <p:sldId id="268" r:id="rId14"/>
    <p:sldId id="269" r:id="rId15"/>
    <p:sldId id="270" r:id="rId16"/>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52"/>
    <p:restoredTop sz="85615"/>
  </p:normalViewPr>
  <p:slideViewPr>
    <p:cSldViewPr snapToGrid="0">
      <p:cViewPr>
        <p:scale>
          <a:sx n="125" d="100"/>
          <a:sy n="125" d="100"/>
        </p:scale>
        <p:origin x="1568" y="-1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Arial"/>
              </a:rPr>
              <a:t>Click to move the slide</a:t>
            </a: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4"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5"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8BBD2245-94EE-4CB6-90E3-E179F471B509}"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 name="PlaceHolder 1"/>
          <p:cNvSpPr>
            <a:spLocks noGrp="1" noRot="1" noChangeAspect="1"/>
          </p:cNvSpPr>
          <p:nvPr>
            <p:ph type="sldImg"/>
          </p:nvPr>
        </p:nvSpPr>
        <p:spPr>
          <a:xfrm>
            <a:off x="685800" y="1143000"/>
            <a:ext cx="5486400" cy="3086100"/>
          </a:xfrm>
          <a:prstGeom prst="rect">
            <a:avLst/>
          </a:prstGeom>
          <a:ln w="0">
            <a:noFill/>
          </a:ln>
        </p:spPr>
      </p:sp>
      <p:sp>
        <p:nvSpPr>
          <p:cNvPr id="34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0" marR="0">
              <a:buNone/>
            </a:pPr>
            <a:r>
              <a:rPr lang="en-US" sz="2000" b="0" u="none" strike="noStrike" dirty="0">
                <a:solidFill>
                  <a:srgbClr val="000000"/>
                </a:solidFill>
                <a:effectLst/>
                <a:uFillTx/>
                <a:latin typeface="Arial"/>
              </a:rPr>
              <a:t>This is not a talk about replacing physicians. It is about why agentic workflow design matters when patient context is fragmented across specialists, tests, messages, and follow-ups. </a:t>
            </a:r>
            <a:r>
              <a:rPr lang="en-US" sz="1200" dirty="0">
                <a:effectLst/>
                <a:latin typeface="Helvetica Neue" panose="02000503000000020004" pitchFamily="2" charset="0"/>
              </a:rPr>
              <a:t>Earlier this year, I experienced healthcare from the patient side. I was moving across multiple specialists, tests, medications, and follow-ups. Each person had part of the picture. The challenge was connecting it all.</a:t>
            </a:r>
          </a:p>
          <a:p>
            <a:pPr marL="0" marR="0">
              <a:buNone/>
            </a:pPr>
            <a:r>
              <a:rPr lang="en-US" sz="1200" dirty="0">
                <a:effectLst/>
                <a:latin typeface="Helvetica Neue" panose="02000503000000020004" pitchFamily="2" charset="0"/>
              </a:rPr>
              <a:t>That experience led me to a simple question: what would happen if we used an AI agent to help coordinate that journey?</a:t>
            </a:r>
          </a:p>
          <a:p>
            <a:pPr marL="0" marR="0">
              <a:buNone/>
            </a:pPr>
            <a:r>
              <a:rPr lang="en-US" sz="1200" dirty="0">
                <a:effectLst/>
                <a:latin typeface="Helvetica Neue" panose="02000503000000020004" pitchFamily="2" charset="0"/>
              </a:rPr>
              <a:t>So I built a healthcare agent with a PCP-style orchestrator, specialist agents, governed tool access, and clinician review.</a:t>
            </a:r>
          </a:p>
          <a:p>
            <a:pPr marL="0" marR="0">
              <a:buNone/>
            </a:pPr>
            <a:r>
              <a:rPr lang="en-US" sz="1200" dirty="0">
                <a:effectLst/>
                <a:latin typeface="Helvetica Neue" panose="02000503000000020004" pitchFamily="2" charset="0"/>
              </a:rPr>
              <a:t>The prototype worked quickly.</a:t>
            </a:r>
          </a:p>
          <a:p>
            <a:pPr marL="0" marR="0">
              <a:buNone/>
            </a:pPr>
            <a:r>
              <a:rPr lang="en-US" sz="1200" dirty="0">
                <a:effectLst/>
                <a:latin typeface="Helvetica Neue" panose="02000503000000020004" pitchFamily="2" charset="0"/>
              </a:rPr>
              <a:t>Then the more important problem appeared.</a:t>
            </a:r>
          </a:p>
          <a:p>
            <a:pPr marL="0" marR="0">
              <a:buNone/>
            </a:pPr>
            <a:r>
              <a:rPr lang="en-US" sz="1200" dirty="0">
                <a:effectLst/>
                <a:latin typeface="Helvetica Neue" panose="02000503000000020004" pitchFamily="2" charset="0"/>
              </a:rPr>
              <a:t>The agent looked active, but the workflow behavior was not always correct. It routed too early. It moved context too loosely. It made decisions without enough structure.</a:t>
            </a:r>
          </a:p>
          <a:p>
            <a:pPr marL="0" marR="0">
              <a:buNone/>
            </a:pPr>
            <a:r>
              <a:rPr lang="en-US" sz="1200" dirty="0">
                <a:effectLst/>
                <a:latin typeface="Helvetica Neue" panose="02000503000000020004" pitchFamily="2" charset="0"/>
              </a:rPr>
              <a:t>That is the focus of this session.</a:t>
            </a:r>
          </a:p>
          <a:p>
            <a:pPr marL="0" marR="0">
              <a:buNone/>
            </a:pPr>
            <a:r>
              <a:rPr lang="en-US" sz="1200" dirty="0">
                <a:effectLst/>
                <a:latin typeface="Helvetica Neue" panose="02000503000000020004" pitchFamily="2" charset="0"/>
              </a:rPr>
              <a:t>Not how to make an agent answer.</a:t>
            </a:r>
          </a:p>
          <a:p>
            <a:pPr marL="0" marR="0">
              <a:buNone/>
            </a:pPr>
            <a:r>
              <a:rPr lang="en-US" sz="1200" dirty="0">
                <a:effectLst/>
                <a:latin typeface="Helvetica Neue" panose="02000503000000020004" pitchFamily="2" charset="0"/>
              </a:rPr>
              <a:t>How to make an agent behave safely, predictably, and usefully inside a real healthcare workflow.</a:t>
            </a:r>
          </a:p>
          <a:p>
            <a:pPr marL="0" marR="0">
              <a:buNone/>
            </a:pPr>
            <a:r>
              <a:rPr lang="en-US" sz="1200" dirty="0">
                <a:effectLst/>
                <a:latin typeface="Helvetica Neue" panose="02000503000000020004" pitchFamily="2" charset="0"/>
              </a:rPr>
              <a:t>For executives, the takeaway is simple: the value of agentic AI will not come from more autonomy alone. It will come from combining reasoning with clear workflow boundaries, governed handoffs, controlled tool access, and human oversight.</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2000" b="0" u="none" strike="noStrike" dirty="0">
              <a:solidFill>
                <a:srgbClr val="000000"/>
              </a:solidFill>
              <a:effectLst/>
              <a:uFillTx/>
              <a:latin typeface="Arial"/>
            </a:endParaRPr>
          </a:p>
        </p:txBody>
      </p:sp>
      <p:sp>
        <p:nvSpPr>
          <p:cNvPr id="344"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7AF7650-516D-44FF-BCB4-99882D5353E9}"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 name="PlaceHolder 1"/>
          <p:cNvSpPr>
            <a:spLocks noGrp="1" noRot="1" noChangeAspect="1"/>
          </p:cNvSpPr>
          <p:nvPr>
            <p:ph type="sldImg"/>
          </p:nvPr>
        </p:nvSpPr>
        <p:spPr>
          <a:xfrm>
            <a:off x="685800" y="1143000"/>
            <a:ext cx="5486400" cy="3086100"/>
          </a:xfrm>
          <a:prstGeom prst="rect">
            <a:avLst/>
          </a:prstGeom>
          <a:ln w="0">
            <a:noFill/>
          </a:ln>
        </p:spPr>
      </p:sp>
      <p:sp>
        <p:nvSpPr>
          <p:cNvPr id="34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dirty="0">
                <a:solidFill>
                  <a:srgbClr val="000000"/>
                </a:solidFill>
                <a:effectLst/>
                <a:uFillTx/>
                <a:latin typeface="Arial"/>
              </a:rPr>
              <a:t>Set the frame early. The audience should remember this line: activity is not correctness. Routing is not reasoning.</a:t>
            </a:r>
          </a:p>
        </p:txBody>
      </p:sp>
      <p:sp>
        <p:nvSpPr>
          <p:cNvPr id="347"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218D9B3-12B8-49A4-865F-FAAB7810E4A3}" type="slidenum">
              <a:rPr lang="en-US" sz="1200" b="0" u="none" strike="noStrike">
                <a:solidFill>
                  <a:schemeClr val="dk1"/>
                </a:solidFill>
                <a:effectLst/>
                <a:uFillTx/>
                <a:latin typeface="+mn-lt"/>
                <a:ea typeface="+mn-ea"/>
              </a:rPr>
              <a:t>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 name="PlaceHolder 1"/>
          <p:cNvSpPr>
            <a:spLocks noGrp="1" noRot="1" noChangeAspect="1"/>
          </p:cNvSpPr>
          <p:nvPr>
            <p:ph type="sldImg"/>
          </p:nvPr>
        </p:nvSpPr>
        <p:spPr>
          <a:xfrm>
            <a:off x="685800" y="1143000"/>
            <a:ext cx="5486400" cy="3086100"/>
          </a:xfrm>
          <a:prstGeom prst="rect">
            <a:avLst/>
          </a:prstGeom>
          <a:ln w="0">
            <a:noFill/>
          </a:ln>
        </p:spPr>
      </p:sp>
      <p:sp>
        <p:nvSpPr>
          <p:cNvPr id="34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dirty="0">
                <a:solidFill>
                  <a:srgbClr val="000000"/>
                </a:solidFill>
                <a:effectLst/>
                <a:uFillTx/>
                <a:latin typeface="Arial"/>
              </a:rPr>
              <a:t>Tell this plainly. Do not share medical detail. The point is fragmented context and why PCP coordination matters.</a:t>
            </a:r>
          </a:p>
        </p:txBody>
      </p:sp>
      <p:sp>
        <p:nvSpPr>
          <p:cNvPr id="350"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71DD367-FC36-4A78-8D81-55A5F040B589}" type="slidenum">
              <a:rPr lang="en-US" sz="1200" b="0" u="none" strike="noStrike">
                <a:solidFill>
                  <a:schemeClr val="dk1"/>
                </a:solidFill>
                <a:effectLst/>
                <a:uFillTx/>
                <a:latin typeface="+mn-lt"/>
                <a:ea typeface="+mn-ea"/>
              </a:rPr>
              <a:t>3</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 name="PlaceHolder 1"/>
          <p:cNvSpPr>
            <a:spLocks noGrp="1" noRot="1" noChangeAspect="1"/>
          </p:cNvSpPr>
          <p:nvPr>
            <p:ph type="sldImg"/>
          </p:nvPr>
        </p:nvSpPr>
        <p:spPr>
          <a:xfrm>
            <a:off x="685800" y="1143000"/>
            <a:ext cx="5486400" cy="3086100"/>
          </a:xfrm>
          <a:prstGeom prst="rect">
            <a:avLst/>
          </a:prstGeom>
          <a:ln w="0">
            <a:noFill/>
          </a:ln>
        </p:spPr>
      </p:sp>
      <p:sp>
        <p:nvSpPr>
          <p:cNvPr id="35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dirty="0">
                <a:solidFill>
                  <a:srgbClr val="000000"/>
                </a:solidFill>
                <a:effectLst/>
                <a:uFillTx/>
                <a:latin typeface="Arial"/>
              </a:rPr>
              <a:t>This is a credibility bridge, not a resume. Keep it short and tie each point back to why the audience should trust the lesson.</a:t>
            </a:r>
          </a:p>
        </p:txBody>
      </p:sp>
      <p:sp>
        <p:nvSpPr>
          <p:cNvPr id="353"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0BC3D63-ABFC-42E8-BA1E-07EF23178DB4}" type="slidenum">
              <a:rPr lang="en-US" sz="1200" b="0" u="none" strike="noStrike">
                <a:solidFill>
                  <a:schemeClr val="dk1"/>
                </a:solidFill>
                <a:effectLst/>
                <a:uFillTx/>
                <a:latin typeface="+mn-lt"/>
                <a:ea typeface="+mn-ea"/>
              </a:rPr>
              <a:t>4</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 name="PlaceHolder 1"/>
          <p:cNvSpPr>
            <a:spLocks noGrp="1" noRot="1" noChangeAspect="1"/>
          </p:cNvSpPr>
          <p:nvPr>
            <p:ph type="sldImg"/>
          </p:nvPr>
        </p:nvSpPr>
        <p:spPr>
          <a:xfrm>
            <a:off x="685800" y="1143000"/>
            <a:ext cx="5486400" cy="3086100"/>
          </a:xfrm>
          <a:prstGeom prst="rect">
            <a:avLst/>
          </a:prstGeom>
          <a:ln w="0">
            <a:noFill/>
          </a:ln>
        </p:spPr>
      </p:sp>
      <p:sp>
        <p:nvSpPr>
          <p:cNvPr id="35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dirty="0">
                <a:solidFill>
                  <a:srgbClr val="000000"/>
                </a:solidFill>
                <a:effectLst/>
                <a:uFillTx/>
                <a:latin typeface="Arial"/>
              </a:rPr>
              <a:t>Explain that IBM Bob helped accelerate the build and iteration. Be precise: Bob is the development partner used to build the prototype, not the clinician or production runtime.</a:t>
            </a:r>
          </a:p>
        </p:txBody>
      </p:sp>
      <p:sp>
        <p:nvSpPr>
          <p:cNvPr id="356"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0F151D3-04DF-49F8-A331-EA98A194A621}" type="slidenum">
              <a:rPr lang="en-US" sz="1200" b="0" u="none" strike="noStrike">
                <a:solidFill>
                  <a:schemeClr val="dk1"/>
                </a:solidFill>
                <a:effectLst/>
                <a:uFillTx/>
                <a:latin typeface="+mn-lt"/>
                <a:ea typeface="+mn-ea"/>
              </a:rPr>
              <a:t>5</a:t>
            </a:fld>
            <a:endParaRPr lang="en-U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 name="PlaceHolder 1"/>
          <p:cNvSpPr>
            <a:spLocks noGrp="1" noRot="1" noChangeAspect="1"/>
          </p:cNvSpPr>
          <p:nvPr>
            <p:ph type="sldImg"/>
          </p:nvPr>
        </p:nvSpPr>
        <p:spPr>
          <a:xfrm>
            <a:off x="685800" y="1143000"/>
            <a:ext cx="5486040" cy="3085920"/>
          </a:xfrm>
          <a:prstGeom prst="rect">
            <a:avLst/>
          </a:prstGeom>
          <a:ln w="0">
            <a:noFill/>
          </a:ln>
        </p:spPr>
      </p:sp>
      <p:sp>
        <p:nvSpPr>
          <p:cNvPr id="35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dirty="0">
                <a:solidFill>
                  <a:srgbClr val="000000"/>
                </a:solidFill>
                <a:effectLst/>
                <a:uFillTx/>
                <a:latin typeface="Arial"/>
              </a:rPr>
              <a:t>Use the screenshot to make the failure concrete. Do not over-medicalize. The failure is routing before adequate intake and context transfer.</a:t>
            </a:r>
          </a:p>
        </p:txBody>
      </p:sp>
      <p:sp>
        <p:nvSpPr>
          <p:cNvPr id="359"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54B891D-41AC-4A9E-8A86-3BA93E3B4C9D}" type="slidenum">
              <a:rPr lang="en-US" sz="1200" b="0" u="none" strike="noStrike">
                <a:solidFill>
                  <a:schemeClr val="dk1"/>
                </a:solidFill>
                <a:effectLst/>
                <a:uFillTx/>
                <a:latin typeface="+mn-lt"/>
                <a:ea typeface="+mn-ea"/>
              </a:rPr>
              <a:t>6</a:t>
            </a:fld>
            <a:endParaRPr lang="en-U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 name="PlaceHolder 1"/>
          <p:cNvSpPr>
            <a:spLocks noGrp="1" noRot="1" noChangeAspect="1"/>
          </p:cNvSpPr>
          <p:nvPr>
            <p:ph type="sldImg"/>
          </p:nvPr>
        </p:nvSpPr>
        <p:spPr>
          <a:xfrm>
            <a:off x="685800" y="1143000"/>
            <a:ext cx="5486400" cy="3086100"/>
          </a:xfrm>
          <a:prstGeom prst="rect">
            <a:avLst/>
          </a:prstGeom>
          <a:ln w="0">
            <a:noFill/>
          </a:ln>
        </p:spPr>
      </p:sp>
      <p:sp>
        <p:nvSpPr>
          <p:cNvPr id="36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dirty="0">
                <a:solidFill>
                  <a:srgbClr val="000000"/>
                </a:solidFill>
                <a:effectLst/>
                <a:uFillTx/>
                <a:latin typeface="Arial"/>
              </a:rPr>
              <a:t>This is the central critique. Loose routing is not a healthcare-only problem. It shows up anywhere the workflow has high impact.</a:t>
            </a:r>
          </a:p>
          <a:p>
            <a:r>
              <a:rPr lang="en-US" sz="2000" dirty="0"/>
              <a:t>Observability:</a:t>
            </a:r>
            <a:br>
              <a:rPr lang="en-US" sz="2000" dirty="0"/>
            </a:br>
            <a:r>
              <a:rPr lang="en-US" sz="2000" dirty="0"/>
              <a:t>The trace shows that the PCP agent routed to Neurology and Gastroenterology.</a:t>
            </a:r>
          </a:p>
          <a:p>
            <a:r>
              <a:rPr lang="en-US" sz="2000" dirty="0"/>
              <a:t>Governance:</a:t>
            </a:r>
            <a:br>
              <a:rPr lang="en-US" sz="2000" dirty="0"/>
            </a:br>
            <a:r>
              <a:rPr lang="en-US" sz="2000" dirty="0"/>
              <a:t>The workflow should require onset, severity, symptom change, warning signs, and enough context before routing.</a:t>
            </a:r>
          </a:p>
          <a:p>
            <a:pPr indent="0">
              <a:lnSpc>
                <a:spcPct val="100000"/>
              </a:lnSpc>
              <a:buNone/>
            </a:pPr>
            <a:endParaRPr lang="en-US" sz="2000" b="0" u="none" strike="noStrike" dirty="0">
              <a:solidFill>
                <a:srgbClr val="000000"/>
              </a:solidFill>
              <a:effectLst/>
              <a:uFillTx/>
              <a:latin typeface="Arial"/>
            </a:endParaRPr>
          </a:p>
        </p:txBody>
      </p:sp>
      <p:sp>
        <p:nvSpPr>
          <p:cNvPr id="362"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6DF0610-F0E4-4B55-86FB-9126657A4C7C}"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 name="PlaceHolder 1"/>
          <p:cNvSpPr>
            <a:spLocks noGrp="1" noRot="1" noChangeAspect="1"/>
          </p:cNvSpPr>
          <p:nvPr>
            <p:ph type="sldImg"/>
          </p:nvPr>
        </p:nvSpPr>
        <p:spPr>
          <a:xfrm>
            <a:off x="685800" y="1143000"/>
            <a:ext cx="5486400" cy="3086100"/>
          </a:xfrm>
          <a:prstGeom prst="rect">
            <a:avLst/>
          </a:prstGeom>
          <a:ln w="0">
            <a:noFill/>
          </a:ln>
        </p:spPr>
      </p:sp>
      <p:sp>
        <p:nvSpPr>
          <p:cNvPr id="36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dirty="0">
                <a:solidFill>
                  <a:srgbClr val="000000"/>
                </a:solidFill>
                <a:effectLst/>
                <a:uFillTx/>
                <a:latin typeface="Arial"/>
              </a:rPr>
              <a:t>This is a simple whiteboard version. Explain MCP as controlled tool access and routing, with enterprise governance around it.</a:t>
            </a:r>
          </a:p>
        </p:txBody>
      </p:sp>
      <p:sp>
        <p:nvSpPr>
          <p:cNvPr id="365"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BA801BB-EA9E-4D9A-864D-57658D1D696B}" type="slidenum">
              <a:rPr lang="en-US" sz="1200" b="0" u="none" strike="noStrike">
                <a:solidFill>
                  <a:schemeClr val="dk1"/>
                </a:solidFill>
                <a:effectLst/>
                <a:uFillTx/>
                <a:latin typeface="+mn-lt"/>
                <a:ea typeface="+mn-ea"/>
              </a:rPr>
              <a:t>8</a:t>
            </a:fld>
            <a:endParaRPr lang="en-US" sz="12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 name="PlaceHolder 1"/>
          <p:cNvSpPr>
            <a:spLocks noGrp="1" noRot="1" noChangeAspect="1"/>
          </p:cNvSpPr>
          <p:nvPr>
            <p:ph type="sldImg"/>
          </p:nvPr>
        </p:nvSpPr>
        <p:spPr>
          <a:xfrm>
            <a:off x="685800" y="1143000"/>
            <a:ext cx="5486400" cy="3086100"/>
          </a:xfrm>
          <a:prstGeom prst="rect">
            <a:avLst/>
          </a:prstGeom>
          <a:ln w="0">
            <a:noFill/>
          </a:ln>
        </p:spPr>
      </p:sp>
      <p:sp>
        <p:nvSpPr>
          <p:cNvPr id="36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dirty="0">
                <a:solidFill>
                  <a:srgbClr val="000000"/>
                </a:solidFill>
                <a:effectLst/>
                <a:uFillTx/>
                <a:latin typeface="Arial"/>
              </a:rPr>
              <a:t>MCP is not a magic governance. It turns tools into an explicit contract, but enterprise policy and review still need to be designed.</a:t>
            </a:r>
          </a:p>
        </p:txBody>
      </p:sp>
      <p:sp>
        <p:nvSpPr>
          <p:cNvPr id="368"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F494863-8B81-4EE8-A42A-0C6DAC5A39C1}" type="slidenum">
              <a:rPr lang="en-US" sz="1200" b="0" u="none" strike="noStrike">
                <a:solidFill>
                  <a:schemeClr val="dk1"/>
                </a:solidFill>
                <a:effectLst/>
                <a:uFillTx/>
                <a:latin typeface="+mn-lt"/>
                <a:ea typeface="+mn-ea"/>
              </a:rPr>
              <a:t>9</a:t>
            </a:fld>
            <a:endParaRPr lang="en-US" sz="12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 name="PlaceHolder 1"/>
          <p:cNvSpPr>
            <a:spLocks noGrp="1" noRot="1" noChangeAspect="1"/>
          </p:cNvSpPr>
          <p:nvPr>
            <p:ph type="sldImg"/>
          </p:nvPr>
        </p:nvSpPr>
        <p:spPr>
          <a:xfrm>
            <a:off x="685800" y="1143000"/>
            <a:ext cx="5486400" cy="3086100"/>
          </a:xfrm>
          <a:prstGeom prst="rect">
            <a:avLst/>
          </a:prstGeom>
          <a:ln w="0">
            <a:noFill/>
          </a:ln>
        </p:spPr>
      </p:sp>
      <p:sp>
        <p:nvSpPr>
          <p:cNvPr id="37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sz="2000" dirty="0"/>
              <a:t>Here I am showing the difference between loose routing and a governed handoff.</a:t>
            </a:r>
          </a:p>
          <a:p>
            <a:r>
              <a:rPr lang="en-US" sz="2000" dirty="0"/>
              <a:t>On the left, the PCP agent sees ‘headache and nausea’ and immediately routes to two specialists. That is activity, but it does not prove the agent understood the case.</a:t>
            </a:r>
          </a:p>
          <a:p>
            <a:r>
              <a:rPr lang="en-US" sz="2000" dirty="0"/>
              <a:t>The problem is that the handoff is missing structure. We do not know when the symptoms started, how severe they are, whether they are changing, whether warning signs were checked, or why each specialist is being involved.</a:t>
            </a:r>
          </a:p>
          <a:p>
            <a:r>
              <a:rPr lang="en-US" sz="2000" dirty="0"/>
              <a:t>So I introduced a handoff contract.</a:t>
            </a:r>
          </a:p>
          <a:p>
            <a:r>
              <a:rPr lang="en-US" sz="2000" dirty="0"/>
              <a:t>The contract defines the minimum context that must move with the case before routing happens.</a:t>
            </a:r>
          </a:p>
          <a:p>
            <a:r>
              <a:rPr lang="en-US" sz="2000" dirty="0"/>
              <a:t>That includes symptom onset, severity and change, warning-sign checks, the reason for routing, the context being handed off, and the approval state.</a:t>
            </a:r>
          </a:p>
          <a:p>
            <a:r>
              <a:rPr lang="en-US" sz="2000" dirty="0"/>
              <a:t>The important point is that the orchestrator cannot simply decide to send the case somewhere. It has to satisfy the handoff requirements first.</a:t>
            </a:r>
          </a:p>
          <a:p>
            <a:r>
              <a:rPr lang="en-US" sz="2000" dirty="0"/>
              <a:t>If required context is missing, the workflow asks more questions before routing.</a:t>
            </a:r>
          </a:p>
          <a:p>
            <a:r>
              <a:rPr lang="en-US" sz="2000" dirty="0"/>
              <a:t>This makes the handoff testable. We can verify what context was collected, why the specialist was selected, and exactly what information moved between agents.</a:t>
            </a:r>
          </a:p>
          <a:p>
            <a:r>
              <a:rPr lang="en-US" sz="2000" dirty="0"/>
              <a:t>That is the shift from a loose multi-agent conversation to a governed workflow.”</a:t>
            </a:r>
          </a:p>
          <a:p>
            <a:pPr indent="0">
              <a:lnSpc>
                <a:spcPct val="100000"/>
              </a:lnSpc>
              <a:buNone/>
            </a:pPr>
            <a:endParaRPr lang="en-US" sz="2000" b="0" u="none" strike="noStrike" dirty="0">
              <a:solidFill>
                <a:srgbClr val="000000"/>
              </a:solidFill>
              <a:effectLst/>
              <a:uFillTx/>
              <a:latin typeface="Arial"/>
            </a:endParaRPr>
          </a:p>
        </p:txBody>
      </p:sp>
      <p:sp>
        <p:nvSpPr>
          <p:cNvPr id="371"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55B0100-1C58-402C-8ECF-341739740526}" type="slidenum">
              <a:rPr lang="en-US" sz="1200" b="0" u="none" strike="noStrike">
                <a:solidFill>
                  <a:schemeClr val="dk1"/>
                </a:solidFill>
                <a:effectLst/>
                <a:uFillTx/>
                <a:latin typeface="+mn-lt"/>
                <a:ea typeface="+mn-ea"/>
              </a:rPr>
              <a:t>10</a:t>
            </a:fld>
            <a:endParaRPr lang="en-US" sz="1200" b="0" u="none" strike="noStrike">
              <a:solidFill>
                <a:srgbClr val="000000"/>
              </a:solidFill>
              <a:effectLst/>
              <a:uFillTx/>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E6FCE-889D-5A60-E4AF-A930FE0009E1}"/>
            </a:ext>
          </a:extLst>
        </p:cNvPr>
        <p:cNvGrpSpPr/>
        <p:nvPr/>
      </p:nvGrpSpPr>
      <p:grpSpPr>
        <a:xfrm>
          <a:off x="0" y="0"/>
          <a:ext cx="0" cy="0"/>
          <a:chOff x="0" y="0"/>
          <a:chExt cx="0" cy="0"/>
        </a:xfrm>
      </p:grpSpPr>
      <p:sp>
        <p:nvSpPr>
          <p:cNvPr id="372" name="PlaceHolder 1">
            <a:extLst>
              <a:ext uri="{FF2B5EF4-FFF2-40B4-BE49-F238E27FC236}">
                <a16:creationId xmlns:a16="http://schemas.microsoft.com/office/drawing/2014/main" id="{03F7776F-04E6-AEF4-968D-7FAD42E5584D}"/>
              </a:ext>
            </a:extLst>
          </p:cNvPr>
          <p:cNvSpPr>
            <a:spLocks noGrp="1" noRot="1" noChangeAspect="1"/>
          </p:cNvSpPr>
          <p:nvPr>
            <p:ph type="sldImg"/>
          </p:nvPr>
        </p:nvSpPr>
        <p:spPr>
          <a:xfrm>
            <a:off x="685800" y="1143000"/>
            <a:ext cx="5486400" cy="3086100"/>
          </a:xfrm>
          <a:prstGeom prst="rect">
            <a:avLst/>
          </a:prstGeom>
          <a:ln w="0">
            <a:noFill/>
          </a:ln>
        </p:spPr>
      </p:sp>
      <p:sp>
        <p:nvSpPr>
          <p:cNvPr id="373" name="PlaceHolder 2">
            <a:extLst>
              <a:ext uri="{FF2B5EF4-FFF2-40B4-BE49-F238E27FC236}">
                <a16:creationId xmlns:a16="http://schemas.microsoft.com/office/drawing/2014/main" id="{F80C8CEC-AC36-509F-A723-B51DC9F836D8}"/>
              </a:ext>
            </a:extLst>
          </p:cNvPr>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dirty="0">
                <a:solidFill>
                  <a:srgbClr val="000000"/>
                </a:solidFill>
                <a:effectLst/>
                <a:uFillTx/>
                <a:latin typeface="Arial"/>
              </a:rPr>
              <a:t>Treat this as a production lesson. Testing cannot start after the demo. The test strategy shapes the design. </a:t>
            </a:r>
            <a:r>
              <a:rPr lang="en-US" sz="2000" dirty="0"/>
              <a:t>this path must also be testable over time. Every model, prompt, tool, policy, or routing change can alter behavior, so you need:</a:t>
            </a:r>
            <a:br>
              <a:rPr lang="en-US" sz="2000" dirty="0"/>
            </a:br>
            <a:r>
              <a:rPr lang="en-US" sz="2000" dirty="0"/>
              <a:t>Expected path defined</a:t>
            </a:r>
            <a:br>
              <a:rPr lang="en-US" sz="2000" dirty="0"/>
            </a:br>
            <a:r>
              <a:rPr lang="en-US" sz="2000" dirty="0"/>
              <a:t>Tool parameters validated</a:t>
            </a:r>
            <a:br>
              <a:rPr lang="en-US" sz="2000" dirty="0"/>
            </a:br>
            <a:r>
              <a:rPr lang="en-US" sz="2000" dirty="0"/>
              <a:t>Trace captured</a:t>
            </a:r>
            <a:br>
              <a:rPr lang="en-US" sz="2000" dirty="0"/>
            </a:br>
            <a:r>
              <a:rPr lang="en-US" sz="2000" dirty="0"/>
              <a:t>Failures classified</a:t>
            </a:r>
            <a:br>
              <a:rPr lang="en-US" sz="2000" dirty="0"/>
            </a:br>
            <a:r>
              <a:rPr lang="en-US" sz="2000" dirty="0"/>
              <a:t>Behavior monitored</a:t>
            </a:r>
            <a:endParaRPr lang="en-US" sz="2000" b="0" u="none" strike="noStrike" dirty="0">
              <a:solidFill>
                <a:srgbClr val="000000"/>
              </a:solidFill>
              <a:effectLst/>
              <a:uFillTx/>
              <a:latin typeface="Arial"/>
            </a:endParaRPr>
          </a:p>
        </p:txBody>
      </p:sp>
      <p:sp>
        <p:nvSpPr>
          <p:cNvPr id="374" name="PlaceHolder 3">
            <a:extLst>
              <a:ext uri="{FF2B5EF4-FFF2-40B4-BE49-F238E27FC236}">
                <a16:creationId xmlns:a16="http://schemas.microsoft.com/office/drawing/2014/main" id="{830056B7-654A-3ADF-67DE-AAC0052D2D48}"/>
              </a:ext>
            </a:extLst>
          </p:cNvPr>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C9C41A5-BE0C-4EAE-82D6-FF22E5D053D6}"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Times New Roman"/>
            </a:endParaRPr>
          </a:p>
        </p:txBody>
      </p:sp>
    </p:spTree>
    <p:extLst>
      <p:ext uri="{BB962C8B-B14F-4D97-AF65-F5344CB8AC3E}">
        <p14:creationId xmlns:p14="http://schemas.microsoft.com/office/powerpoint/2010/main" val="37435589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 name="PlaceHolder 1"/>
          <p:cNvSpPr>
            <a:spLocks noGrp="1" noRot="1" noChangeAspect="1"/>
          </p:cNvSpPr>
          <p:nvPr>
            <p:ph type="sldImg"/>
          </p:nvPr>
        </p:nvSpPr>
        <p:spPr>
          <a:xfrm>
            <a:off x="685800" y="1143000"/>
            <a:ext cx="5486400" cy="3086100"/>
          </a:xfrm>
          <a:prstGeom prst="rect">
            <a:avLst/>
          </a:prstGeom>
          <a:ln w="0">
            <a:noFill/>
          </a:ln>
        </p:spPr>
      </p:sp>
      <p:sp>
        <p:nvSpPr>
          <p:cNvPr id="37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dirty="0">
                <a:solidFill>
                  <a:srgbClr val="000000"/>
                </a:solidFill>
                <a:effectLst/>
                <a:uFillTx/>
                <a:latin typeface="Arial"/>
              </a:rPr>
              <a:t>This slide protects the message. You are not claiming autonomous clinical care. You are making the case for governed care navigation.</a:t>
            </a:r>
          </a:p>
        </p:txBody>
      </p:sp>
      <p:sp>
        <p:nvSpPr>
          <p:cNvPr id="377"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426F769-3F01-4BFA-BEB3-6AC8D18C9350}" type="slidenum">
              <a:rPr lang="en-US" sz="1200" b="0" u="none" strike="noStrike">
                <a:solidFill>
                  <a:schemeClr val="dk1"/>
                </a:solidFill>
                <a:effectLst/>
                <a:uFillTx/>
                <a:latin typeface="+mn-lt"/>
                <a:ea typeface="+mn-ea"/>
              </a:rPr>
              <a:t>12</a:t>
            </a:fld>
            <a:endParaRPr lang="en-US" sz="1200" b="0" u="none" strike="noStrike">
              <a:solidFill>
                <a:srgbClr val="000000"/>
              </a:solidFill>
              <a:effectLst/>
              <a:uFillTx/>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 name="PlaceHolder 1"/>
          <p:cNvSpPr>
            <a:spLocks noGrp="1" noRot="1" noChangeAspect="1"/>
          </p:cNvSpPr>
          <p:nvPr>
            <p:ph type="sldImg"/>
          </p:nvPr>
        </p:nvSpPr>
        <p:spPr>
          <a:xfrm>
            <a:off x="685800" y="1143000"/>
            <a:ext cx="5486400" cy="3086100"/>
          </a:xfrm>
          <a:prstGeom prst="rect">
            <a:avLst/>
          </a:prstGeom>
          <a:ln w="0">
            <a:noFill/>
          </a:ln>
        </p:spPr>
      </p:sp>
      <p:sp>
        <p:nvSpPr>
          <p:cNvPr id="37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dirty="0">
                <a:solidFill>
                  <a:srgbClr val="000000"/>
                </a:solidFill>
                <a:effectLst/>
                <a:uFillTx/>
                <a:latin typeface="Arial"/>
              </a:rPr>
              <a:t>Connect this to executives and architects. The boring controls make the system scalable.</a:t>
            </a:r>
          </a:p>
        </p:txBody>
      </p:sp>
      <p:sp>
        <p:nvSpPr>
          <p:cNvPr id="380"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561D27D-68E8-4541-8FA8-EB00B9144994}" type="slidenum">
              <a:rPr lang="en-US" sz="1200" b="0" u="none" strike="noStrike">
                <a:solidFill>
                  <a:schemeClr val="dk1"/>
                </a:solidFill>
                <a:effectLst/>
                <a:uFillTx/>
                <a:latin typeface="+mn-lt"/>
                <a:ea typeface="+mn-ea"/>
              </a:rPr>
              <a:t>13</a:t>
            </a:fld>
            <a:endParaRPr lang="en-US" sz="1200" b="0" u="none" strike="noStrike">
              <a:solidFill>
                <a:srgbClr val="000000"/>
              </a:solidFill>
              <a:effectLst/>
              <a:uFillTx/>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 name="PlaceHolder 1"/>
          <p:cNvSpPr>
            <a:spLocks noGrp="1" noRot="1" noChangeAspect="1"/>
          </p:cNvSpPr>
          <p:nvPr>
            <p:ph type="sldImg"/>
          </p:nvPr>
        </p:nvSpPr>
        <p:spPr>
          <a:xfrm>
            <a:off x="685800" y="1143000"/>
            <a:ext cx="5486400" cy="3086100"/>
          </a:xfrm>
          <a:prstGeom prst="rect">
            <a:avLst/>
          </a:prstGeom>
          <a:ln w="0">
            <a:noFill/>
          </a:ln>
        </p:spPr>
      </p:sp>
      <p:sp>
        <p:nvSpPr>
          <p:cNvPr id="38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dirty="0">
                <a:solidFill>
                  <a:srgbClr val="000000"/>
                </a:solidFill>
                <a:effectLst/>
                <a:uFillTx/>
                <a:latin typeface="Arial"/>
              </a:rPr>
              <a:t>This is the closing slide. Use it to land the answer to the summit follow-up question.</a:t>
            </a:r>
          </a:p>
        </p:txBody>
      </p:sp>
      <p:sp>
        <p:nvSpPr>
          <p:cNvPr id="383"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84D57C1-D0B2-438A-9BCF-C571DC930E50}" type="slidenum">
              <a:rPr lang="en-US" sz="1200" b="0" u="none" strike="noStrike">
                <a:solidFill>
                  <a:schemeClr val="dk1"/>
                </a:solidFill>
                <a:effectLst/>
                <a:uFillTx/>
                <a:latin typeface="+mn-lt"/>
                <a:ea typeface="+mn-ea"/>
              </a:rPr>
              <a:t>14</a:t>
            </a:fld>
            <a:endParaRPr lang="en-US" sz="1200" b="0" u="none" strike="noStrike">
              <a:solidFill>
                <a:srgbClr val="000000"/>
              </a:solidFill>
              <a:effectLst/>
              <a:uFillTx/>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 name="PlaceHolder 1"/>
          <p:cNvSpPr>
            <a:spLocks noGrp="1" noRot="1" noChangeAspect="1"/>
          </p:cNvSpPr>
          <p:nvPr>
            <p:ph type="sldImg"/>
          </p:nvPr>
        </p:nvSpPr>
        <p:spPr>
          <a:xfrm>
            <a:off x="685800" y="1143000"/>
            <a:ext cx="5486040" cy="3085920"/>
          </a:xfrm>
          <a:prstGeom prst="rect">
            <a:avLst/>
          </a:prstGeom>
          <a:ln w="0">
            <a:noFill/>
          </a:ln>
        </p:spPr>
      </p:sp>
      <p:sp>
        <p:nvSpPr>
          <p:cNvPr id="38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Optional backup slide. It can stay hidden or remain after the close.</a:t>
            </a:r>
          </a:p>
        </p:txBody>
      </p:sp>
      <p:sp>
        <p:nvSpPr>
          <p:cNvPr id="386"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564FDBF-43F6-44FD-B9E2-33F211E68F3C}" type="slidenum">
              <a:rPr lang="en-US" sz="1200" b="0" u="none" strike="noStrike">
                <a:solidFill>
                  <a:schemeClr val="dk1"/>
                </a:solidFill>
                <a:effectLst/>
                <a:uFillTx/>
                <a:latin typeface="+mn-lt"/>
                <a:ea typeface="+mn-ea"/>
              </a:rPr>
              <a:t>15</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Arial"/>
              </a:rPr>
              <a:t>Click to edit the title text format</a:t>
            </a:r>
          </a:p>
        </p:txBody>
      </p:sp>
      <p:sp>
        <p:nvSpPr>
          <p:cNvPr id="3" name="PlaceHolder 2"/>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Arial"/>
              </a:rPr>
              <a:t>Third Outline Level</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Arial"/>
              </a:rPr>
              <a:t>Seventh Outline Level</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Image 0" descr="/mnt/data/template_extract/ppt/media/image7.jpg"/>
          <p:cNvPicPr/>
          <p:nvPr/>
        </p:nvPicPr>
        <p:blipFill>
          <a:blip r:embed="rId3"/>
          <a:stretch/>
        </p:blipFill>
        <p:spPr>
          <a:xfrm>
            <a:off x="0" y="0"/>
            <a:ext cx="12191400" cy="6857640"/>
          </a:xfrm>
          <a:prstGeom prst="rect">
            <a:avLst/>
          </a:prstGeom>
          <a:noFill/>
          <a:ln w="0">
            <a:noFill/>
          </a:ln>
        </p:spPr>
      </p:pic>
      <p:pic>
        <p:nvPicPr>
          <p:cNvPr id="9" name="Image 1" descr="/mnt/data/template_extract/ppt/media/image2.png"/>
          <p:cNvPicPr/>
          <p:nvPr/>
        </p:nvPicPr>
        <p:blipFill>
          <a:blip r:embed="rId4"/>
          <a:stretch/>
        </p:blipFill>
        <p:spPr>
          <a:xfrm>
            <a:off x="438840" y="347400"/>
            <a:ext cx="2880000" cy="658080"/>
          </a:xfrm>
          <a:prstGeom prst="rect">
            <a:avLst/>
          </a:prstGeom>
          <a:noFill/>
          <a:ln w="0">
            <a:noFill/>
          </a:ln>
        </p:spPr>
      </p:pic>
      <p:pic>
        <p:nvPicPr>
          <p:cNvPr id="10" name="Image 2" descr="/mnt/data/template_extract/ppt/media/image3.png"/>
          <p:cNvPicPr/>
          <p:nvPr/>
        </p:nvPicPr>
        <p:blipFill>
          <a:blip r:embed="rId5"/>
          <a:stretch/>
        </p:blipFill>
        <p:spPr>
          <a:xfrm>
            <a:off x="9144000" y="475560"/>
            <a:ext cx="2514240" cy="694440"/>
          </a:xfrm>
          <a:prstGeom prst="rect">
            <a:avLst/>
          </a:prstGeom>
          <a:noFill/>
          <a:ln w="0">
            <a:noFill/>
          </a:ln>
        </p:spPr>
      </p:pic>
      <p:sp>
        <p:nvSpPr>
          <p:cNvPr id="11" name="Text 0"/>
          <p:cNvSpPr/>
          <p:nvPr/>
        </p:nvSpPr>
        <p:spPr>
          <a:xfrm>
            <a:off x="527632" y="3479580"/>
            <a:ext cx="7954920" cy="959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3700" b="1" u="none" strike="noStrike" dirty="0">
                <a:solidFill>
                  <a:srgbClr val="FFFFFF"/>
                </a:solidFill>
                <a:effectLst/>
                <a:uFillTx/>
                <a:latin typeface="Arial"/>
                <a:ea typeface="Arial"/>
              </a:rPr>
              <a:t>When Physicians Cannot</a:t>
            </a:r>
            <a:endParaRPr lang="en-US" sz="3700" b="0" u="none" strike="noStrike" dirty="0">
              <a:solidFill>
                <a:srgbClr val="000000"/>
              </a:solidFill>
              <a:effectLst/>
              <a:uFillTx/>
              <a:latin typeface="Arial"/>
            </a:endParaRPr>
          </a:p>
          <a:p>
            <a:pPr defTabSz="914400">
              <a:lnSpc>
                <a:spcPct val="100000"/>
              </a:lnSpc>
              <a:tabLst>
                <a:tab pos="0" algn="l"/>
              </a:tabLst>
            </a:pPr>
            <a:r>
              <a:rPr lang="en-US" sz="3700" b="1" u="none" strike="noStrike" dirty="0">
                <a:solidFill>
                  <a:srgbClr val="FFFFFF"/>
                </a:solidFill>
                <a:effectLst/>
                <a:uFillTx/>
                <a:latin typeface="Arial"/>
                <a:ea typeface="Arial"/>
              </a:rPr>
              <a:t>Connect the Dots</a:t>
            </a:r>
            <a:endParaRPr lang="en-US" sz="3700" b="0" u="none" strike="noStrike" dirty="0">
              <a:solidFill>
                <a:srgbClr val="000000"/>
              </a:solidFill>
              <a:effectLst/>
              <a:uFillTx/>
              <a:latin typeface="Arial"/>
            </a:endParaRPr>
          </a:p>
        </p:txBody>
      </p:sp>
      <p:sp>
        <p:nvSpPr>
          <p:cNvPr id="12" name="Text 1"/>
          <p:cNvSpPr/>
          <p:nvPr/>
        </p:nvSpPr>
        <p:spPr>
          <a:xfrm>
            <a:off x="527632" y="4439340"/>
            <a:ext cx="80463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dirty="0">
                <a:solidFill>
                  <a:srgbClr val="65D6F6"/>
                </a:solidFill>
                <a:effectLst/>
                <a:uFillTx/>
                <a:latin typeface="Arial"/>
                <a:ea typeface="Arial"/>
              </a:rPr>
              <a:t>Building a Governed Healthcare Agent with IBM Bob</a:t>
            </a:r>
            <a:endParaRPr lang="en-US" sz="1800" b="0" u="none" strike="noStrike" dirty="0">
              <a:solidFill>
                <a:srgbClr val="000000"/>
              </a:solidFill>
              <a:effectLst/>
              <a:uFillTx/>
              <a:latin typeface="Arial"/>
            </a:endParaRPr>
          </a:p>
        </p:txBody>
      </p:sp>
      <p:sp>
        <p:nvSpPr>
          <p:cNvPr id="13" name="Text 2"/>
          <p:cNvSpPr/>
          <p:nvPr/>
        </p:nvSpPr>
        <p:spPr>
          <a:xfrm>
            <a:off x="527632" y="4858110"/>
            <a:ext cx="8761334"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0" u="none" strike="noStrike" dirty="0">
                <a:solidFill>
                  <a:srgbClr val="D9F4FF"/>
                </a:solidFill>
                <a:effectLst/>
                <a:uFillTx/>
                <a:latin typeface="Arial"/>
                <a:ea typeface="Arial"/>
              </a:rPr>
              <a:t>A practical case study on multi-agent orchestration, MCP integration, deterministic controls, and human oversight.</a:t>
            </a:r>
            <a:endParaRPr lang="en-US" sz="1350" b="0" u="none" strike="noStrike" dirty="0">
              <a:solidFill>
                <a:srgbClr val="000000"/>
              </a:solidFill>
              <a:effectLst/>
              <a:uFillTx/>
              <a:latin typeface="Arial"/>
            </a:endParaRPr>
          </a:p>
        </p:txBody>
      </p:sp>
      <p:sp>
        <p:nvSpPr>
          <p:cNvPr id="14" name="Text 3"/>
          <p:cNvSpPr/>
          <p:nvPr/>
        </p:nvSpPr>
        <p:spPr>
          <a:xfrm>
            <a:off x="527632" y="5371740"/>
            <a:ext cx="3901733"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80" b="0" u="none" strike="noStrike" dirty="0">
                <a:solidFill>
                  <a:srgbClr val="FFFFFF"/>
                </a:solidFill>
                <a:effectLst/>
                <a:uFillTx/>
                <a:latin typeface="Arial"/>
                <a:ea typeface="Arial"/>
              </a:rPr>
              <a:t>Monika Aggarwal</a:t>
            </a:r>
            <a:endParaRPr lang="en-US" sz="1280" dirty="0">
              <a:solidFill>
                <a:srgbClr val="000000"/>
              </a:solidFill>
              <a:latin typeface="Arial"/>
            </a:endParaRPr>
          </a:p>
          <a:p>
            <a:pPr defTabSz="914400">
              <a:lnSpc>
                <a:spcPct val="100000"/>
              </a:lnSpc>
              <a:tabLst>
                <a:tab pos="0" algn="l"/>
              </a:tabLst>
            </a:pPr>
            <a:r>
              <a:rPr lang="en-US" sz="1280" b="0" u="none" strike="noStrike" dirty="0">
                <a:solidFill>
                  <a:srgbClr val="FFFFFF"/>
                </a:solidFill>
                <a:effectLst/>
                <a:uFillTx/>
                <a:latin typeface="Arial"/>
                <a:ea typeface="Arial"/>
              </a:rPr>
              <a:t>Enterprise AI and GTM leader, IBM</a:t>
            </a:r>
            <a:endParaRPr lang="en-US" sz="1280" b="0" u="none" strike="noStrike" dirty="0">
              <a:solidFill>
                <a:srgbClr val="000000"/>
              </a:solidFill>
              <a:effectLst/>
              <a:uFillTx/>
              <a:latin typeface="Arial"/>
            </a:endParaRPr>
          </a:p>
        </p:txBody>
      </p:sp>
      <p:sp>
        <p:nvSpPr>
          <p:cNvPr id="15" name="Text 4"/>
          <p:cNvSpPr/>
          <p:nvPr/>
        </p:nvSpPr>
        <p:spPr>
          <a:xfrm>
            <a:off x="11567160" y="6455520"/>
            <a:ext cx="2282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9AA4A8"/>
                </a:solidFill>
                <a:effectLst/>
                <a:uFillTx/>
                <a:latin typeface="Arial"/>
                <a:ea typeface="Arial"/>
              </a:rPr>
              <a:t>1</a:t>
            </a:r>
            <a:endParaRPr lang="en-US" sz="750" b="0" u="none" strike="noStrike">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6" name="Image 0" descr="/mnt/data/applied_template_content.jpg"/>
          <p:cNvPicPr/>
          <p:nvPr/>
        </p:nvPicPr>
        <p:blipFill>
          <a:blip r:embed="rId3"/>
          <a:stretch/>
        </p:blipFill>
        <p:spPr>
          <a:xfrm>
            <a:off x="0" y="360"/>
            <a:ext cx="12191400" cy="6857640"/>
          </a:xfrm>
          <a:prstGeom prst="rect">
            <a:avLst/>
          </a:prstGeom>
          <a:noFill/>
          <a:ln w="0">
            <a:noFill/>
          </a:ln>
        </p:spPr>
      </p:pic>
      <p:pic>
        <p:nvPicPr>
          <p:cNvPr id="17" name="Image 1" descr="/mnt/data/template_extract/ppt/media/image2.png"/>
          <p:cNvPicPr/>
          <p:nvPr/>
        </p:nvPicPr>
        <p:blipFill>
          <a:blip r:embed="rId4"/>
          <a:stretch/>
        </p:blipFill>
        <p:spPr>
          <a:xfrm>
            <a:off x="9738360" y="6291000"/>
            <a:ext cx="2057040" cy="475200"/>
          </a:xfrm>
          <a:prstGeom prst="rect">
            <a:avLst/>
          </a:prstGeom>
          <a:noFill/>
          <a:ln w="0">
            <a:noFill/>
          </a:ln>
        </p:spPr>
      </p:pic>
      <p:sp>
        <p:nvSpPr>
          <p:cNvPr id="18" name="Text 0"/>
          <p:cNvSpPr/>
          <p:nvPr/>
        </p:nvSpPr>
        <p:spPr>
          <a:xfrm>
            <a:off x="502920" y="347400"/>
            <a:ext cx="969228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u="none" strike="noStrike">
                <a:solidFill>
                  <a:srgbClr val="FFFFFF"/>
                </a:solidFill>
                <a:effectLst/>
                <a:uFillTx/>
                <a:latin typeface="Arial"/>
                <a:ea typeface="Arial"/>
              </a:rPr>
              <a:t>Core thesis</a:t>
            </a:r>
            <a:endParaRPr lang="en-US" sz="2600" b="0" u="none" strike="noStrike">
              <a:solidFill>
                <a:srgbClr val="000000"/>
              </a:solidFill>
              <a:effectLst/>
              <a:uFillTx/>
              <a:latin typeface="Arial"/>
            </a:endParaRPr>
          </a:p>
        </p:txBody>
      </p:sp>
      <p:sp>
        <p:nvSpPr>
          <p:cNvPr id="19" name="Text 1"/>
          <p:cNvSpPr/>
          <p:nvPr/>
        </p:nvSpPr>
        <p:spPr>
          <a:xfrm>
            <a:off x="530280" y="822960"/>
            <a:ext cx="932652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tabLst>
                <a:tab pos="0" algn="l"/>
              </a:tabLst>
            </a:pPr>
            <a:r>
              <a:rPr lang="en-US" sz="1150" b="0" u="none" strike="noStrike" dirty="0">
                <a:solidFill>
                  <a:srgbClr val="CFEAF5"/>
                </a:solidFill>
                <a:effectLst/>
                <a:uFillTx/>
                <a:latin typeface="Arial"/>
                <a:ea typeface="Arial"/>
              </a:rPr>
              <a:t>A busy agent can still be wrong</a:t>
            </a:r>
          </a:p>
          <a:p>
            <a:pPr>
              <a:tabLst>
                <a:tab pos="0" algn="l"/>
              </a:tabLst>
            </a:pPr>
            <a:endParaRPr lang="en-US" sz="1150" b="0" u="none" strike="noStrike" dirty="0">
              <a:solidFill>
                <a:srgbClr val="000000"/>
              </a:solidFill>
              <a:effectLst/>
              <a:uFillTx/>
              <a:latin typeface="Arial"/>
            </a:endParaRPr>
          </a:p>
        </p:txBody>
      </p:sp>
      <p:sp>
        <p:nvSpPr>
          <p:cNvPr id="20" name="Text 2"/>
          <p:cNvSpPr/>
          <p:nvPr/>
        </p:nvSpPr>
        <p:spPr>
          <a:xfrm>
            <a:off x="585360" y="1874520"/>
            <a:ext cx="4754520" cy="420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t">
            <a:normAutofit fontScale="92500" lnSpcReduction="10000"/>
          </a:bodyPr>
          <a:lstStyle/>
          <a:p>
            <a:pPr defTabSz="914400">
              <a:lnSpc>
                <a:spcPct val="100000"/>
              </a:lnSpc>
              <a:tabLst>
                <a:tab pos="0" algn="l"/>
              </a:tabLst>
            </a:pPr>
            <a:endParaRPr lang="en-US" sz="3000" b="0" u="none" strike="noStrike" dirty="0">
              <a:solidFill>
                <a:srgbClr val="000000"/>
              </a:solidFill>
              <a:effectLst/>
              <a:uFillTx/>
              <a:latin typeface="Arial"/>
            </a:endParaRPr>
          </a:p>
        </p:txBody>
      </p:sp>
      <p:sp>
        <p:nvSpPr>
          <p:cNvPr id="22" name="Shape 4"/>
          <p:cNvSpPr/>
          <p:nvPr/>
        </p:nvSpPr>
        <p:spPr>
          <a:xfrm>
            <a:off x="658440" y="3273480"/>
            <a:ext cx="3382920" cy="1170000"/>
          </a:xfrm>
          <a:prstGeom prst="rect">
            <a:avLst/>
          </a:prstGeom>
          <a:solidFill>
            <a:srgbClr val="FFF4C7"/>
          </a:solidFill>
          <a:ln w="12700">
            <a:solidFill>
              <a:srgbClr val="D8C45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3" name="Text 5"/>
          <p:cNvSpPr/>
          <p:nvPr/>
        </p:nvSpPr>
        <p:spPr>
          <a:xfrm>
            <a:off x="786240" y="3383280"/>
            <a:ext cx="3126960" cy="950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800" b="0" u="none" strike="noStrike" dirty="0">
                <a:solidFill>
                  <a:srgbClr val="162021"/>
                </a:solidFill>
                <a:effectLst/>
                <a:uFillTx/>
                <a:latin typeface="Comic Sans MS"/>
                <a:ea typeface="Comic Sans MS"/>
              </a:rPr>
              <a:t>Safe healthcare AI needs workflow and deterministic controls</a:t>
            </a:r>
          </a:p>
        </p:txBody>
      </p:sp>
      <p:sp>
        <p:nvSpPr>
          <p:cNvPr id="24" name="Shape 6"/>
          <p:cNvSpPr/>
          <p:nvPr/>
        </p:nvSpPr>
        <p:spPr>
          <a:xfrm>
            <a:off x="6080760" y="1865520"/>
            <a:ext cx="1462680" cy="731160"/>
          </a:xfrm>
          <a:prstGeom prst="roundRect">
            <a:avLst>
              <a:gd name="adj" fmla="val 10000"/>
            </a:avLst>
          </a:prstGeom>
          <a:solidFill>
            <a:srgbClr val="FFF5F5"/>
          </a:solidFill>
          <a:ln w="19050">
            <a:solidFill>
              <a:srgbClr val="9E2A2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 name="Text 7"/>
          <p:cNvSpPr/>
          <p:nvPr/>
        </p:nvSpPr>
        <p:spPr>
          <a:xfrm>
            <a:off x="6190560" y="1974960"/>
            <a:ext cx="1243080" cy="511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1" u="none" strike="noStrike">
                <a:solidFill>
                  <a:srgbClr val="9E2A2B"/>
                </a:solidFill>
                <a:effectLst/>
                <a:uFillTx/>
                <a:latin typeface="Comic Sans MS"/>
                <a:ea typeface="Comic Sans MS"/>
              </a:rPr>
              <a:t>loose</a:t>
            </a:r>
            <a:endParaRPr lang="en-US" sz="1400" b="0" u="none" strike="noStrike">
              <a:solidFill>
                <a:srgbClr val="000000"/>
              </a:solidFill>
              <a:effectLst/>
              <a:uFillTx/>
              <a:latin typeface="Arial"/>
            </a:endParaRPr>
          </a:p>
          <a:p>
            <a:pPr algn="ctr" defTabSz="914400">
              <a:lnSpc>
                <a:spcPct val="100000"/>
              </a:lnSpc>
              <a:tabLst>
                <a:tab pos="0" algn="l"/>
              </a:tabLst>
            </a:pPr>
            <a:r>
              <a:rPr lang="en-US" sz="1400" b="1" u="none" strike="noStrike">
                <a:solidFill>
                  <a:srgbClr val="9E2A2B"/>
                </a:solidFill>
                <a:effectLst/>
                <a:uFillTx/>
                <a:latin typeface="Comic Sans MS"/>
                <a:ea typeface="Comic Sans MS"/>
              </a:rPr>
              <a:t>autonomy</a:t>
            </a:r>
            <a:endParaRPr lang="en-US" sz="1400" b="0" u="none" strike="noStrike">
              <a:solidFill>
                <a:srgbClr val="000000"/>
              </a:solidFill>
              <a:effectLst/>
              <a:uFillTx/>
              <a:latin typeface="Arial"/>
            </a:endParaRPr>
          </a:p>
        </p:txBody>
      </p:sp>
      <p:sp>
        <p:nvSpPr>
          <p:cNvPr id="26" name="Shape 8"/>
          <p:cNvSpPr/>
          <p:nvPr/>
        </p:nvSpPr>
        <p:spPr>
          <a:xfrm>
            <a:off x="7635240" y="2240280"/>
            <a:ext cx="822960" cy="360"/>
          </a:xfrm>
          <a:prstGeom prst="line">
            <a:avLst/>
          </a:prstGeom>
          <a:ln w="16510">
            <a:solidFill>
              <a:srgbClr val="9E2A2B"/>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7" name="Shape 9"/>
          <p:cNvSpPr/>
          <p:nvPr/>
        </p:nvSpPr>
        <p:spPr>
          <a:xfrm>
            <a:off x="8558640" y="1865520"/>
            <a:ext cx="1462680" cy="731160"/>
          </a:xfrm>
          <a:prstGeom prst="roundRect">
            <a:avLst>
              <a:gd name="adj" fmla="val 10000"/>
            </a:avLst>
          </a:prstGeom>
          <a:solidFill>
            <a:srgbClr val="FFF5F5"/>
          </a:solidFill>
          <a:ln w="19050">
            <a:solidFill>
              <a:srgbClr val="9E2A2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 name="Text 10"/>
          <p:cNvSpPr/>
          <p:nvPr/>
        </p:nvSpPr>
        <p:spPr>
          <a:xfrm>
            <a:off x="8668440" y="1974960"/>
            <a:ext cx="1243080" cy="511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1" u="none" strike="noStrike">
                <a:solidFill>
                  <a:srgbClr val="9E2A2B"/>
                </a:solidFill>
                <a:effectLst/>
                <a:uFillTx/>
                <a:latin typeface="Comic Sans MS"/>
                <a:ea typeface="Comic Sans MS"/>
              </a:rPr>
              <a:t>wrong</a:t>
            </a:r>
            <a:endParaRPr lang="en-US" sz="1400" b="0" u="none" strike="noStrike">
              <a:solidFill>
                <a:srgbClr val="000000"/>
              </a:solidFill>
              <a:effectLst/>
              <a:uFillTx/>
              <a:latin typeface="Arial"/>
            </a:endParaRPr>
          </a:p>
          <a:p>
            <a:pPr algn="ctr" defTabSz="914400">
              <a:lnSpc>
                <a:spcPct val="100000"/>
              </a:lnSpc>
              <a:tabLst>
                <a:tab pos="0" algn="l"/>
              </a:tabLst>
            </a:pPr>
            <a:r>
              <a:rPr lang="en-US" sz="1400" b="1" u="none" strike="noStrike">
                <a:solidFill>
                  <a:srgbClr val="9E2A2B"/>
                </a:solidFill>
                <a:effectLst/>
                <a:uFillTx/>
                <a:latin typeface="Comic Sans MS"/>
                <a:ea typeface="Comic Sans MS"/>
              </a:rPr>
              <a:t>routing</a:t>
            </a:r>
            <a:endParaRPr lang="en-US" sz="1400" b="0" u="none" strike="noStrike">
              <a:solidFill>
                <a:srgbClr val="000000"/>
              </a:solidFill>
              <a:effectLst/>
              <a:uFillTx/>
              <a:latin typeface="Arial"/>
            </a:endParaRPr>
          </a:p>
        </p:txBody>
      </p:sp>
      <p:sp>
        <p:nvSpPr>
          <p:cNvPr id="29" name="Shape 11"/>
          <p:cNvSpPr/>
          <p:nvPr/>
        </p:nvSpPr>
        <p:spPr>
          <a:xfrm>
            <a:off x="10040040" y="2240280"/>
            <a:ext cx="704160" cy="360"/>
          </a:xfrm>
          <a:prstGeom prst="line">
            <a:avLst/>
          </a:prstGeom>
          <a:ln w="16510">
            <a:solidFill>
              <a:srgbClr val="9E2A2B"/>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0" name="Shape 12"/>
          <p:cNvSpPr/>
          <p:nvPr/>
        </p:nvSpPr>
        <p:spPr>
          <a:xfrm>
            <a:off x="10817280" y="1865520"/>
            <a:ext cx="1096920" cy="731160"/>
          </a:xfrm>
          <a:prstGeom prst="roundRect">
            <a:avLst>
              <a:gd name="adj" fmla="val 10000"/>
            </a:avLst>
          </a:prstGeom>
          <a:solidFill>
            <a:srgbClr val="FFF5F5"/>
          </a:solidFill>
          <a:ln w="19050">
            <a:solidFill>
              <a:srgbClr val="9E2A2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1" name="Text 13"/>
          <p:cNvSpPr/>
          <p:nvPr/>
        </p:nvSpPr>
        <p:spPr>
          <a:xfrm>
            <a:off x="10927080" y="1974960"/>
            <a:ext cx="877320" cy="511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1" u="none" strike="noStrike">
                <a:solidFill>
                  <a:srgbClr val="9E2A2B"/>
                </a:solidFill>
                <a:effectLst/>
                <a:uFillTx/>
                <a:latin typeface="Comic Sans MS"/>
                <a:ea typeface="Comic Sans MS"/>
              </a:rPr>
              <a:t>weak</a:t>
            </a:r>
            <a:endParaRPr lang="en-US" sz="1300" b="0" u="none" strike="noStrike">
              <a:solidFill>
                <a:srgbClr val="000000"/>
              </a:solidFill>
              <a:effectLst/>
              <a:uFillTx/>
              <a:latin typeface="Arial"/>
            </a:endParaRPr>
          </a:p>
          <a:p>
            <a:pPr algn="ctr" defTabSz="914400">
              <a:lnSpc>
                <a:spcPct val="100000"/>
              </a:lnSpc>
              <a:tabLst>
                <a:tab pos="0" algn="l"/>
              </a:tabLst>
            </a:pPr>
            <a:r>
              <a:rPr lang="en-US" sz="1300" b="1" u="none" strike="noStrike">
                <a:solidFill>
                  <a:srgbClr val="9E2A2B"/>
                </a:solidFill>
                <a:effectLst/>
                <a:uFillTx/>
                <a:latin typeface="Comic Sans MS"/>
                <a:ea typeface="Comic Sans MS"/>
              </a:rPr>
              <a:t>handoffs</a:t>
            </a:r>
            <a:endParaRPr lang="en-US" sz="1300" b="0" u="none" strike="noStrike">
              <a:solidFill>
                <a:srgbClr val="000000"/>
              </a:solidFill>
              <a:effectLst/>
              <a:uFillTx/>
              <a:latin typeface="Arial"/>
            </a:endParaRPr>
          </a:p>
        </p:txBody>
      </p:sp>
      <p:sp>
        <p:nvSpPr>
          <p:cNvPr id="32" name="Shape 14"/>
          <p:cNvSpPr/>
          <p:nvPr/>
        </p:nvSpPr>
        <p:spPr>
          <a:xfrm>
            <a:off x="6080760" y="3401640"/>
            <a:ext cx="1554120" cy="731160"/>
          </a:xfrm>
          <a:prstGeom prst="roundRect">
            <a:avLst>
              <a:gd name="adj" fmla="val 10000"/>
            </a:avLst>
          </a:prstGeom>
          <a:solidFill>
            <a:srgbClr val="E8F5F2"/>
          </a:solidFill>
          <a:ln w="19050">
            <a:solidFill>
              <a:srgbClr val="0C796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3" name="Text 15"/>
          <p:cNvSpPr/>
          <p:nvPr/>
        </p:nvSpPr>
        <p:spPr>
          <a:xfrm>
            <a:off x="6190560" y="3511440"/>
            <a:ext cx="1334520" cy="511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1" u="none" strike="noStrike">
                <a:solidFill>
                  <a:srgbClr val="0C796D"/>
                </a:solidFill>
                <a:effectLst/>
                <a:uFillTx/>
                <a:latin typeface="Comic Sans MS"/>
                <a:ea typeface="Comic Sans MS"/>
              </a:rPr>
              <a:t>governed</a:t>
            </a:r>
            <a:endParaRPr lang="en-US" sz="1400" b="0" u="none" strike="noStrike">
              <a:solidFill>
                <a:srgbClr val="000000"/>
              </a:solidFill>
              <a:effectLst/>
              <a:uFillTx/>
              <a:latin typeface="Arial"/>
            </a:endParaRPr>
          </a:p>
          <a:p>
            <a:pPr algn="ctr" defTabSz="914400">
              <a:lnSpc>
                <a:spcPct val="100000"/>
              </a:lnSpc>
              <a:tabLst>
                <a:tab pos="0" algn="l"/>
              </a:tabLst>
            </a:pPr>
            <a:r>
              <a:rPr lang="en-US" sz="1400" b="1" u="none" strike="noStrike">
                <a:solidFill>
                  <a:srgbClr val="0C796D"/>
                </a:solidFill>
                <a:effectLst/>
                <a:uFillTx/>
                <a:latin typeface="Comic Sans MS"/>
                <a:ea typeface="Comic Sans MS"/>
              </a:rPr>
              <a:t>workflow</a:t>
            </a:r>
            <a:endParaRPr lang="en-US" sz="1400" b="0" u="none" strike="noStrike">
              <a:solidFill>
                <a:srgbClr val="000000"/>
              </a:solidFill>
              <a:effectLst/>
              <a:uFillTx/>
              <a:latin typeface="Arial"/>
            </a:endParaRPr>
          </a:p>
        </p:txBody>
      </p:sp>
      <p:sp>
        <p:nvSpPr>
          <p:cNvPr id="34" name="Shape 16"/>
          <p:cNvSpPr/>
          <p:nvPr/>
        </p:nvSpPr>
        <p:spPr>
          <a:xfrm>
            <a:off x="7726680" y="3776400"/>
            <a:ext cx="758880" cy="360"/>
          </a:xfrm>
          <a:prstGeom prst="line">
            <a:avLst/>
          </a:prstGeom>
          <a:ln w="16510">
            <a:solidFill>
              <a:srgbClr val="0C796D"/>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5" name="Shape 17"/>
          <p:cNvSpPr/>
          <p:nvPr/>
        </p:nvSpPr>
        <p:spPr>
          <a:xfrm>
            <a:off x="8577000" y="3401640"/>
            <a:ext cx="1554120" cy="731160"/>
          </a:xfrm>
          <a:prstGeom prst="roundRect">
            <a:avLst>
              <a:gd name="adj" fmla="val 10000"/>
            </a:avLst>
          </a:prstGeom>
          <a:solidFill>
            <a:srgbClr val="E8F5F2"/>
          </a:solidFill>
          <a:ln w="19050">
            <a:solidFill>
              <a:srgbClr val="0C796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6" name="Text 18"/>
          <p:cNvSpPr/>
          <p:nvPr/>
        </p:nvSpPr>
        <p:spPr>
          <a:xfrm>
            <a:off x="8686800" y="3511440"/>
            <a:ext cx="1334520" cy="511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1" u="none" strike="noStrike">
                <a:solidFill>
                  <a:srgbClr val="0C796D"/>
                </a:solidFill>
                <a:effectLst/>
                <a:uFillTx/>
                <a:latin typeface="Comic Sans MS"/>
                <a:ea typeface="Comic Sans MS"/>
              </a:rPr>
              <a:t>testable</a:t>
            </a:r>
            <a:endParaRPr lang="en-US" sz="1400" b="0" u="none" strike="noStrike">
              <a:solidFill>
                <a:srgbClr val="000000"/>
              </a:solidFill>
              <a:effectLst/>
              <a:uFillTx/>
              <a:latin typeface="Arial"/>
            </a:endParaRPr>
          </a:p>
          <a:p>
            <a:pPr algn="ctr" defTabSz="914400">
              <a:lnSpc>
                <a:spcPct val="100000"/>
              </a:lnSpc>
              <a:tabLst>
                <a:tab pos="0" algn="l"/>
              </a:tabLst>
            </a:pPr>
            <a:r>
              <a:rPr lang="en-US" sz="1400" b="1" u="none" strike="noStrike">
                <a:solidFill>
                  <a:srgbClr val="0C796D"/>
                </a:solidFill>
                <a:effectLst/>
                <a:uFillTx/>
                <a:latin typeface="Comic Sans MS"/>
                <a:ea typeface="Comic Sans MS"/>
              </a:rPr>
              <a:t>behavior</a:t>
            </a:r>
            <a:endParaRPr lang="en-US" sz="1400" b="0" u="none" strike="noStrike">
              <a:solidFill>
                <a:srgbClr val="000000"/>
              </a:solidFill>
              <a:effectLst/>
              <a:uFillTx/>
              <a:latin typeface="Arial"/>
            </a:endParaRPr>
          </a:p>
        </p:txBody>
      </p:sp>
      <p:sp>
        <p:nvSpPr>
          <p:cNvPr id="37" name="Shape 19"/>
          <p:cNvSpPr/>
          <p:nvPr/>
        </p:nvSpPr>
        <p:spPr>
          <a:xfrm>
            <a:off x="10222920" y="3776400"/>
            <a:ext cx="548640" cy="360"/>
          </a:xfrm>
          <a:prstGeom prst="line">
            <a:avLst/>
          </a:prstGeom>
          <a:ln w="16510">
            <a:solidFill>
              <a:srgbClr val="0C796D"/>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8" name="Shape 20"/>
          <p:cNvSpPr/>
          <p:nvPr/>
        </p:nvSpPr>
        <p:spPr>
          <a:xfrm>
            <a:off x="10844640" y="3401640"/>
            <a:ext cx="1078560" cy="731160"/>
          </a:xfrm>
          <a:prstGeom prst="roundRect">
            <a:avLst>
              <a:gd name="adj" fmla="val 10000"/>
            </a:avLst>
          </a:prstGeom>
          <a:solidFill>
            <a:srgbClr val="E8F5F2"/>
          </a:solidFill>
          <a:ln w="19050">
            <a:solidFill>
              <a:srgbClr val="0C796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9" name="Text 21"/>
          <p:cNvSpPr/>
          <p:nvPr/>
        </p:nvSpPr>
        <p:spPr>
          <a:xfrm>
            <a:off x="10954440" y="3511440"/>
            <a:ext cx="859320" cy="511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1" u="none" strike="noStrike">
                <a:solidFill>
                  <a:srgbClr val="0C796D"/>
                </a:solidFill>
                <a:effectLst/>
                <a:uFillTx/>
                <a:latin typeface="Comic Sans MS"/>
                <a:ea typeface="Comic Sans MS"/>
              </a:rPr>
              <a:t>human</a:t>
            </a:r>
            <a:endParaRPr lang="en-US" sz="1300" b="0" u="none" strike="noStrike">
              <a:solidFill>
                <a:srgbClr val="000000"/>
              </a:solidFill>
              <a:effectLst/>
              <a:uFillTx/>
              <a:latin typeface="Arial"/>
            </a:endParaRPr>
          </a:p>
          <a:p>
            <a:pPr algn="ctr" defTabSz="914400">
              <a:lnSpc>
                <a:spcPct val="100000"/>
              </a:lnSpc>
              <a:tabLst>
                <a:tab pos="0" algn="l"/>
              </a:tabLst>
            </a:pPr>
            <a:r>
              <a:rPr lang="en-US" sz="1300" b="1" u="none" strike="noStrike">
                <a:solidFill>
                  <a:srgbClr val="0C796D"/>
                </a:solidFill>
                <a:effectLst/>
                <a:uFillTx/>
                <a:latin typeface="Comic Sans MS"/>
                <a:ea typeface="Comic Sans MS"/>
              </a:rPr>
              <a:t>review</a:t>
            </a:r>
            <a:endParaRPr lang="en-US" sz="1300" b="0" u="none" strike="noStrike">
              <a:solidFill>
                <a:srgbClr val="000000"/>
              </a:solidFill>
              <a:effectLst/>
              <a:uFillTx/>
              <a:latin typeface="Arial"/>
            </a:endParaRPr>
          </a:p>
        </p:txBody>
      </p:sp>
      <p:sp>
        <p:nvSpPr>
          <p:cNvPr id="40" name="Text 22"/>
          <p:cNvSpPr/>
          <p:nvPr/>
        </p:nvSpPr>
        <p:spPr>
          <a:xfrm>
            <a:off x="658440" y="4919400"/>
            <a:ext cx="10698120" cy="5025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t">
            <a:normAutofit/>
          </a:bodyPr>
          <a:lstStyle/>
          <a:p>
            <a:pPr defTabSz="914400">
              <a:lnSpc>
                <a:spcPct val="100000"/>
              </a:lnSpc>
              <a:tabLst>
                <a:tab pos="0" algn="l"/>
              </a:tabLst>
            </a:pPr>
            <a:r>
              <a:rPr lang="en-US" sz="1700" b="1" u="none" strike="noStrike" dirty="0">
                <a:solidFill>
                  <a:srgbClr val="162021"/>
                </a:solidFill>
                <a:effectLst/>
                <a:uFillTx/>
                <a:latin typeface="Arial"/>
                <a:ea typeface="Arial"/>
              </a:rPr>
              <a:t>Takeaway: Agent reasoning is useful only inside a designed care-navigation path.</a:t>
            </a:r>
            <a:endParaRPr lang="en-US" sz="1700" b="0" u="none" strike="noStrike" dirty="0">
              <a:solidFill>
                <a:srgbClr val="000000"/>
              </a:solidFill>
              <a:effectLst/>
              <a:uFillTx/>
              <a:latin typeface="Arial"/>
            </a:endParaRPr>
          </a:p>
        </p:txBody>
      </p:sp>
      <p:sp>
        <p:nvSpPr>
          <p:cNvPr id="41" name="Text 23"/>
          <p:cNvSpPr/>
          <p:nvPr/>
        </p:nvSpPr>
        <p:spPr>
          <a:xfrm>
            <a:off x="11567160" y="6455520"/>
            <a:ext cx="2282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9AA4A8"/>
                </a:solidFill>
                <a:effectLst/>
                <a:uFillTx/>
                <a:latin typeface="Arial"/>
                <a:ea typeface="Arial"/>
              </a:rPr>
              <a:t>2</a:t>
            </a:r>
            <a:endParaRPr lang="en-US" sz="75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2" name="Image 0" descr="/mnt/data/applied_template_content.jpg"/>
          <p:cNvPicPr/>
          <p:nvPr/>
        </p:nvPicPr>
        <p:blipFill>
          <a:blip r:embed="rId3"/>
          <a:stretch/>
        </p:blipFill>
        <p:spPr>
          <a:xfrm>
            <a:off x="0" y="0"/>
            <a:ext cx="12191400" cy="6857640"/>
          </a:xfrm>
          <a:prstGeom prst="rect">
            <a:avLst/>
          </a:prstGeom>
          <a:noFill/>
          <a:ln w="0">
            <a:noFill/>
          </a:ln>
        </p:spPr>
      </p:pic>
      <p:pic>
        <p:nvPicPr>
          <p:cNvPr id="43" name="Image 1" descr="/mnt/data/template_extract/ppt/media/image2.png"/>
          <p:cNvPicPr/>
          <p:nvPr/>
        </p:nvPicPr>
        <p:blipFill>
          <a:blip r:embed="rId4"/>
          <a:stretch/>
        </p:blipFill>
        <p:spPr>
          <a:xfrm>
            <a:off x="9738360" y="6291000"/>
            <a:ext cx="2057040" cy="475200"/>
          </a:xfrm>
          <a:prstGeom prst="rect">
            <a:avLst/>
          </a:prstGeom>
          <a:noFill/>
          <a:ln w="0">
            <a:noFill/>
          </a:ln>
        </p:spPr>
      </p:pic>
      <p:sp>
        <p:nvSpPr>
          <p:cNvPr id="44" name="Text 0"/>
          <p:cNvSpPr/>
          <p:nvPr/>
        </p:nvSpPr>
        <p:spPr>
          <a:xfrm>
            <a:off x="502920" y="347400"/>
            <a:ext cx="969228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u="none" strike="noStrike">
                <a:solidFill>
                  <a:srgbClr val="FFFFFF"/>
                </a:solidFill>
                <a:effectLst/>
                <a:uFillTx/>
                <a:latin typeface="Arial"/>
                <a:ea typeface="Arial"/>
              </a:rPr>
              <a:t>The personal starting point</a:t>
            </a:r>
            <a:endParaRPr lang="en-US" sz="2600" b="0" u="none" strike="noStrike">
              <a:solidFill>
                <a:srgbClr val="000000"/>
              </a:solidFill>
              <a:effectLst/>
              <a:uFillTx/>
              <a:latin typeface="Arial"/>
            </a:endParaRPr>
          </a:p>
        </p:txBody>
      </p:sp>
      <p:sp>
        <p:nvSpPr>
          <p:cNvPr id="45" name="Text 1"/>
          <p:cNvSpPr/>
          <p:nvPr/>
        </p:nvSpPr>
        <p:spPr>
          <a:xfrm>
            <a:off x="530280" y="822960"/>
            <a:ext cx="932652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CFEAF5"/>
                </a:solidFill>
                <a:effectLst/>
                <a:uFillTx/>
                <a:latin typeface="Arial"/>
                <a:ea typeface="Arial"/>
              </a:rPr>
              <a:t>The patient often becomes the integration layer</a:t>
            </a:r>
            <a:endParaRPr lang="en-US" sz="1150" b="0" u="none" strike="noStrike">
              <a:solidFill>
                <a:srgbClr val="000000"/>
              </a:solidFill>
              <a:effectLst/>
              <a:uFillTx/>
              <a:latin typeface="Arial"/>
            </a:endParaRPr>
          </a:p>
        </p:txBody>
      </p:sp>
      <p:sp>
        <p:nvSpPr>
          <p:cNvPr id="46" name="Text 2"/>
          <p:cNvSpPr/>
          <p:nvPr/>
        </p:nvSpPr>
        <p:spPr>
          <a:xfrm>
            <a:off x="640080" y="1847160"/>
            <a:ext cx="5943240" cy="13255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t">
            <a:normAutofit/>
          </a:bodyPr>
          <a:lstStyle/>
          <a:p>
            <a:pPr marL="342900" indent="-342900">
              <a:buFont typeface="Arial" panose="020B0604020202020204" pitchFamily="34" charset="0"/>
              <a:buChar char="•"/>
              <a:tabLst>
                <a:tab pos="0" algn="l"/>
              </a:tabLst>
            </a:pPr>
            <a:r>
              <a:rPr lang="en-US" sz="2000" dirty="0"/>
              <a:t>Multiple specialists</a:t>
            </a:r>
          </a:p>
          <a:p>
            <a:pPr marL="342900" indent="-342900">
              <a:buFont typeface="Arial" panose="020B0604020202020204" pitchFamily="34" charset="0"/>
              <a:buChar char="•"/>
              <a:tabLst>
                <a:tab pos="0" algn="l"/>
              </a:tabLst>
            </a:pPr>
            <a:r>
              <a:rPr lang="en-US" sz="2000" dirty="0"/>
              <a:t>Fragmented context</a:t>
            </a:r>
          </a:p>
          <a:p>
            <a:pPr marL="342900" indent="-342900">
              <a:buFont typeface="Arial" panose="020B0604020202020204" pitchFamily="34" charset="0"/>
              <a:buChar char="•"/>
              <a:tabLst>
                <a:tab pos="0" algn="l"/>
              </a:tabLst>
            </a:pPr>
            <a:r>
              <a:rPr lang="en-US" sz="2000" b="0" u="none" strike="noStrike" dirty="0">
                <a:solidFill>
                  <a:srgbClr val="000000"/>
                </a:solidFill>
                <a:effectLst/>
                <a:uFillTx/>
                <a:latin typeface="Arial"/>
              </a:rPr>
              <a:t>Who will connect the </a:t>
            </a:r>
            <a:r>
              <a:rPr lang="en-US" sz="2000" dirty="0">
                <a:solidFill>
                  <a:srgbClr val="000000"/>
                </a:solidFill>
                <a:latin typeface="Arial"/>
              </a:rPr>
              <a:t>Dots?</a:t>
            </a:r>
            <a:endParaRPr lang="en-US" sz="1850" b="0" u="none" strike="noStrike" dirty="0">
              <a:solidFill>
                <a:srgbClr val="000000"/>
              </a:solidFill>
              <a:effectLst/>
              <a:uFillTx/>
              <a:latin typeface="Arial"/>
            </a:endParaRPr>
          </a:p>
        </p:txBody>
      </p:sp>
      <p:sp>
        <p:nvSpPr>
          <p:cNvPr id="47" name="Shape 3"/>
          <p:cNvSpPr/>
          <p:nvPr/>
        </p:nvSpPr>
        <p:spPr>
          <a:xfrm>
            <a:off x="6995160" y="1874520"/>
            <a:ext cx="1234080" cy="594000"/>
          </a:xfrm>
          <a:prstGeom prst="roundRect">
            <a:avLst>
              <a:gd name="adj" fmla="val 12308"/>
            </a:avLst>
          </a:prstGeom>
          <a:solidFill>
            <a:srgbClr val="FFFFFF"/>
          </a:solidFill>
          <a:ln w="19050">
            <a:solidFill>
              <a:srgbClr val="16202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8" name="Text 4"/>
          <p:cNvSpPr/>
          <p:nvPr/>
        </p:nvSpPr>
        <p:spPr>
          <a:xfrm>
            <a:off x="7104960" y="1984320"/>
            <a:ext cx="1014480" cy="374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162021"/>
                </a:solidFill>
                <a:effectLst/>
                <a:uFillTx/>
                <a:latin typeface="Comic Sans MS"/>
                <a:ea typeface="Comic Sans MS"/>
              </a:rPr>
              <a:t>Patient</a:t>
            </a:r>
            <a:endParaRPr lang="en-US" sz="1600" b="0" u="none" strike="noStrike">
              <a:solidFill>
                <a:srgbClr val="000000"/>
              </a:solidFill>
              <a:effectLst/>
              <a:uFillTx/>
              <a:latin typeface="Arial"/>
            </a:endParaRPr>
          </a:p>
        </p:txBody>
      </p:sp>
      <p:sp>
        <p:nvSpPr>
          <p:cNvPr id="49" name="Shape 5"/>
          <p:cNvSpPr/>
          <p:nvPr/>
        </p:nvSpPr>
        <p:spPr>
          <a:xfrm>
            <a:off x="8823960" y="1481400"/>
            <a:ext cx="1416960" cy="502560"/>
          </a:xfrm>
          <a:prstGeom prst="roundRect">
            <a:avLst>
              <a:gd name="adj" fmla="val 14545"/>
            </a:avLst>
          </a:prstGeom>
          <a:solidFill>
            <a:srgbClr val="FFFFFF"/>
          </a:solidFill>
          <a:ln w="19050">
            <a:solidFill>
              <a:srgbClr val="0C796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0" name="Text 6"/>
          <p:cNvSpPr/>
          <p:nvPr/>
        </p:nvSpPr>
        <p:spPr>
          <a:xfrm>
            <a:off x="8933760" y="1591200"/>
            <a:ext cx="1197360" cy="282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0" u="none" strike="noStrike">
                <a:solidFill>
                  <a:srgbClr val="0C796D"/>
                </a:solidFill>
                <a:effectLst/>
                <a:uFillTx/>
                <a:latin typeface="Comic Sans MS"/>
                <a:ea typeface="Comic Sans MS"/>
              </a:rPr>
              <a:t>Specialist A</a:t>
            </a:r>
            <a:endParaRPr lang="en-US" sz="1300" b="0" u="none" strike="noStrike">
              <a:solidFill>
                <a:srgbClr val="000000"/>
              </a:solidFill>
              <a:effectLst/>
              <a:uFillTx/>
              <a:latin typeface="Arial"/>
            </a:endParaRPr>
          </a:p>
        </p:txBody>
      </p:sp>
      <p:sp>
        <p:nvSpPr>
          <p:cNvPr id="51" name="Shape 7"/>
          <p:cNvSpPr/>
          <p:nvPr/>
        </p:nvSpPr>
        <p:spPr>
          <a:xfrm>
            <a:off x="8823960" y="2212920"/>
            <a:ext cx="1416960" cy="502560"/>
          </a:xfrm>
          <a:prstGeom prst="roundRect">
            <a:avLst>
              <a:gd name="adj" fmla="val 14545"/>
            </a:avLst>
          </a:prstGeom>
          <a:solidFill>
            <a:srgbClr val="FFFFFF"/>
          </a:solidFill>
          <a:ln w="19050">
            <a:solidFill>
              <a:srgbClr val="0C796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2" name="Text 8"/>
          <p:cNvSpPr/>
          <p:nvPr/>
        </p:nvSpPr>
        <p:spPr>
          <a:xfrm>
            <a:off x="8933760" y="2322720"/>
            <a:ext cx="1197360" cy="282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0" u="none" strike="noStrike">
                <a:solidFill>
                  <a:srgbClr val="0C796D"/>
                </a:solidFill>
                <a:effectLst/>
                <a:uFillTx/>
                <a:latin typeface="Comic Sans MS"/>
                <a:ea typeface="Comic Sans MS"/>
              </a:rPr>
              <a:t>Specialist B</a:t>
            </a:r>
            <a:endParaRPr lang="en-US" sz="1300" b="0" u="none" strike="noStrike">
              <a:solidFill>
                <a:srgbClr val="000000"/>
              </a:solidFill>
              <a:effectLst/>
              <a:uFillTx/>
              <a:latin typeface="Arial"/>
            </a:endParaRPr>
          </a:p>
        </p:txBody>
      </p:sp>
      <p:sp>
        <p:nvSpPr>
          <p:cNvPr id="53" name="Shape 9"/>
          <p:cNvSpPr/>
          <p:nvPr/>
        </p:nvSpPr>
        <p:spPr>
          <a:xfrm>
            <a:off x="8823960" y="2944440"/>
            <a:ext cx="1416960" cy="502560"/>
          </a:xfrm>
          <a:prstGeom prst="roundRect">
            <a:avLst>
              <a:gd name="adj" fmla="val 14545"/>
            </a:avLst>
          </a:prstGeom>
          <a:solidFill>
            <a:srgbClr val="FFFFFF"/>
          </a:solidFill>
          <a:ln w="19050">
            <a:solidFill>
              <a:srgbClr val="169B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4" name="Text 10"/>
          <p:cNvSpPr/>
          <p:nvPr/>
        </p:nvSpPr>
        <p:spPr>
          <a:xfrm>
            <a:off x="8933760" y="3054240"/>
            <a:ext cx="1197360" cy="282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0" u="none" strike="noStrike">
                <a:solidFill>
                  <a:srgbClr val="169BD5"/>
                </a:solidFill>
                <a:effectLst/>
                <a:uFillTx/>
                <a:latin typeface="Comic Sans MS"/>
                <a:ea typeface="Comic Sans MS"/>
              </a:rPr>
              <a:t>Labs</a:t>
            </a:r>
            <a:endParaRPr lang="en-US" sz="1300" b="0" u="none" strike="noStrike">
              <a:solidFill>
                <a:srgbClr val="000000"/>
              </a:solidFill>
              <a:effectLst/>
              <a:uFillTx/>
              <a:latin typeface="Arial"/>
            </a:endParaRPr>
          </a:p>
        </p:txBody>
      </p:sp>
      <p:sp>
        <p:nvSpPr>
          <p:cNvPr id="55" name="Shape 11"/>
          <p:cNvSpPr/>
          <p:nvPr/>
        </p:nvSpPr>
        <p:spPr>
          <a:xfrm>
            <a:off x="8823960" y="3675960"/>
            <a:ext cx="1416960" cy="502560"/>
          </a:xfrm>
          <a:prstGeom prst="roundRect">
            <a:avLst>
              <a:gd name="adj" fmla="val 14545"/>
            </a:avLst>
          </a:prstGeom>
          <a:solidFill>
            <a:srgbClr val="FFFFFF"/>
          </a:solidFill>
          <a:ln w="19050">
            <a:solidFill>
              <a:srgbClr val="169B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6" name="Text 12"/>
          <p:cNvSpPr/>
          <p:nvPr/>
        </p:nvSpPr>
        <p:spPr>
          <a:xfrm>
            <a:off x="8933760" y="3785760"/>
            <a:ext cx="1197360" cy="282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0" u="none" strike="noStrike">
                <a:solidFill>
                  <a:srgbClr val="169BD5"/>
                </a:solidFill>
                <a:effectLst/>
                <a:uFillTx/>
                <a:latin typeface="Comic Sans MS"/>
                <a:ea typeface="Comic Sans MS"/>
              </a:rPr>
              <a:t>Messages</a:t>
            </a:r>
            <a:endParaRPr lang="en-US" sz="1300" b="0" u="none" strike="noStrike">
              <a:solidFill>
                <a:srgbClr val="000000"/>
              </a:solidFill>
              <a:effectLst/>
              <a:uFillTx/>
              <a:latin typeface="Arial"/>
            </a:endParaRPr>
          </a:p>
        </p:txBody>
      </p:sp>
      <p:sp>
        <p:nvSpPr>
          <p:cNvPr id="57" name="Shape 13"/>
          <p:cNvSpPr/>
          <p:nvPr/>
        </p:nvSpPr>
        <p:spPr>
          <a:xfrm flipV="1">
            <a:off x="8229600" y="1737360"/>
            <a:ext cx="566640" cy="429480"/>
          </a:xfrm>
          <a:prstGeom prst="line">
            <a:avLst/>
          </a:prstGeom>
          <a:ln w="13970">
            <a:solidFill>
              <a:srgbClr val="162021"/>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8" name="Shape 14"/>
          <p:cNvSpPr/>
          <p:nvPr/>
        </p:nvSpPr>
        <p:spPr>
          <a:xfrm>
            <a:off x="8229600" y="2166840"/>
            <a:ext cx="566640" cy="283680"/>
          </a:xfrm>
          <a:prstGeom prst="line">
            <a:avLst/>
          </a:prstGeom>
          <a:ln w="13970">
            <a:solidFill>
              <a:srgbClr val="162021"/>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9" name="Shape 15"/>
          <p:cNvSpPr/>
          <p:nvPr/>
        </p:nvSpPr>
        <p:spPr>
          <a:xfrm>
            <a:off x="8229600" y="2166840"/>
            <a:ext cx="566640" cy="1015200"/>
          </a:xfrm>
          <a:prstGeom prst="line">
            <a:avLst/>
          </a:prstGeom>
          <a:ln w="13970">
            <a:solidFill>
              <a:srgbClr val="162021"/>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0" name="Shape 16"/>
          <p:cNvSpPr/>
          <p:nvPr/>
        </p:nvSpPr>
        <p:spPr>
          <a:xfrm>
            <a:off x="8229600" y="2166840"/>
            <a:ext cx="566640" cy="1737360"/>
          </a:xfrm>
          <a:prstGeom prst="line">
            <a:avLst/>
          </a:prstGeom>
          <a:ln w="13970">
            <a:solidFill>
              <a:srgbClr val="162021"/>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1" name="Shape 17"/>
          <p:cNvSpPr/>
          <p:nvPr/>
        </p:nvSpPr>
        <p:spPr>
          <a:xfrm>
            <a:off x="786240" y="3703320"/>
            <a:ext cx="5028840" cy="1206720"/>
          </a:xfrm>
          <a:prstGeom prst="rect">
            <a:avLst/>
          </a:prstGeom>
          <a:solidFill>
            <a:srgbClr val="E8F5F2"/>
          </a:solidFill>
          <a:ln w="12700">
            <a:solidFill>
              <a:srgbClr val="A8D7D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2" name="Text 18"/>
          <p:cNvSpPr/>
          <p:nvPr/>
        </p:nvSpPr>
        <p:spPr>
          <a:xfrm>
            <a:off x="914400" y="3813120"/>
            <a:ext cx="4772880" cy="9871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600" b="0" u="none" strike="noStrike">
                <a:solidFill>
                  <a:srgbClr val="162021"/>
                </a:solidFill>
                <a:effectLst/>
                <a:uFillTx/>
                <a:latin typeface="Comic Sans MS"/>
                <a:ea typeface="Comic Sans MS"/>
              </a:rPr>
              <a:t>The burden shifted to the patient:</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62021"/>
                </a:solidFill>
                <a:effectLst/>
                <a:uFillTx/>
                <a:latin typeface="Comic Sans MS"/>
                <a:ea typeface="Comic Sans MS"/>
              </a:rPr>
              <a:t>what changed, who knew what, and what should happen next?</a:t>
            </a:r>
            <a:endParaRPr lang="en-US" sz="1600" b="0" u="none" strike="noStrike">
              <a:solidFill>
                <a:srgbClr val="000000"/>
              </a:solidFill>
              <a:effectLst/>
              <a:uFillTx/>
              <a:latin typeface="Arial"/>
            </a:endParaRPr>
          </a:p>
        </p:txBody>
      </p:sp>
      <p:sp>
        <p:nvSpPr>
          <p:cNvPr id="63" name="Text 19"/>
          <p:cNvSpPr/>
          <p:nvPr/>
        </p:nvSpPr>
        <p:spPr>
          <a:xfrm>
            <a:off x="6839640" y="4754880"/>
            <a:ext cx="4251600" cy="5666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t">
            <a:normAutofit fontScale="92500"/>
          </a:bodyPr>
          <a:lstStyle/>
          <a:p>
            <a:pPr defTabSz="914400">
              <a:lnSpc>
                <a:spcPct val="100000"/>
              </a:lnSpc>
              <a:tabLst>
                <a:tab pos="0" algn="l"/>
              </a:tabLst>
            </a:pPr>
            <a:r>
              <a:rPr lang="en-US" sz="1650" b="1" u="none" strike="noStrike">
                <a:solidFill>
                  <a:srgbClr val="0C796D"/>
                </a:solidFill>
                <a:effectLst/>
                <a:uFillTx/>
                <a:latin typeface="Arial"/>
                <a:ea typeface="Arial"/>
              </a:rPr>
              <a:t>Design lens: support care navigation without pretending the agent is a physician.</a:t>
            </a:r>
            <a:endParaRPr lang="en-US" sz="1650" b="0" u="none" strike="noStrike">
              <a:solidFill>
                <a:srgbClr val="000000"/>
              </a:solidFill>
              <a:effectLst/>
              <a:uFillTx/>
              <a:latin typeface="Arial"/>
            </a:endParaRPr>
          </a:p>
        </p:txBody>
      </p:sp>
      <p:sp>
        <p:nvSpPr>
          <p:cNvPr id="64" name="Text 20"/>
          <p:cNvSpPr/>
          <p:nvPr/>
        </p:nvSpPr>
        <p:spPr>
          <a:xfrm>
            <a:off x="11567160" y="6455520"/>
            <a:ext cx="2282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9AA4A8"/>
                </a:solidFill>
                <a:effectLst/>
                <a:uFillTx/>
                <a:latin typeface="Arial"/>
                <a:ea typeface="Arial"/>
              </a:rPr>
              <a:t>3</a:t>
            </a:r>
            <a:endParaRPr lang="en-US" sz="750" b="0" u="none" strike="noStrike">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65" name="Image 0" descr="/mnt/data/applied_template_content.jpg"/>
          <p:cNvPicPr/>
          <p:nvPr/>
        </p:nvPicPr>
        <p:blipFill>
          <a:blip r:embed="rId3"/>
          <a:stretch/>
        </p:blipFill>
        <p:spPr>
          <a:xfrm>
            <a:off x="0" y="0"/>
            <a:ext cx="12191400" cy="6857640"/>
          </a:xfrm>
          <a:prstGeom prst="rect">
            <a:avLst/>
          </a:prstGeom>
          <a:noFill/>
          <a:ln w="0">
            <a:noFill/>
          </a:ln>
        </p:spPr>
      </p:pic>
      <p:pic>
        <p:nvPicPr>
          <p:cNvPr id="66" name="Image 1" descr="/mnt/data/template_extract/ppt/media/image2.png"/>
          <p:cNvPicPr/>
          <p:nvPr/>
        </p:nvPicPr>
        <p:blipFill>
          <a:blip r:embed="rId4"/>
          <a:stretch/>
        </p:blipFill>
        <p:spPr>
          <a:xfrm>
            <a:off x="9738360" y="6291000"/>
            <a:ext cx="2057040" cy="475200"/>
          </a:xfrm>
          <a:prstGeom prst="rect">
            <a:avLst/>
          </a:prstGeom>
          <a:noFill/>
          <a:ln w="0">
            <a:noFill/>
          </a:ln>
        </p:spPr>
      </p:pic>
      <p:sp>
        <p:nvSpPr>
          <p:cNvPr id="67" name="Text 0"/>
          <p:cNvSpPr/>
          <p:nvPr/>
        </p:nvSpPr>
        <p:spPr>
          <a:xfrm>
            <a:off x="502920" y="347400"/>
            <a:ext cx="969228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u="none" strike="noStrike" dirty="0">
                <a:solidFill>
                  <a:srgbClr val="FFFFFF"/>
                </a:solidFill>
                <a:effectLst/>
                <a:uFillTx/>
                <a:latin typeface="Arial"/>
                <a:ea typeface="Arial"/>
              </a:rPr>
              <a:t>Why did I choose this </a:t>
            </a:r>
            <a:r>
              <a:rPr lang="en-US" sz="2600" b="1" dirty="0">
                <a:solidFill>
                  <a:srgbClr val="FFFFFF"/>
                </a:solidFill>
                <a:latin typeface="Arial"/>
                <a:ea typeface="Arial"/>
              </a:rPr>
              <a:t>Use Case?</a:t>
            </a:r>
            <a:endParaRPr lang="en-US" sz="2600" b="0" u="none" strike="noStrike" dirty="0">
              <a:solidFill>
                <a:srgbClr val="000000"/>
              </a:solidFill>
              <a:effectLst/>
              <a:uFillTx/>
              <a:latin typeface="Arial"/>
            </a:endParaRPr>
          </a:p>
        </p:txBody>
      </p:sp>
      <p:sp>
        <p:nvSpPr>
          <p:cNvPr id="68" name="Text 1"/>
          <p:cNvSpPr/>
          <p:nvPr/>
        </p:nvSpPr>
        <p:spPr>
          <a:xfrm>
            <a:off x="530280" y="822960"/>
            <a:ext cx="932652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CFEAF5"/>
                </a:solidFill>
                <a:effectLst/>
                <a:uFillTx/>
                <a:latin typeface="Arial"/>
                <a:ea typeface="Arial"/>
              </a:rPr>
              <a:t>The story sits at the intersection of healthcare, enterprise AI, and product delivery</a:t>
            </a:r>
            <a:endParaRPr lang="en-US" sz="1150" b="0" u="none" strike="noStrike">
              <a:solidFill>
                <a:srgbClr val="000000"/>
              </a:solidFill>
              <a:effectLst/>
              <a:uFillTx/>
              <a:latin typeface="Arial"/>
            </a:endParaRPr>
          </a:p>
        </p:txBody>
      </p:sp>
      <p:sp>
        <p:nvSpPr>
          <p:cNvPr id="69" name="Shape 2"/>
          <p:cNvSpPr/>
          <p:nvPr/>
        </p:nvSpPr>
        <p:spPr>
          <a:xfrm>
            <a:off x="749880" y="1691640"/>
            <a:ext cx="2239920" cy="475200"/>
          </a:xfrm>
          <a:prstGeom prst="roundRect">
            <a:avLst>
              <a:gd name="adj" fmla="val 15385"/>
            </a:avLst>
          </a:prstGeom>
          <a:solidFill>
            <a:srgbClr val="FFFFFF"/>
          </a:solidFill>
          <a:ln w="19050">
            <a:solidFill>
              <a:srgbClr val="0C796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0" name="Text 3"/>
          <p:cNvSpPr/>
          <p:nvPr/>
        </p:nvSpPr>
        <p:spPr>
          <a:xfrm>
            <a:off x="859680" y="1801440"/>
            <a:ext cx="2020320" cy="255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400" b="1" u="none" strike="noStrike">
                <a:solidFill>
                  <a:srgbClr val="0C796D"/>
                </a:solidFill>
                <a:effectLst/>
                <a:uFillTx/>
                <a:latin typeface="Arial"/>
                <a:ea typeface="Arial"/>
              </a:rPr>
              <a:t>Healthcare delivery</a:t>
            </a:r>
            <a:endParaRPr lang="en-US" sz="1400" b="0" u="none" strike="noStrike">
              <a:solidFill>
                <a:srgbClr val="000000"/>
              </a:solidFill>
              <a:effectLst/>
              <a:uFillTx/>
              <a:latin typeface="Arial"/>
            </a:endParaRPr>
          </a:p>
        </p:txBody>
      </p:sp>
      <p:sp>
        <p:nvSpPr>
          <p:cNvPr id="71" name="Text 4"/>
          <p:cNvSpPr/>
          <p:nvPr/>
        </p:nvSpPr>
        <p:spPr>
          <a:xfrm>
            <a:off x="3291840" y="1728360"/>
            <a:ext cx="7131960" cy="4568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t">
            <a:normAutofit/>
          </a:bodyPr>
          <a:lstStyle/>
          <a:p>
            <a:pPr defTabSz="914400">
              <a:lnSpc>
                <a:spcPct val="100000"/>
              </a:lnSpc>
              <a:tabLst>
                <a:tab pos="0" algn="l"/>
              </a:tabLst>
            </a:pPr>
            <a:r>
              <a:rPr lang="en-US" sz="1620" b="0" u="none" strike="noStrike" dirty="0">
                <a:solidFill>
                  <a:srgbClr val="162021"/>
                </a:solidFill>
                <a:effectLst/>
                <a:uFillTx/>
                <a:latin typeface="Arial"/>
                <a:ea typeface="Arial"/>
              </a:rPr>
              <a:t> AI-enabled clinical workflow and remote patient monitoring solutions</a:t>
            </a:r>
            <a:endParaRPr lang="en-US" sz="1620" b="0" u="none" strike="noStrike" dirty="0">
              <a:solidFill>
                <a:srgbClr val="000000"/>
              </a:solidFill>
              <a:effectLst/>
              <a:uFillTx/>
              <a:latin typeface="Arial"/>
            </a:endParaRPr>
          </a:p>
        </p:txBody>
      </p:sp>
      <p:sp>
        <p:nvSpPr>
          <p:cNvPr id="72" name="Shape 5"/>
          <p:cNvSpPr/>
          <p:nvPr/>
        </p:nvSpPr>
        <p:spPr>
          <a:xfrm>
            <a:off x="749880" y="2514600"/>
            <a:ext cx="2239920" cy="475200"/>
          </a:xfrm>
          <a:prstGeom prst="roundRect">
            <a:avLst>
              <a:gd name="adj" fmla="val 15385"/>
            </a:avLst>
          </a:prstGeom>
          <a:solidFill>
            <a:srgbClr val="FFFFFF"/>
          </a:solidFill>
          <a:ln w="19050">
            <a:solidFill>
              <a:srgbClr val="0C796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3" name="Text 6"/>
          <p:cNvSpPr/>
          <p:nvPr/>
        </p:nvSpPr>
        <p:spPr>
          <a:xfrm>
            <a:off x="859680" y="2624400"/>
            <a:ext cx="2020320" cy="255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400" b="1" u="none" strike="noStrike">
                <a:solidFill>
                  <a:srgbClr val="0C796D"/>
                </a:solidFill>
                <a:effectLst/>
                <a:uFillTx/>
                <a:latin typeface="Arial"/>
                <a:ea typeface="Arial"/>
              </a:rPr>
              <a:t>Enterprise AI</a:t>
            </a:r>
            <a:endParaRPr lang="en-US" sz="1400" b="0" u="none" strike="noStrike">
              <a:solidFill>
                <a:srgbClr val="000000"/>
              </a:solidFill>
              <a:effectLst/>
              <a:uFillTx/>
              <a:latin typeface="Arial"/>
            </a:endParaRPr>
          </a:p>
        </p:txBody>
      </p:sp>
      <p:sp>
        <p:nvSpPr>
          <p:cNvPr id="74" name="Text 7"/>
          <p:cNvSpPr/>
          <p:nvPr/>
        </p:nvSpPr>
        <p:spPr>
          <a:xfrm>
            <a:off x="3291840" y="2551320"/>
            <a:ext cx="7131960" cy="4568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t">
            <a:normAutofit/>
          </a:bodyPr>
          <a:lstStyle/>
          <a:p>
            <a:pPr defTabSz="914400">
              <a:lnSpc>
                <a:spcPct val="100000"/>
              </a:lnSpc>
              <a:tabLst>
                <a:tab pos="0" algn="l"/>
              </a:tabLst>
            </a:pPr>
            <a:r>
              <a:rPr lang="en-US" sz="1620" dirty="0">
                <a:solidFill>
                  <a:srgbClr val="162021"/>
                </a:solidFill>
                <a:latin typeface="Arial"/>
                <a:ea typeface="Arial"/>
              </a:rPr>
              <a:t>A</a:t>
            </a:r>
            <a:r>
              <a:rPr lang="en-US" sz="1620" b="0" u="none" strike="noStrike" dirty="0">
                <a:solidFill>
                  <a:srgbClr val="162021"/>
                </a:solidFill>
                <a:effectLst/>
                <a:uFillTx/>
                <a:latin typeface="Arial"/>
                <a:ea typeface="Arial"/>
              </a:rPr>
              <a:t>gentic AI strategies, reusable architectures, and production-focus</a:t>
            </a:r>
            <a:endParaRPr lang="en-US" sz="1620" b="0" u="none" strike="noStrike" dirty="0">
              <a:solidFill>
                <a:srgbClr val="000000"/>
              </a:solidFill>
              <a:effectLst/>
              <a:uFillTx/>
              <a:latin typeface="Arial"/>
            </a:endParaRPr>
          </a:p>
        </p:txBody>
      </p:sp>
      <p:sp>
        <p:nvSpPr>
          <p:cNvPr id="75" name="Shape 8"/>
          <p:cNvSpPr/>
          <p:nvPr/>
        </p:nvSpPr>
        <p:spPr>
          <a:xfrm>
            <a:off x="749880" y="3337560"/>
            <a:ext cx="2239920" cy="475200"/>
          </a:xfrm>
          <a:prstGeom prst="roundRect">
            <a:avLst>
              <a:gd name="adj" fmla="val 15385"/>
            </a:avLst>
          </a:prstGeom>
          <a:solidFill>
            <a:srgbClr val="FFFFFF"/>
          </a:solidFill>
          <a:ln w="19050">
            <a:solidFill>
              <a:srgbClr val="0C796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6" name="Text 9"/>
          <p:cNvSpPr/>
          <p:nvPr/>
        </p:nvSpPr>
        <p:spPr>
          <a:xfrm>
            <a:off x="859680" y="3447360"/>
            <a:ext cx="2020320" cy="255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400" b="1" u="none" strike="noStrike">
                <a:solidFill>
                  <a:srgbClr val="0C796D"/>
                </a:solidFill>
                <a:effectLst/>
                <a:uFillTx/>
                <a:latin typeface="Arial"/>
                <a:ea typeface="Arial"/>
              </a:rPr>
              <a:t>Technical eminence</a:t>
            </a:r>
            <a:endParaRPr lang="en-US" sz="1400" b="0" u="none" strike="noStrike">
              <a:solidFill>
                <a:srgbClr val="000000"/>
              </a:solidFill>
              <a:effectLst/>
              <a:uFillTx/>
              <a:latin typeface="Arial"/>
            </a:endParaRPr>
          </a:p>
        </p:txBody>
      </p:sp>
      <p:sp>
        <p:nvSpPr>
          <p:cNvPr id="77" name="Text 10"/>
          <p:cNvSpPr/>
          <p:nvPr/>
        </p:nvSpPr>
        <p:spPr>
          <a:xfrm>
            <a:off x="3291840" y="3374280"/>
            <a:ext cx="7131960" cy="4568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t">
            <a:normAutofit/>
          </a:bodyPr>
          <a:lstStyle/>
          <a:p>
            <a:pPr defTabSz="914400">
              <a:lnSpc>
                <a:spcPct val="100000"/>
              </a:lnSpc>
              <a:tabLst>
                <a:tab pos="0" algn="l"/>
              </a:tabLst>
            </a:pPr>
            <a:r>
              <a:rPr lang="en-US" sz="1620" b="0" u="none" strike="noStrike">
                <a:solidFill>
                  <a:srgbClr val="162021"/>
                </a:solidFill>
                <a:effectLst/>
                <a:uFillTx/>
                <a:latin typeface="Arial"/>
                <a:ea typeface="Arial"/>
              </a:rPr>
              <a:t>Co-hosts Agent Sense and creates 60 Seconds of Enterprise AI.</a:t>
            </a:r>
            <a:endParaRPr lang="en-US" sz="1620" b="0" u="none" strike="noStrike">
              <a:solidFill>
                <a:srgbClr val="000000"/>
              </a:solidFill>
              <a:effectLst/>
              <a:uFillTx/>
              <a:latin typeface="Arial"/>
            </a:endParaRPr>
          </a:p>
        </p:txBody>
      </p:sp>
      <p:sp>
        <p:nvSpPr>
          <p:cNvPr id="78" name="Shape 11"/>
          <p:cNvSpPr/>
          <p:nvPr/>
        </p:nvSpPr>
        <p:spPr>
          <a:xfrm>
            <a:off x="749880" y="4160520"/>
            <a:ext cx="2239920" cy="475200"/>
          </a:xfrm>
          <a:prstGeom prst="roundRect">
            <a:avLst>
              <a:gd name="adj" fmla="val 15385"/>
            </a:avLst>
          </a:prstGeom>
          <a:solidFill>
            <a:srgbClr val="FFFFFF"/>
          </a:solidFill>
          <a:ln w="19050">
            <a:solidFill>
              <a:srgbClr val="0C796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9" name="Text 12"/>
          <p:cNvSpPr/>
          <p:nvPr/>
        </p:nvSpPr>
        <p:spPr>
          <a:xfrm>
            <a:off x="859680" y="4270320"/>
            <a:ext cx="2020320" cy="255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400" b="1" u="none" strike="noStrike">
                <a:solidFill>
                  <a:srgbClr val="0C796D"/>
                </a:solidFill>
                <a:effectLst/>
                <a:uFillTx/>
                <a:latin typeface="Arial"/>
                <a:ea typeface="Arial"/>
              </a:rPr>
              <a:t>Hands-on build</a:t>
            </a:r>
            <a:endParaRPr lang="en-US" sz="1400" b="0" u="none" strike="noStrike">
              <a:solidFill>
                <a:srgbClr val="000000"/>
              </a:solidFill>
              <a:effectLst/>
              <a:uFillTx/>
              <a:latin typeface="Arial"/>
            </a:endParaRPr>
          </a:p>
        </p:txBody>
      </p:sp>
      <p:sp>
        <p:nvSpPr>
          <p:cNvPr id="80" name="Text 13"/>
          <p:cNvSpPr/>
          <p:nvPr/>
        </p:nvSpPr>
        <p:spPr>
          <a:xfrm>
            <a:off x="3291840" y="4197240"/>
            <a:ext cx="7131960" cy="4568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t">
            <a:normAutofit lnSpcReduction="10000"/>
          </a:bodyPr>
          <a:lstStyle/>
          <a:p>
            <a:pPr defTabSz="914400">
              <a:lnSpc>
                <a:spcPct val="100000"/>
              </a:lnSpc>
              <a:tabLst>
                <a:tab pos="0" algn="l"/>
              </a:tabLst>
            </a:pPr>
            <a:r>
              <a:rPr lang="en-US" sz="1620" b="0" u="none" strike="noStrike">
                <a:solidFill>
                  <a:srgbClr val="162021"/>
                </a:solidFill>
                <a:effectLst/>
                <a:uFillTx/>
                <a:latin typeface="Arial"/>
                <a:ea typeface="Arial"/>
              </a:rPr>
              <a:t>Built and tested the PCP coordinator prototype with IBM Bob as a development partner.</a:t>
            </a:r>
            <a:endParaRPr lang="en-US" sz="1620" b="0" u="none" strike="noStrike">
              <a:solidFill>
                <a:srgbClr val="000000"/>
              </a:solidFill>
              <a:effectLst/>
              <a:uFillTx/>
              <a:latin typeface="Arial"/>
            </a:endParaRPr>
          </a:p>
        </p:txBody>
      </p:sp>
      <p:sp>
        <p:nvSpPr>
          <p:cNvPr id="81" name="Shape 14"/>
          <p:cNvSpPr/>
          <p:nvPr/>
        </p:nvSpPr>
        <p:spPr>
          <a:xfrm>
            <a:off x="822960" y="5102280"/>
            <a:ext cx="5760360" cy="868320"/>
          </a:xfrm>
          <a:prstGeom prst="rect">
            <a:avLst/>
          </a:prstGeom>
          <a:solidFill>
            <a:srgbClr val="FFF8CC"/>
          </a:solidFill>
          <a:ln w="12700">
            <a:solidFill>
              <a:srgbClr val="D8C45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2" name="Text 15"/>
          <p:cNvSpPr/>
          <p:nvPr/>
        </p:nvSpPr>
        <p:spPr>
          <a:xfrm>
            <a:off x="951120" y="5212080"/>
            <a:ext cx="5504400" cy="6487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550" b="0" u="none" strike="noStrike" dirty="0">
                <a:solidFill>
                  <a:srgbClr val="162021"/>
                </a:solidFill>
                <a:effectLst/>
                <a:uFillTx/>
                <a:latin typeface="Comic Sans MS"/>
                <a:ea typeface="Comic Sans MS"/>
              </a:rPr>
              <a:t>The speaking value is the fit:</a:t>
            </a:r>
            <a:endParaRPr lang="en-US" sz="1550" b="0" u="none" strike="noStrike" dirty="0">
              <a:solidFill>
                <a:srgbClr val="000000"/>
              </a:solidFill>
              <a:effectLst/>
              <a:uFillTx/>
              <a:latin typeface="Arial"/>
            </a:endParaRPr>
          </a:p>
          <a:p>
            <a:pPr defTabSz="914400">
              <a:lnSpc>
                <a:spcPct val="100000"/>
              </a:lnSpc>
              <a:tabLst>
                <a:tab pos="0" algn="l"/>
              </a:tabLst>
            </a:pPr>
            <a:r>
              <a:rPr lang="en-US" sz="1550" b="0" u="none" strike="noStrike" dirty="0">
                <a:solidFill>
                  <a:srgbClr val="162021"/>
                </a:solidFill>
                <a:effectLst/>
                <a:uFillTx/>
                <a:latin typeface="Comic Sans MS"/>
                <a:ea typeface="Comic Sans MS"/>
              </a:rPr>
              <a:t>real problem + working prototype + production governance</a:t>
            </a:r>
            <a:endParaRPr lang="en-US" sz="1550" b="0" u="none" strike="noStrike" dirty="0">
              <a:solidFill>
                <a:srgbClr val="000000"/>
              </a:solidFill>
              <a:effectLst/>
              <a:uFillTx/>
              <a:latin typeface="Arial"/>
            </a:endParaRPr>
          </a:p>
        </p:txBody>
      </p:sp>
      <p:sp>
        <p:nvSpPr>
          <p:cNvPr id="83" name="Text 16"/>
          <p:cNvSpPr/>
          <p:nvPr/>
        </p:nvSpPr>
        <p:spPr>
          <a:xfrm>
            <a:off x="11567160" y="6455520"/>
            <a:ext cx="2282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9AA4A8"/>
                </a:solidFill>
                <a:effectLst/>
                <a:uFillTx/>
                <a:latin typeface="Arial"/>
                <a:ea typeface="Arial"/>
              </a:rPr>
              <a:t>4</a:t>
            </a:r>
            <a:endParaRPr lang="en-US" sz="750" b="0" u="none" strike="noStrike">
              <a:solidFill>
                <a:srgbClr val="000000"/>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4" name="Image 0" descr="/mnt/data/applied_template_content.jpg"/>
          <p:cNvPicPr/>
          <p:nvPr/>
        </p:nvPicPr>
        <p:blipFill>
          <a:blip r:embed="rId3"/>
          <a:stretch/>
        </p:blipFill>
        <p:spPr>
          <a:xfrm>
            <a:off x="0" y="0"/>
            <a:ext cx="12191400" cy="6857640"/>
          </a:xfrm>
          <a:prstGeom prst="rect">
            <a:avLst/>
          </a:prstGeom>
          <a:noFill/>
          <a:ln w="0">
            <a:noFill/>
          </a:ln>
        </p:spPr>
      </p:pic>
      <p:pic>
        <p:nvPicPr>
          <p:cNvPr id="85" name="Image 1" descr="/mnt/data/template_extract/ppt/media/image2.png"/>
          <p:cNvPicPr/>
          <p:nvPr/>
        </p:nvPicPr>
        <p:blipFill>
          <a:blip r:embed="rId4"/>
          <a:stretch/>
        </p:blipFill>
        <p:spPr>
          <a:xfrm>
            <a:off x="9738360" y="6291000"/>
            <a:ext cx="2057040" cy="475200"/>
          </a:xfrm>
          <a:prstGeom prst="rect">
            <a:avLst/>
          </a:prstGeom>
          <a:noFill/>
          <a:ln w="0">
            <a:noFill/>
          </a:ln>
        </p:spPr>
      </p:pic>
      <p:sp>
        <p:nvSpPr>
          <p:cNvPr id="86" name="Text 0"/>
          <p:cNvSpPr/>
          <p:nvPr/>
        </p:nvSpPr>
        <p:spPr>
          <a:xfrm>
            <a:off x="502920" y="347400"/>
            <a:ext cx="969228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u="none" strike="noStrike">
                <a:solidFill>
                  <a:srgbClr val="FFFFFF"/>
                </a:solidFill>
                <a:effectLst/>
                <a:uFillTx/>
                <a:latin typeface="Arial"/>
                <a:ea typeface="Arial"/>
              </a:rPr>
              <a:t>What I built with IBM Bob</a:t>
            </a:r>
            <a:endParaRPr lang="en-US" sz="2600" b="0" u="none" strike="noStrike">
              <a:solidFill>
                <a:srgbClr val="000000"/>
              </a:solidFill>
              <a:effectLst/>
              <a:uFillTx/>
              <a:latin typeface="Arial"/>
            </a:endParaRPr>
          </a:p>
        </p:txBody>
      </p:sp>
      <p:sp>
        <p:nvSpPr>
          <p:cNvPr id="87" name="Text 1"/>
          <p:cNvSpPr/>
          <p:nvPr/>
        </p:nvSpPr>
        <p:spPr>
          <a:xfrm>
            <a:off x="530280" y="822960"/>
            <a:ext cx="932652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CFEAF5"/>
                </a:solidFill>
                <a:effectLst/>
                <a:uFillTx/>
                <a:latin typeface="Arial"/>
                <a:ea typeface="Arial"/>
              </a:rPr>
              <a:t>A PCP coordinator agent with bounded specialist support agents</a:t>
            </a:r>
            <a:endParaRPr lang="en-US" sz="1150" b="0" u="none" strike="noStrike">
              <a:solidFill>
                <a:srgbClr val="000000"/>
              </a:solidFill>
              <a:effectLst/>
              <a:uFillTx/>
              <a:latin typeface="Arial"/>
            </a:endParaRPr>
          </a:p>
        </p:txBody>
      </p:sp>
      <p:sp>
        <p:nvSpPr>
          <p:cNvPr id="89" name="Shape 2"/>
          <p:cNvSpPr/>
          <p:nvPr/>
        </p:nvSpPr>
        <p:spPr>
          <a:xfrm>
            <a:off x="685800" y="1600200"/>
            <a:ext cx="5120280" cy="411120"/>
          </a:xfrm>
          <a:prstGeom prst="roundRect">
            <a:avLst>
              <a:gd name="adj" fmla="val 26667"/>
            </a:avLst>
          </a:prstGeom>
          <a:solidFill>
            <a:srgbClr val="E8F5F2"/>
          </a:solidFill>
          <a:ln w="13970">
            <a:solidFill>
              <a:srgbClr val="B6DE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0" name="Text 3"/>
          <p:cNvSpPr/>
          <p:nvPr/>
        </p:nvSpPr>
        <p:spPr>
          <a:xfrm>
            <a:off x="804600" y="1710000"/>
            <a:ext cx="488268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20" b="1" u="none" strike="noStrike">
                <a:solidFill>
                  <a:srgbClr val="162021"/>
                </a:solidFill>
                <a:effectLst/>
                <a:uFillTx/>
                <a:latin typeface="Arial"/>
                <a:ea typeface="Arial"/>
              </a:rPr>
              <a:t>Reviews patient concerns and symptoms</a:t>
            </a:r>
            <a:endParaRPr lang="en-US" sz="1220" b="0" u="none" strike="noStrike">
              <a:solidFill>
                <a:srgbClr val="000000"/>
              </a:solidFill>
              <a:effectLst/>
              <a:uFillTx/>
              <a:latin typeface="Arial"/>
            </a:endParaRPr>
          </a:p>
        </p:txBody>
      </p:sp>
      <p:sp>
        <p:nvSpPr>
          <p:cNvPr id="91" name="Shape 4"/>
          <p:cNvSpPr/>
          <p:nvPr/>
        </p:nvSpPr>
        <p:spPr>
          <a:xfrm>
            <a:off x="685800" y="2139840"/>
            <a:ext cx="5120280" cy="411120"/>
          </a:xfrm>
          <a:prstGeom prst="roundRect">
            <a:avLst>
              <a:gd name="adj" fmla="val 26667"/>
            </a:avLst>
          </a:prstGeom>
          <a:solidFill>
            <a:srgbClr val="E8F5F2"/>
          </a:solidFill>
          <a:ln w="13970">
            <a:solidFill>
              <a:srgbClr val="B6DE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2" name="Text 5"/>
          <p:cNvSpPr/>
          <p:nvPr/>
        </p:nvSpPr>
        <p:spPr>
          <a:xfrm>
            <a:off x="804600" y="2249280"/>
            <a:ext cx="488268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20" b="1" u="none" strike="noStrike">
                <a:solidFill>
                  <a:srgbClr val="162021"/>
                </a:solidFill>
                <a:effectLst/>
                <a:uFillTx/>
                <a:latin typeface="Arial"/>
                <a:ea typeface="Arial"/>
              </a:rPr>
              <a:t>Detects emergency warning phrases before normal routing</a:t>
            </a:r>
            <a:endParaRPr lang="en-US" sz="1220" b="0" u="none" strike="noStrike">
              <a:solidFill>
                <a:srgbClr val="000000"/>
              </a:solidFill>
              <a:effectLst/>
              <a:uFillTx/>
              <a:latin typeface="Arial"/>
            </a:endParaRPr>
          </a:p>
        </p:txBody>
      </p:sp>
      <p:sp>
        <p:nvSpPr>
          <p:cNvPr id="93" name="Shape 6"/>
          <p:cNvSpPr/>
          <p:nvPr/>
        </p:nvSpPr>
        <p:spPr>
          <a:xfrm>
            <a:off x="685800" y="2679120"/>
            <a:ext cx="5120280" cy="411120"/>
          </a:xfrm>
          <a:prstGeom prst="roundRect">
            <a:avLst>
              <a:gd name="adj" fmla="val 26667"/>
            </a:avLst>
          </a:prstGeom>
          <a:solidFill>
            <a:srgbClr val="E8F5F2"/>
          </a:solidFill>
          <a:ln w="13970">
            <a:solidFill>
              <a:srgbClr val="B6DE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4" name="Text 7"/>
          <p:cNvSpPr/>
          <p:nvPr/>
        </p:nvSpPr>
        <p:spPr>
          <a:xfrm>
            <a:off x="804600" y="2788920"/>
            <a:ext cx="488268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20" b="1" u="none" strike="noStrike">
                <a:solidFill>
                  <a:srgbClr val="162021"/>
                </a:solidFill>
                <a:effectLst/>
                <a:uFillTx/>
                <a:latin typeface="Arial"/>
                <a:ea typeface="Arial"/>
              </a:rPr>
              <a:t>Coordinates specialty support agents</a:t>
            </a:r>
            <a:endParaRPr lang="en-US" sz="1220" b="0" u="none" strike="noStrike">
              <a:solidFill>
                <a:srgbClr val="000000"/>
              </a:solidFill>
              <a:effectLst/>
              <a:uFillTx/>
              <a:latin typeface="Arial"/>
            </a:endParaRPr>
          </a:p>
        </p:txBody>
      </p:sp>
      <p:sp>
        <p:nvSpPr>
          <p:cNvPr id="95" name="Shape 8"/>
          <p:cNvSpPr/>
          <p:nvPr/>
        </p:nvSpPr>
        <p:spPr>
          <a:xfrm>
            <a:off x="685800" y="3218760"/>
            <a:ext cx="5120280" cy="411120"/>
          </a:xfrm>
          <a:prstGeom prst="roundRect">
            <a:avLst>
              <a:gd name="adj" fmla="val 26667"/>
            </a:avLst>
          </a:prstGeom>
          <a:solidFill>
            <a:srgbClr val="E8F5F2"/>
          </a:solidFill>
          <a:ln w="13970">
            <a:solidFill>
              <a:srgbClr val="B6DE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6" name="Text 9"/>
          <p:cNvSpPr/>
          <p:nvPr/>
        </p:nvSpPr>
        <p:spPr>
          <a:xfrm>
            <a:off x="804600" y="3328560"/>
            <a:ext cx="488268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20" b="1" u="none" strike="noStrike">
                <a:solidFill>
                  <a:srgbClr val="162021"/>
                </a:solidFill>
                <a:effectLst/>
                <a:uFillTx/>
                <a:latin typeface="Arial"/>
                <a:ea typeface="Arial"/>
              </a:rPr>
              <a:t>Produces clinician-ready summaries</a:t>
            </a:r>
            <a:endParaRPr lang="en-US" sz="1220" b="0" u="none" strike="noStrike">
              <a:solidFill>
                <a:srgbClr val="000000"/>
              </a:solidFill>
              <a:effectLst/>
              <a:uFillTx/>
              <a:latin typeface="Arial"/>
            </a:endParaRPr>
          </a:p>
        </p:txBody>
      </p:sp>
      <p:sp>
        <p:nvSpPr>
          <p:cNvPr id="97" name="Shape 10"/>
          <p:cNvSpPr/>
          <p:nvPr/>
        </p:nvSpPr>
        <p:spPr>
          <a:xfrm>
            <a:off x="685800" y="3758040"/>
            <a:ext cx="5120280" cy="411120"/>
          </a:xfrm>
          <a:prstGeom prst="roundRect">
            <a:avLst>
              <a:gd name="adj" fmla="val 26667"/>
            </a:avLst>
          </a:prstGeom>
          <a:solidFill>
            <a:srgbClr val="E8F5F2"/>
          </a:solidFill>
          <a:ln w="13970">
            <a:solidFill>
              <a:srgbClr val="B6DE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8" name="Text 11"/>
          <p:cNvSpPr/>
          <p:nvPr/>
        </p:nvSpPr>
        <p:spPr>
          <a:xfrm>
            <a:off x="804600" y="3867840"/>
            <a:ext cx="488268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20" b="1" u="none" strike="noStrike">
                <a:solidFill>
                  <a:srgbClr val="162021"/>
                </a:solidFill>
                <a:effectLst/>
                <a:uFillTx/>
                <a:latin typeface="Arial"/>
                <a:ea typeface="Arial"/>
              </a:rPr>
              <a:t>Requires patient approval before sending messages</a:t>
            </a:r>
            <a:endParaRPr lang="en-US" sz="1220" b="0" u="none" strike="noStrike">
              <a:solidFill>
                <a:srgbClr val="000000"/>
              </a:solidFill>
              <a:effectLst/>
              <a:uFillTx/>
              <a:latin typeface="Arial"/>
            </a:endParaRPr>
          </a:p>
        </p:txBody>
      </p:sp>
      <p:sp>
        <p:nvSpPr>
          <p:cNvPr id="99" name="Shape 12"/>
          <p:cNvSpPr/>
          <p:nvPr/>
        </p:nvSpPr>
        <p:spPr>
          <a:xfrm>
            <a:off x="804600" y="4533254"/>
            <a:ext cx="4800240" cy="1092746"/>
          </a:xfrm>
          <a:prstGeom prst="rect">
            <a:avLst/>
          </a:prstGeom>
          <a:solidFill>
            <a:srgbClr val="F2F7F6"/>
          </a:solidFill>
          <a:ln w="12700">
            <a:solidFill>
              <a:srgbClr val="A8D7D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endParaRPr lang="en-US" sz="1800" b="0" u="none" strike="noStrike" dirty="0">
              <a:solidFill>
                <a:srgbClr val="000000"/>
              </a:solidFill>
              <a:effectLst/>
              <a:uFillTx/>
              <a:latin typeface="Arial"/>
            </a:endParaRPr>
          </a:p>
        </p:txBody>
      </p:sp>
      <p:sp>
        <p:nvSpPr>
          <p:cNvPr id="100" name="Text 13"/>
          <p:cNvSpPr/>
          <p:nvPr/>
        </p:nvSpPr>
        <p:spPr>
          <a:xfrm>
            <a:off x="1230865" y="4630594"/>
            <a:ext cx="3240397" cy="898066"/>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5000" lnSpcReduction="20000"/>
          </a:bodyPr>
          <a:lstStyle/>
          <a:p>
            <a:pPr lvl="1">
              <a:tabLst>
                <a:tab pos="0" algn="l"/>
              </a:tabLst>
            </a:pPr>
            <a:r>
              <a:rPr lang="en-US" sz="1400" b="0" u="none" strike="noStrike" dirty="0">
                <a:solidFill>
                  <a:srgbClr val="162021"/>
                </a:solidFill>
                <a:effectLst/>
                <a:uFillTx/>
                <a:latin typeface="Comic Sans MS"/>
                <a:ea typeface="Comic Sans MS"/>
              </a:rPr>
              <a:t>Care navigation only</a:t>
            </a:r>
          </a:p>
          <a:p>
            <a:pPr lvl="1">
              <a:tabLst>
                <a:tab pos="0" algn="l"/>
              </a:tabLst>
            </a:pPr>
            <a:br>
              <a:rPr lang="en-US" sz="1400" b="0" u="none" strike="noStrike" dirty="0">
                <a:solidFill>
                  <a:srgbClr val="162021"/>
                </a:solidFill>
                <a:effectLst/>
                <a:uFillTx/>
                <a:latin typeface="Comic Sans MS"/>
                <a:ea typeface="Comic Sans MS"/>
              </a:rPr>
            </a:br>
            <a:r>
              <a:rPr lang="en-US" sz="1400" b="0" u="none" strike="noStrike" dirty="0">
                <a:solidFill>
                  <a:srgbClr val="162021"/>
                </a:solidFill>
                <a:effectLst/>
                <a:uFillTx/>
                <a:latin typeface="Comic Sans MS"/>
                <a:ea typeface="Comic Sans MS"/>
              </a:rPr>
              <a:t>• Gather context</a:t>
            </a:r>
            <a:br>
              <a:rPr lang="en-US" sz="1400" b="0" u="none" strike="noStrike" dirty="0">
                <a:solidFill>
                  <a:srgbClr val="162021"/>
                </a:solidFill>
                <a:effectLst/>
                <a:uFillTx/>
                <a:latin typeface="Comic Sans MS"/>
                <a:ea typeface="Comic Sans MS"/>
              </a:rPr>
            </a:br>
            <a:r>
              <a:rPr lang="en-US" sz="1400" b="0" u="none" strike="noStrike" dirty="0">
                <a:solidFill>
                  <a:srgbClr val="162021"/>
                </a:solidFill>
                <a:effectLst/>
                <a:uFillTx/>
                <a:latin typeface="Comic Sans MS"/>
                <a:ea typeface="Comic Sans MS"/>
              </a:rPr>
              <a:t>• Coordinate specialist input</a:t>
            </a:r>
            <a:br>
              <a:rPr lang="en-US" sz="1400" b="0" u="none" strike="noStrike" dirty="0">
                <a:solidFill>
                  <a:srgbClr val="162021"/>
                </a:solidFill>
                <a:effectLst/>
                <a:uFillTx/>
                <a:latin typeface="Comic Sans MS"/>
                <a:ea typeface="Comic Sans MS"/>
              </a:rPr>
            </a:br>
            <a:r>
              <a:rPr lang="en-US" sz="1400" b="0" u="none" strike="noStrike" dirty="0">
                <a:solidFill>
                  <a:srgbClr val="162021"/>
                </a:solidFill>
                <a:effectLst/>
                <a:uFillTx/>
                <a:latin typeface="Comic Sans MS"/>
                <a:ea typeface="Comic Sans MS"/>
              </a:rPr>
              <a:t>• Prepare clinician summary</a:t>
            </a:r>
            <a:br>
              <a:rPr lang="en-US" sz="1400" b="0" u="none" strike="noStrike" dirty="0">
                <a:solidFill>
                  <a:srgbClr val="162021"/>
                </a:solidFill>
                <a:effectLst/>
                <a:uFillTx/>
                <a:latin typeface="Comic Sans MS"/>
                <a:ea typeface="Comic Sans MS"/>
              </a:rPr>
            </a:br>
            <a:r>
              <a:rPr lang="en-US" sz="1400" b="0" u="none" strike="noStrike" dirty="0">
                <a:solidFill>
                  <a:srgbClr val="162021"/>
                </a:solidFill>
                <a:effectLst/>
                <a:uFillTx/>
                <a:latin typeface="Comic Sans MS"/>
                <a:ea typeface="Comic Sans MS"/>
              </a:rPr>
              <a:t>• Clinician makes the care decision</a:t>
            </a:r>
            <a:endParaRPr lang="en-US" sz="1400" b="0" u="none" strike="noStrike" dirty="0">
              <a:solidFill>
                <a:srgbClr val="000000"/>
              </a:solidFill>
              <a:effectLst/>
              <a:uFillTx/>
              <a:latin typeface="Arial"/>
            </a:endParaRPr>
          </a:p>
        </p:txBody>
      </p:sp>
      <p:sp>
        <p:nvSpPr>
          <p:cNvPr id="101" name="Text 14"/>
          <p:cNvSpPr/>
          <p:nvPr/>
        </p:nvSpPr>
        <p:spPr>
          <a:xfrm>
            <a:off x="11567160" y="6455520"/>
            <a:ext cx="2282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9AA4A8"/>
                </a:solidFill>
                <a:effectLst/>
                <a:uFillTx/>
                <a:latin typeface="Arial"/>
                <a:ea typeface="Arial"/>
              </a:rPr>
              <a:t>5</a:t>
            </a:r>
            <a:endParaRPr lang="en-US" sz="750" b="0" u="none" strike="noStrike">
              <a:solidFill>
                <a:srgbClr val="000000"/>
              </a:solidFill>
              <a:effectLst/>
              <a:uFillTx/>
              <a:latin typeface="Arial"/>
            </a:endParaRPr>
          </a:p>
        </p:txBody>
      </p:sp>
      <p:pic>
        <p:nvPicPr>
          <p:cNvPr id="2" name="Picture 1">
            <a:extLst>
              <a:ext uri="{FF2B5EF4-FFF2-40B4-BE49-F238E27FC236}">
                <a16:creationId xmlns:a16="http://schemas.microsoft.com/office/drawing/2014/main" id="{67AC763A-1EF9-D40A-31A8-D129FFB13AF3}"/>
              </a:ext>
            </a:extLst>
          </p:cNvPr>
          <p:cNvPicPr>
            <a:picLocks noChangeAspect="1"/>
          </p:cNvPicPr>
          <p:nvPr/>
        </p:nvPicPr>
        <p:blipFill>
          <a:blip r:embed="rId5"/>
          <a:stretch>
            <a:fillRect/>
          </a:stretch>
        </p:blipFill>
        <p:spPr>
          <a:xfrm>
            <a:off x="7640010" y="1545300"/>
            <a:ext cx="3126870" cy="41691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2" name="Image 0" descr="/mnt/data/applied_template_content.jpg"/>
          <p:cNvPicPr/>
          <p:nvPr/>
        </p:nvPicPr>
        <p:blipFill>
          <a:blip r:embed="rId3"/>
          <a:stretch/>
        </p:blipFill>
        <p:spPr>
          <a:xfrm>
            <a:off x="0" y="0"/>
            <a:ext cx="12191400" cy="6857640"/>
          </a:xfrm>
          <a:prstGeom prst="rect">
            <a:avLst/>
          </a:prstGeom>
          <a:noFill/>
          <a:ln w="0">
            <a:noFill/>
          </a:ln>
        </p:spPr>
      </p:pic>
      <p:pic>
        <p:nvPicPr>
          <p:cNvPr id="103" name="Image 1" descr="/mnt/data/template_extract/ppt/media/image2.png"/>
          <p:cNvPicPr/>
          <p:nvPr/>
        </p:nvPicPr>
        <p:blipFill>
          <a:blip r:embed="rId4"/>
          <a:stretch/>
        </p:blipFill>
        <p:spPr>
          <a:xfrm>
            <a:off x="9738360" y="6291000"/>
            <a:ext cx="2057040" cy="475200"/>
          </a:xfrm>
          <a:prstGeom prst="rect">
            <a:avLst/>
          </a:prstGeom>
          <a:noFill/>
          <a:ln w="0">
            <a:noFill/>
          </a:ln>
        </p:spPr>
      </p:pic>
      <p:sp>
        <p:nvSpPr>
          <p:cNvPr id="104" name="Text 0"/>
          <p:cNvSpPr/>
          <p:nvPr/>
        </p:nvSpPr>
        <p:spPr>
          <a:xfrm>
            <a:off x="502920" y="347400"/>
            <a:ext cx="969228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u="none" strike="noStrike">
                <a:solidFill>
                  <a:srgbClr val="FFFFFF"/>
                </a:solidFill>
                <a:effectLst/>
                <a:uFillTx/>
                <a:latin typeface="Arial"/>
                <a:ea typeface="Arial"/>
              </a:rPr>
              <a:t>The Day 3 / Day 4 test</a:t>
            </a:r>
            <a:endParaRPr lang="en-US" sz="2600" b="0" u="none" strike="noStrike">
              <a:solidFill>
                <a:srgbClr val="000000"/>
              </a:solidFill>
              <a:effectLst/>
              <a:uFillTx/>
              <a:latin typeface="Arial"/>
            </a:endParaRPr>
          </a:p>
        </p:txBody>
      </p:sp>
      <p:sp>
        <p:nvSpPr>
          <p:cNvPr id="105" name="Text 1"/>
          <p:cNvSpPr/>
          <p:nvPr/>
        </p:nvSpPr>
        <p:spPr>
          <a:xfrm>
            <a:off x="530280" y="822960"/>
            <a:ext cx="932652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CFEAF5"/>
                </a:solidFill>
                <a:effectLst/>
                <a:uFillTx/>
                <a:latin typeface="Arial"/>
                <a:ea typeface="Arial"/>
              </a:rPr>
              <a:t>The demo worked. The workflow behavior exposed the risk.</a:t>
            </a:r>
            <a:endParaRPr lang="en-US" sz="1150" b="0" u="none" strike="noStrike">
              <a:solidFill>
                <a:srgbClr val="000000"/>
              </a:solidFill>
              <a:effectLst/>
              <a:uFillTx/>
              <a:latin typeface="Arial"/>
            </a:endParaRPr>
          </a:p>
        </p:txBody>
      </p:sp>
      <p:pic>
        <p:nvPicPr>
          <p:cNvPr id="106" name="Image 2" descr="/mnt/data/PCPConvo.jpg"/>
          <p:cNvPicPr/>
          <p:nvPr/>
        </p:nvPicPr>
        <p:blipFill>
          <a:blip r:embed="rId5"/>
          <a:srcRect t="13005" b="13005"/>
          <a:stretch/>
        </p:blipFill>
        <p:spPr>
          <a:xfrm>
            <a:off x="6355080" y="1307520"/>
            <a:ext cx="5303160" cy="4525920"/>
          </a:xfrm>
          <a:prstGeom prst="rect">
            <a:avLst/>
          </a:prstGeom>
          <a:noFill/>
          <a:ln w="0">
            <a:noFill/>
          </a:ln>
        </p:spPr>
      </p:pic>
      <p:sp>
        <p:nvSpPr>
          <p:cNvPr id="107" name="Shape 2"/>
          <p:cNvSpPr/>
          <p:nvPr/>
        </p:nvSpPr>
        <p:spPr>
          <a:xfrm>
            <a:off x="658440" y="1627560"/>
            <a:ext cx="1462680" cy="502560"/>
          </a:xfrm>
          <a:prstGeom prst="roundRect">
            <a:avLst>
              <a:gd name="adj" fmla="val 14545"/>
            </a:avLst>
          </a:prstGeom>
          <a:solidFill>
            <a:srgbClr val="FFFFFF"/>
          </a:solidFill>
          <a:ln w="19050">
            <a:solidFill>
              <a:srgbClr val="169B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8" name="Text 3"/>
          <p:cNvSpPr/>
          <p:nvPr/>
        </p:nvSpPr>
        <p:spPr>
          <a:xfrm>
            <a:off x="768240" y="1737360"/>
            <a:ext cx="1243080" cy="282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1" u="none" strike="noStrike">
                <a:solidFill>
                  <a:srgbClr val="169BD5"/>
                </a:solidFill>
                <a:effectLst/>
                <a:uFillTx/>
                <a:latin typeface="Arial"/>
                <a:ea typeface="Arial"/>
              </a:rPr>
              <a:t>Test input</a:t>
            </a:r>
            <a:endParaRPr lang="en-US" sz="1300" b="0" u="none" strike="noStrike">
              <a:solidFill>
                <a:srgbClr val="000000"/>
              </a:solidFill>
              <a:effectLst/>
              <a:uFillTx/>
              <a:latin typeface="Arial"/>
            </a:endParaRPr>
          </a:p>
        </p:txBody>
      </p:sp>
      <p:sp>
        <p:nvSpPr>
          <p:cNvPr id="109" name="Text 4"/>
          <p:cNvSpPr/>
          <p:nvPr/>
        </p:nvSpPr>
        <p:spPr>
          <a:xfrm>
            <a:off x="713160" y="2286000"/>
            <a:ext cx="461736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t">
            <a:normAutofit/>
          </a:bodyPr>
          <a:lstStyle/>
          <a:p>
            <a:pPr defTabSz="914400">
              <a:lnSpc>
                <a:spcPct val="100000"/>
              </a:lnSpc>
              <a:tabLst>
                <a:tab pos="0" algn="l"/>
              </a:tabLst>
            </a:pPr>
            <a:r>
              <a:rPr lang="en-US" sz="1900" b="1" u="none" strike="noStrike">
                <a:solidFill>
                  <a:srgbClr val="162021"/>
                </a:solidFill>
                <a:effectLst/>
                <a:uFillTx/>
                <a:latin typeface="Arial"/>
                <a:ea typeface="Arial"/>
              </a:rPr>
              <a:t>“I have a headache and feel nauseous.”</a:t>
            </a:r>
            <a:endParaRPr lang="en-US" sz="1900" b="0" u="none" strike="noStrike">
              <a:solidFill>
                <a:srgbClr val="000000"/>
              </a:solidFill>
              <a:effectLst/>
              <a:uFillTx/>
              <a:latin typeface="Arial"/>
            </a:endParaRPr>
          </a:p>
        </p:txBody>
      </p:sp>
      <p:sp>
        <p:nvSpPr>
          <p:cNvPr id="110" name="Shape 5"/>
          <p:cNvSpPr/>
          <p:nvPr/>
        </p:nvSpPr>
        <p:spPr>
          <a:xfrm>
            <a:off x="658440" y="3063240"/>
            <a:ext cx="1782720" cy="502560"/>
          </a:xfrm>
          <a:prstGeom prst="roundRect">
            <a:avLst>
              <a:gd name="adj" fmla="val 14545"/>
            </a:avLst>
          </a:prstGeom>
          <a:solidFill>
            <a:srgbClr val="FFFFFF"/>
          </a:solidFill>
          <a:ln w="19050">
            <a:solidFill>
              <a:srgbClr val="9E2A2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1" name="Text 6"/>
          <p:cNvSpPr/>
          <p:nvPr/>
        </p:nvSpPr>
        <p:spPr>
          <a:xfrm>
            <a:off x="768240" y="3173040"/>
            <a:ext cx="1563120" cy="282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1" u="none" strike="noStrike">
                <a:solidFill>
                  <a:srgbClr val="9E2A2B"/>
                </a:solidFill>
                <a:effectLst/>
                <a:uFillTx/>
                <a:latin typeface="Arial"/>
                <a:ea typeface="Arial"/>
              </a:rPr>
              <a:t>What happened</a:t>
            </a:r>
            <a:endParaRPr lang="en-US" sz="1300" b="0" u="none" strike="noStrike">
              <a:solidFill>
                <a:srgbClr val="000000"/>
              </a:solidFill>
              <a:effectLst/>
              <a:uFillTx/>
              <a:latin typeface="Arial"/>
            </a:endParaRPr>
          </a:p>
        </p:txBody>
      </p:sp>
      <p:sp>
        <p:nvSpPr>
          <p:cNvPr id="112" name="Text 7"/>
          <p:cNvSpPr/>
          <p:nvPr/>
        </p:nvSpPr>
        <p:spPr>
          <a:xfrm>
            <a:off x="713160" y="3703320"/>
            <a:ext cx="4800240" cy="895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t">
            <a:normAutofit/>
          </a:bodyPr>
          <a:lstStyle/>
          <a:p>
            <a:pPr defTabSz="914400">
              <a:lnSpc>
                <a:spcPct val="100000"/>
              </a:lnSpc>
              <a:tabLst>
                <a:tab pos="0" algn="l"/>
              </a:tabLst>
            </a:pPr>
            <a:r>
              <a:rPr lang="en-US" sz="1620" b="0" u="none" strike="noStrike">
                <a:solidFill>
                  <a:srgbClr val="162021"/>
                </a:solidFill>
                <a:effectLst/>
                <a:uFillTx/>
                <a:latin typeface="Arial"/>
                <a:ea typeface="Arial"/>
              </a:rPr>
              <a:t>The PCP agent repeatedly brought in Gastroenterology and Neurology support before enough intake context was captured.</a:t>
            </a:r>
            <a:endParaRPr lang="en-US" sz="1620" b="0" u="none" strike="noStrike">
              <a:solidFill>
                <a:srgbClr val="000000"/>
              </a:solidFill>
              <a:effectLst/>
              <a:uFillTx/>
              <a:latin typeface="Arial"/>
            </a:endParaRPr>
          </a:p>
        </p:txBody>
      </p:sp>
      <p:sp>
        <p:nvSpPr>
          <p:cNvPr id="113" name="Shape 8"/>
          <p:cNvSpPr/>
          <p:nvPr/>
        </p:nvSpPr>
        <p:spPr>
          <a:xfrm>
            <a:off x="749880" y="4983480"/>
            <a:ext cx="4663080" cy="685440"/>
          </a:xfrm>
          <a:prstGeom prst="rect">
            <a:avLst/>
          </a:prstGeom>
          <a:solidFill>
            <a:srgbClr val="FFF4C7"/>
          </a:solidFill>
          <a:ln w="12700">
            <a:solidFill>
              <a:srgbClr val="D8C45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4" name="Text 9"/>
          <p:cNvSpPr/>
          <p:nvPr/>
        </p:nvSpPr>
        <p:spPr>
          <a:xfrm>
            <a:off x="877680" y="5093280"/>
            <a:ext cx="4407120" cy="4658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520" b="1" u="none" strike="noStrike">
                <a:solidFill>
                  <a:srgbClr val="162021"/>
                </a:solidFill>
                <a:effectLst/>
                <a:uFillTx/>
                <a:latin typeface="Comic Sans MS"/>
                <a:ea typeface="Comic Sans MS"/>
              </a:rPr>
              <a:t>The safety disclaimer was correct.</a:t>
            </a:r>
            <a:endParaRPr lang="en-US" sz="1520" b="0" u="none" strike="noStrike">
              <a:solidFill>
                <a:srgbClr val="000000"/>
              </a:solidFill>
              <a:effectLst/>
              <a:uFillTx/>
              <a:latin typeface="Arial"/>
            </a:endParaRPr>
          </a:p>
          <a:p>
            <a:pPr defTabSz="914400">
              <a:lnSpc>
                <a:spcPct val="100000"/>
              </a:lnSpc>
              <a:tabLst>
                <a:tab pos="0" algn="l"/>
              </a:tabLst>
            </a:pPr>
            <a:r>
              <a:rPr lang="en-US" sz="1520" b="1" u="none" strike="noStrike">
                <a:solidFill>
                  <a:srgbClr val="162021"/>
                </a:solidFill>
                <a:effectLst/>
                <a:uFillTx/>
                <a:latin typeface="Comic Sans MS"/>
                <a:ea typeface="Comic Sans MS"/>
              </a:rPr>
              <a:t>The workflow behavior was wrong.</a:t>
            </a:r>
            <a:endParaRPr lang="en-US" sz="1520" b="0" u="none" strike="noStrike">
              <a:solidFill>
                <a:srgbClr val="000000"/>
              </a:solidFill>
              <a:effectLst/>
              <a:uFillTx/>
              <a:latin typeface="Arial"/>
            </a:endParaRPr>
          </a:p>
        </p:txBody>
      </p:sp>
      <p:sp>
        <p:nvSpPr>
          <p:cNvPr id="115" name="Text 10"/>
          <p:cNvSpPr/>
          <p:nvPr/>
        </p:nvSpPr>
        <p:spPr>
          <a:xfrm>
            <a:off x="11567160" y="6455520"/>
            <a:ext cx="2282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9AA4A8"/>
                </a:solidFill>
                <a:effectLst/>
                <a:uFillTx/>
                <a:latin typeface="Arial"/>
                <a:ea typeface="Arial"/>
              </a:rPr>
              <a:t>6</a:t>
            </a:r>
            <a:endParaRPr lang="en-US" sz="750" b="0" u="none" strike="noStrike">
              <a:solidFill>
                <a:srgbClr val="000000"/>
              </a:solidFill>
              <a:effectLst/>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6" name="Image 0" descr="/mnt/data/applied_template_content.jpg"/>
          <p:cNvPicPr/>
          <p:nvPr/>
        </p:nvPicPr>
        <p:blipFill>
          <a:blip r:embed="rId3"/>
          <a:stretch/>
        </p:blipFill>
        <p:spPr>
          <a:xfrm>
            <a:off x="0" y="360"/>
            <a:ext cx="12191400" cy="6857640"/>
          </a:xfrm>
          <a:prstGeom prst="rect">
            <a:avLst/>
          </a:prstGeom>
          <a:noFill/>
          <a:ln w="0">
            <a:noFill/>
          </a:ln>
        </p:spPr>
      </p:pic>
      <p:pic>
        <p:nvPicPr>
          <p:cNvPr id="117" name="Image 1" descr="/mnt/data/template_extract/ppt/media/image2.png"/>
          <p:cNvPicPr/>
          <p:nvPr/>
        </p:nvPicPr>
        <p:blipFill>
          <a:blip r:embed="rId4"/>
          <a:stretch/>
        </p:blipFill>
        <p:spPr>
          <a:xfrm>
            <a:off x="9738360" y="6291000"/>
            <a:ext cx="2057040" cy="475200"/>
          </a:xfrm>
          <a:prstGeom prst="rect">
            <a:avLst/>
          </a:prstGeom>
          <a:noFill/>
          <a:ln w="0">
            <a:noFill/>
          </a:ln>
        </p:spPr>
      </p:pic>
      <p:sp>
        <p:nvSpPr>
          <p:cNvPr id="118" name="Text 0"/>
          <p:cNvSpPr/>
          <p:nvPr/>
        </p:nvSpPr>
        <p:spPr>
          <a:xfrm>
            <a:off x="502920" y="347400"/>
            <a:ext cx="969228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u="none" strike="noStrike">
                <a:solidFill>
                  <a:srgbClr val="FFFFFF"/>
                </a:solidFill>
                <a:effectLst/>
                <a:uFillTx/>
                <a:latin typeface="Arial"/>
                <a:ea typeface="Arial"/>
              </a:rPr>
              <a:t>The gap between routing and reasoning</a:t>
            </a:r>
            <a:endParaRPr lang="en-US" sz="2600" b="0" u="none" strike="noStrike">
              <a:solidFill>
                <a:srgbClr val="000000"/>
              </a:solidFill>
              <a:effectLst/>
              <a:uFillTx/>
              <a:latin typeface="Arial"/>
            </a:endParaRPr>
          </a:p>
        </p:txBody>
      </p:sp>
      <p:sp>
        <p:nvSpPr>
          <p:cNvPr id="119" name="Text 1"/>
          <p:cNvSpPr/>
          <p:nvPr/>
        </p:nvSpPr>
        <p:spPr>
          <a:xfrm>
            <a:off x="530280" y="822960"/>
            <a:ext cx="932652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CFEAF5"/>
                </a:solidFill>
                <a:effectLst/>
                <a:uFillTx/>
                <a:latin typeface="Arial"/>
                <a:ea typeface="Arial"/>
              </a:rPr>
              <a:t>The agent looked coordinated. The workflow did not prove understanding.</a:t>
            </a:r>
            <a:endParaRPr lang="en-US" sz="1150" b="0" u="none" strike="noStrike">
              <a:solidFill>
                <a:srgbClr val="000000"/>
              </a:solidFill>
              <a:effectLst/>
              <a:uFillTx/>
              <a:latin typeface="Arial"/>
            </a:endParaRPr>
          </a:p>
        </p:txBody>
      </p:sp>
      <p:sp>
        <p:nvSpPr>
          <p:cNvPr id="120" name="Shape 2"/>
          <p:cNvSpPr/>
          <p:nvPr/>
        </p:nvSpPr>
        <p:spPr>
          <a:xfrm>
            <a:off x="731520" y="1874520"/>
            <a:ext cx="1279800" cy="529920"/>
          </a:xfrm>
          <a:prstGeom prst="roundRect">
            <a:avLst>
              <a:gd name="adj" fmla="val 13793"/>
            </a:avLst>
          </a:prstGeom>
          <a:solidFill>
            <a:srgbClr val="FFFFFF"/>
          </a:solidFill>
          <a:ln w="19050">
            <a:solidFill>
              <a:srgbClr val="16202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1" name="Text 3"/>
          <p:cNvSpPr/>
          <p:nvPr/>
        </p:nvSpPr>
        <p:spPr>
          <a:xfrm>
            <a:off x="841320" y="1984320"/>
            <a:ext cx="1060200" cy="310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2500"/>
          </a:bodyPr>
          <a:lstStyle/>
          <a:p>
            <a:pPr algn="ctr" defTabSz="914400">
              <a:lnSpc>
                <a:spcPct val="100000"/>
              </a:lnSpc>
              <a:tabLst>
                <a:tab pos="0" algn="l"/>
              </a:tabLst>
            </a:pPr>
            <a:r>
              <a:rPr lang="en-US" sz="1300" b="0" u="none" strike="noStrike">
                <a:solidFill>
                  <a:srgbClr val="162021"/>
                </a:solidFill>
                <a:effectLst/>
                <a:uFillTx/>
                <a:latin typeface="Comic Sans MS"/>
                <a:ea typeface="Comic Sans MS"/>
              </a:rPr>
              <a:t>user symptom</a:t>
            </a:r>
            <a:endParaRPr lang="en-US" sz="1300" b="0" u="none" strike="noStrike">
              <a:solidFill>
                <a:srgbClr val="000000"/>
              </a:solidFill>
              <a:effectLst/>
              <a:uFillTx/>
              <a:latin typeface="Arial"/>
            </a:endParaRPr>
          </a:p>
        </p:txBody>
      </p:sp>
      <p:sp>
        <p:nvSpPr>
          <p:cNvPr id="122" name="Shape 4"/>
          <p:cNvSpPr/>
          <p:nvPr/>
        </p:nvSpPr>
        <p:spPr>
          <a:xfrm>
            <a:off x="2011680" y="2139480"/>
            <a:ext cx="731520" cy="360"/>
          </a:xfrm>
          <a:prstGeom prst="line">
            <a:avLst/>
          </a:prstGeom>
          <a:ln w="16510">
            <a:solidFill>
              <a:srgbClr val="162021"/>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23" name="Shape 5"/>
          <p:cNvSpPr/>
          <p:nvPr/>
        </p:nvSpPr>
        <p:spPr>
          <a:xfrm>
            <a:off x="2770560" y="1755720"/>
            <a:ext cx="1554120" cy="767880"/>
          </a:xfrm>
          <a:prstGeom prst="roundRect">
            <a:avLst>
              <a:gd name="adj" fmla="val 9524"/>
            </a:avLst>
          </a:prstGeom>
          <a:solidFill>
            <a:srgbClr val="FFFFFF"/>
          </a:solidFill>
          <a:ln w="19050">
            <a:solidFill>
              <a:srgbClr val="0C796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4" name="Text 6"/>
          <p:cNvSpPr/>
          <p:nvPr/>
        </p:nvSpPr>
        <p:spPr>
          <a:xfrm>
            <a:off x="2880360" y="1865520"/>
            <a:ext cx="1334520" cy="548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1" u="none" strike="noStrike">
                <a:solidFill>
                  <a:srgbClr val="0C796D"/>
                </a:solidFill>
                <a:effectLst/>
                <a:uFillTx/>
                <a:latin typeface="Comic Sans MS"/>
                <a:ea typeface="Comic Sans MS"/>
              </a:rPr>
              <a:t>PCP</a:t>
            </a:r>
            <a:endParaRPr lang="en-US" sz="1300" b="0" u="none" strike="noStrike">
              <a:solidFill>
                <a:srgbClr val="000000"/>
              </a:solidFill>
              <a:effectLst/>
              <a:uFillTx/>
              <a:latin typeface="Arial"/>
            </a:endParaRPr>
          </a:p>
          <a:p>
            <a:pPr algn="ctr" defTabSz="914400">
              <a:lnSpc>
                <a:spcPct val="100000"/>
              </a:lnSpc>
              <a:tabLst>
                <a:tab pos="0" algn="l"/>
              </a:tabLst>
            </a:pPr>
            <a:r>
              <a:rPr lang="en-US" sz="1300" b="1" u="none" strike="noStrike">
                <a:solidFill>
                  <a:srgbClr val="0C796D"/>
                </a:solidFill>
                <a:effectLst/>
                <a:uFillTx/>
                <a:latin typeface="Comic Sans MS"/>
                <a:ea typeface="Comic Sans MS"/>
              </a:rPr>
              <a:t>orchestrator</a:t>
            </a:r>
            <a:endParaRPr lang="en-US" sz="1300" b="0" u="none" strike="noStrike">
              <a:solidFill>
                <a:srgbClr val="000000"/>
              </a:solidFill>
              <a:effectLst/>
              <a:uFillTx/>
              <a:latin typeface="Arial"/>
            </a:endParaRPr>
          </a:p>
        </p:txBody>
      </p:sp>
      <p:sp>
        <p:nvSpPr>
          <p:cNvPr id="125" name="Shape 7"/>
          <p:cNvSpPr/>
          <p:nvPr/>
        </p:nvSpPr>
        <p:spPr>
          <a:xfrm flipV="1">
            <a:off x="4343400" y="1499400"/>
            <a:ext cx="685800" cy="640080"/>
          </a:xfrm>
          <a:prstGeom prst="line">
            <a:avLst/>
          </a:prstGeom>
          <a:ln w="15240">
            <a:solidFill>
              <a:srgbClr val="9E2A2B"/>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26" name="Shape 8"/>
          <p:cNvSpPr/>
          <p:nvPr/>
        </p:nvSpPr>
        <p:spPr>
          <a:xfrm>
            <a:off x="4343400" y="2139480"/>
            <a:ext cx="685800" cy="640080"/>
          </a:xfrm>
          <a:prstGeom prst="line">
            <a:avLst/>
          </a:prstGeom>
          <a:ln w="15240">
            <a:solidFill>
              <a:srgbClr val="9E2A2B"/>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27" name="Shape 9"/>
          <p:cNvSpPr/>
          <p:nvPr/>
        </p:nvSpPr>
        <p:spPr>
          <a:xfrm>
            <a:off x="5139000" y="1243440"/>
            <a:ext cx="1416960" cy="475200"/>
          </a:xfrm>
          <a:prstGeom prst="roundRect">
            <a:avLst>
              <a:gd name="adj" fmla="val 15385"/>
            </a:avLst>
          </a:prstGeom>
          <a:solidFill>
            <a:srgbClr val="FFFFFF"/>
          </a:solidFill>
          <a:ln w="19050">
            <a:solidFill>
              <a:srgbClr val="9E2A2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8" name="Text 10"/>
          <p:cNvSpPr/>
          <p:nvPr/>
        </p:nvSpPr>
        <p:spPr>
          <a:xfrm>
            <a:off x="5248800" y="1353240"/>
            <a:ext cx="1197360" cy="255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0" u="none" strike="noStrike">
                <a:solidFill>
                  <a:srgbClr val="9E2A2B"/>
                </a:solidFill>
                <a:effectLst/>
                <a:uFillTx/>
                <a:latin typeface="Comic Sans MS"/>
                <a:ea typeface="Comic Sans MS"/>
              </a:rPr>
              <a:t>Neurology</a:t>
            </a:r>
            <a:endParaRPr lang="en-US" sz="1200" b="0" u="none" strike="noStrike">
              <a:solidFill>
                <a:srgbClr val="000000"/>
              </a:solidFill>
              <a:effectLst/>
              <a:uFillTx/>
              <a:latin typeface="Arial"/>
            </a:endParaRPr>
          </a:p>
        </p:txBody>
      </p:sp>
      <p:sp>
        <p:nvSpPr>
          <p:cNvPr id="129" name="Shape 11"/>
          <p:cNvSpPr/>
          <p:nvPr/>
        </p:nvSpPr>
        <p:spPr>
          <a:xfrm>
            <a:off x="5139000" y="2560320"/>
            <a:ext cx="1416960" cy="475200"/>
          </a:xfrm>
          <a:prstGeom prst="roundRect">
            <a:avLst>
              <a:gd name="adj" fmla="val 15385"/>
            </a:avLst>
          </a:prstGeom>
          <a:solidFill>
            <a:srgbClr val="FFFFFF"/>
          </a:solidFill>
          <a:ln w="19050">
            <a:solidFill>
              <a:srgbClr val="9E2A2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0" name="Text 12"/>
          <p:cNvSpPr/>
          <p:nvPr/>
        </p:nvSpPr>
        <p:spPr>
          <a:xfrm>
            <a:off x="5248800" y="2670120"/>
            <a:ext cx="1197360" cy="255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0" u="none" strike="noStrike">
                <a:solidFill>
                  <a:srgbClr val="9E2A2B"/>
                </a:solidFill>
                <a:effectLst/>
                <a:uFillTx/>
                <a:latin typeface="Comic Sans MS"/>
                <a:ea typeface="Comic Sans MS"/>
              </a:rPr>
              <a:t>GI</a:t>
            </a:r>
            <a:endParaRPr lang="en-US" sz="1200" b="0" u="none" strike="noStrike">
              <a:solidFill>
                <a:srgbClr val="000000"/>
              </a:solidFill>
              <a:effectLst/>
              <a:uFillTx/>
              <a:latin typeface="Arial"/>
            </a:endParaRPr>
          </a:p>
        </p:txBody>
      </p:sp>
      <p:sp>
        <p:nvSpPr>
          <p:cNvPr id="131" name="Shape 13"/>
          <p:cNvSpPr/>
          <p:nvPr/>
        </p:nvSpPr>
        <p:spPr>
          <a:xfrm>
            <a:off x="7315200" y="1417320"/>
            <a:ext cx="3428640" cy="566640"/>
          </a:xfrm>
          <a:prstGeom prst="rect">
            <a:avLst/>
          </a:prstGeom>
          <a:solidFill>
            <a:srgbClr val="FFF4C7"/>
          </a:solidFill>
          <a:ln w="12700">
            <a:solidFill>
              <a:srgbClr val="D8C45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2" name="Text 14"/>
          <p:cNvSpPr/>
          <p:nvPr/>
        </p:nvSpPr>
        <p:spPr>
          <a:xfrm>
            <a:off x="7443360" y="1527120"/>
            <a:ext cx="3172680" cy="3470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2500"/>
          </a:bodyPr>
          <a:lstStyle/>
          <a:p>
            <a:pPr defTabSz="914400">
              <a:lnSpc>
                <a:spcPct val="100000"/>
              </a:lnSpc>
              <a:tabLst>
                <a:tab pos="0" algn="l"/>
              </a:tabLst>
            </a:pPr>
            <a:r>
              <a:rPr lang="en-US" sz="1350" b="0" u="none" strike="noStrike">
                <a:solidFill>
                  <a:srgbClr val="162021"/>
                </a:solidFill>
                <a:effectLst/>
                <a:uFillTx/>
                <a:latin typeface="Comic Sans MS"/>
                <a:ea typeface="Comic Sans MS"/>
              </a:rPr>
              <a:t>Missing: structured intake before routing</a:t>
            </a:r>
            <a:endParaRPr lang="en-US" sz="1350" b="0" u="none" strike="noStrike">
              <a:solidFill>
                <a:srgbClr val="000000"/>
              </a:solidFill>
              <a:effectLst/>
              <a:uFillTx/>
              <a:latin typeface="Arial"/>
            </a:endParaRPr>
          </a:p>
        </p:txBody>
      </p:sp>
      <p:sp>
        <p:nvSpPr>
          <p:cNvPr id="133" name="Shape 15"/>
          <p:cNvSpPr/>
          <p:nvPr/>
        </p:nvSpPr>
        <p:spPr>
          <a:xfrm>
            <a:off x="7315200" y="2304360"/>
            <a:ext cx="3428640" cy="566640"/>
          </a:xfrm>
          <a:prstGeom prst="rect">
            <a:avLst/>
          </a:prstGeom>
          <a:solidFill>
            <a:srgbClr val="FFF4C7"/>
          </a:solidFill>
          <a:ln w="12700">
            <a:solidFill>
              <a:srgbClr val="D8C45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4" name="Text 16"/>
          <p:cNvSpPr/>
          <p:nvPr/>
        </p:nvSpPr>
        <p:spPr>
          <a:xfrm>
            <a:off x="7443360" y="2414160"/>
            <a:ext cx="3172680" cy="3470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50" b="0" u="none" strike="noStrike">
                <a:solidFill>
                  <a:srgbClr val="162021"/>
                </a:solidFill>
                <a:effectLst/>
                <a:uFillTx/>
                <a:latin typeface="Comic Sans MS"/>
                <a:ea typeface="Comic Sans MS"/>
              </a:rPr>
              <a:t>Missing: controlled handoff context</a:t>
            </a:r>
            <a:endParaRPr lang="en-US" sz="1350" b="0" u="none" strike="noStrike">
              <a:solidFill>
                <a:srgbClr val="000000"/>
              </a:solidFill>
              <a:effectLst/>
              <a:uFillTx/>
              <a:latin typeface="Arial"/>
            </a:endParaRPr>
          </a:p>
        </p:txBody>
      </p:sp>
      <p:sp>
        <p:nvSpPr>
          <p:cNvPr id="135" name="Shape 17"/>
          <p:cNvSpPr/>
          <p:nvPr/>
        </p:nvSpPr>
        <p:spPr>
          <a:xfrm>
            <a:off x="7315200" y="3191400"/>
            <a:ext cx="3428640" cy="566640"/>
          </a:xfrm>
          <a:prstGeom prst="rect">
            <a:avLst/>
          </a:prstGeom>
          <a:solidFill>
            <a:srgbClr val="FFF4C7"/>
          </a:solidFill>
          <a:ln w="12700">
            <a:solidFill>
              <a:srgbClr val="D8C45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6" name="Text 18"/>
          <p:cNvSpPr/>
          <p:nvPr/>
        </p:nvSpPr>
        <p:spPr>
          <a:xfrm>
            <a:off x="7443360" y="3300840"/>
            <a:ext cx="3172680" cy="3470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50" b="0" u="none" strike="noStrike">
                <a:solidFill>
                  <a:srgbClr val="162021"/>
                </a:solidFill>
                <a:effectLst/>
                <a:uFillTx/>
                <a:latin typeface="Comic Sans MS"/>
                <a:ea typeface="Comic Sans MS"/>
              </a:rPr>
              <a:t>Missing: deterministic next step</a:t>
            </a:r>
            <a:endParaRPr lang="en-US" sz="1350" b="0" u="none" strike="noStrike">
              <a:solidFill>
                <a:srgbClr val="000000"/>
              </a:solidFill>
              <a:effectLst/>
              <a:uFillTx/>
              <a:latin typeface="Arial"/>
            </a:endParaRPr>
          </a:p>
        </p:txBody>
      </p:sp>
      <p:sp>
        <p:nvSpPr>
          <p:cNvPr id="137" name="Shape 19"/>
          <p:cNvSpPr/>
          <p:nvPr/>
        </p:nvSpPr>
        <p:spPr>
          <a:xfrm>
            <a:off x="822960" y="4389120"/>
            <a:ext cx="2285640" cy="475200"/>
          </a:xfrm>
          <a:prstGeom prst="roundRect">
            <a:avLst>
              <a:gd name="adj" fmla="val 15385"/>
            </a:avLst>
          </a:prstGeom>
          <a:solidFill>
            <a:srgbClr val="E8F5F2"/>
          </a:solidFill>
          <a:ln w="19050">
            <a:solidFill>
              <a:srgbClr val="0C796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8" name="Text 20"/>
          <p:cNvSpPr/>
          <p:nvPr/>
        </p:nvSpPr>
        <p:spPr>
          <a:xfrm>
            <a:off x="932760" y="4498920"/>
            <a:ext cx="2066040" cy="255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20" b="1" u="none" strike="noStrike">
                <a:solidFill>
                  <a:srgbClr val="0C796D"/>
                </a:solidFill>
                <a:effectLst/>
                <a:uFillTx/>
                <a:latin typeface="Arial"/>
                <a:ea typeface="Arial"/>
              </a:rPr>
              <a:t>What should happen first</a:t>
            </a:r>
            <a:endParaRPr lang="en-US" sz="1320" b="0" u="none" strike="noStrike">
              <a:solidFill>
                <a:srgbClr val="000000"/>
              </a:solidFill>
              <a:effectLst/>
              <a:uFillTx/>
              <a:latin typeface="Arial"/>
            </a:endParaRPr>
          </a:p>
        </p:txBody>
      </p:sp>
      <p:sp>
        <p:nvSpPr>
          <p:cNvPr id="139" name="Text 21"/>
          <p:cNvSpPr/>
          <p:nvPr/>
        </p:nvSpPr>
        <p:spPr>
          <a:xfrm>
            <a:off x="3310200" y="4425840"/>
            <a:ext cx="6994800" cy="3654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t">
            <a:normAutofit/>
          </a:bodyPr>
          <a:lstStyle/>
          <a:p>
            <a:pPr defTabSz="914400">
              <a:lnSpc>
                <a:spcPct val="100000"/>
              </a:lnSpc>
              <a:tabLst>
                <a:tab pos="0" algn="l"/>
              </a:tabLst>
            </a:pPr>
            <a:r>
              <a:rPr lang="en-US" sz="1600" b="1" u="none" strike="noStrike" dirty="0">
                <a:solidFill>
                  <a:srgbClr val="162021"/>
                </a:solidFill>
                <a:effectLst/>
                <a:uFillTx/>
                <a:latin typeface="Arial"/>
                <a:ea typeface="Arial"/>
              </a:rPr>
              <a:t>onset · severity · change · warning signs · required context</a:t>
            </a:r>
            <a:endParaRPr lang="en-US" sz="1600" b="0" u="none" strike="noStrike" dirty="0">
              <a:solidFill>
                <a:srgbClr val="000000"/>
              </a:solidFill>
              <a:effectLst/>
              <a:uFillTx/>
              <a:latin typeface="Arial"/>
            </a:endParaRPr>
          </a:p>
        </p:txBody>
      </p:sp>
      <p:sp>
        <p:nvSpPr>
          <p:cNvPr id="140" name="Text 22"/>
          <p:cNvSpPr/>
          <p:nvPr/>
        </p:nvSpPr>
        <p:spPr>
          <a:xfrm>
            <a:off x="822960" y="5349240"/>
            <a:ext cx="9783720" cy="4568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t">
            <a:normAutofit fontScale="92500" lnSpcReduction="10000"/>
          </a:bodyPr>
          <a:lstStyle/>
          <a:p>
            <a:pPr defTabSz="914400">
              <a:lnSpc>
                <a:spcPct val="100000"/>
              </a:lnSpc>
              <a:tabLst>
                <a:tab pos="0" algn="l"/>
              </a:tabLst>
            </a:pPr>
            <a:r>
              <a:rPr lang="en-US" sz="1750" b="1" u="none" strike="noStrike" dirty="0">
                <a:solidFill>
                  <a:srgbClr val="0C796D"/>
                </a:solidFill>
                <a:effectLst/>
                <a:uFillTx/>
                <a:latin typeface="Arial"/>
                <a:ea typeface="Arial"/>
              </a:rPr>
              <a:t>Observability shows what the agent actually did</a:t>
            </a:r>
          </a:p>
          <a:p>
            <a:pPr defTabSz="914400">
              <a:lnSpc>
                <a:spcPct val="100000"/>
              </a:lnSpc>
              <a:tabLst>
                <a:tab pos="0" algn="l"/>
              </a:tabLst>
            </a:pPr>
            <a:r>
              <a:rPr lang="en-US" sz="1750" b="1" u="none" strike="noStrike" dirty="0">
                <a:solidFill>
                  <a:srgbClr val="0C796D"/>
                </a:solidFill>
                <a:effectLst/>
                <a:uFillTx/>
                <a:latin typeface="Arial"/>
                <a:ea typeface="Arial"/>
              </a:rPr>
              <a:t>Governance defines what the agent was allowed to do or what should happen next!</a:t>
            </a:r>
            <a:endParaRPr lang="en-US" sz="1750" b="0" u="none" strike="noStrike" dirty="0">
              <a:solidFill>
                <a:srgbClr val="000000"/>
              </a:solidFill>
              <a:effectLst/>
              <a:uFillTx/>
              <a:latin typeface="Arial"/>
            </a:endParaRPr>
          </a:p>
        </p:txBody>
      </p:sp>
      <p:sp>
        <p:nvSpPr>
          <p:cNvPr id="141" name="Text 23"/>
          <p:cNvSpPr/>
          <p:nvPr/>
        </p:nvSpPr>
        <p:spPr>
          <a:xfrm>
            <a:off x="11567160" y="6455520"/>
            <a:ext cx="2282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9AA4A8"/>
                </a:solidFill>
                <a:effectLst/>
                <a:uFillTx/>
                <a:latin typeface="Arial"/>
                <a:ea typeface="Arial"/>
              </a:rPr>
              <a:t>7</a:t>
            </a:r>
            <a:endParaRPr lang="en-US" sz="750" b="0" u="none" strike="noStrike">
              <a:solidFill>
                <a:srgbClr val="000000"/>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42" name="Image 0" descr="/mnt/data/applied_template_content.jpg"/>
          <p:cNvPicPr/>
          <p:nvPr/>
        </p:nvPicPr>
        <p:blipFill>
          <a:blip r:embed="rId3"/>
          <a:stretch/>
        </p:blipFill>
        <p:spPr>
          <a:xfrm>
            <a:off x="0" y="0"/>
            <a:ext cx="12191400" cy="6857640"/>
          </a:xfrm>
          <a:prstGeom prst="rect">
            <a:avLst/>
          </a:prstGeom>
          <a:noFill/>
          <a:ln w="0">
            <a:noFill/>
          </a:ln>
        </p:spPr>
      </p:pic>
      <p:pic>
        <p:nvPicPr>
          <p:cNvPr id="143" name="Image 1" descr="/mnt/data/template_extract/ppt/media/image2.png"/>
          <p:cNvPicPr/>
          <p:nvPr/>
        </p:nvPicPr>
        <p:blipFill>
          <a:blip r:embed="rId4"/>
          <a:stretch/>
        </p:blipFill>
        <p:spPr>
          <a:xfrm>
            <a:off x="9738360" y="6291000"/>
            <a:ext cx="2057040" cy="475200"/>
          </a:xfrm>
          <a:prstGeom prst="rect">
            <a:avLst/>
          </a:prstGeom>
          <a:noFill/>
          <a:ln w="0">
            <a:noFill/>
          </a:ln>
        </p:spPr>
      </p:pic>
      <p:sp>
        <p:nvSpPr>
          <p:cNvPr id="144" name="Text 0"/>
          <p:cNvSpPr/>
          <p:nvPr/>
        </p:nvSpPr>
        <p:spPr>
          <a:xfrm>
            <a:off x="502920" y="347400"/>
            <a:ext cx="969228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u="none" strike="noStrike">
                <a:solidFill>
                  <a:srgbClr val="FFFFFF"/>
                </a:solidFill>
                <a:effectLst/>
                <a:uFillTx/>
                <a:latin typeface="Arial"/>
                <a:ea typeface="Arial"/>
              </a:rPr>
              <a:t>Reference architecture</a:t>
            </a:r>
            <a:endParaRPr lang="en-US" sz="2600" b="0" u="none" strike="noStrike">
              <a:solidFill>
                <a:srgbClr val="000000"/>
              </a:solidFill>
              <a:effectLst/>
              <a:uFillTx/>
              <a:latin typeface="Arial"/>
            </a:endParaRPr>
          </a:p>
        </p:txBody>
      </p:sp>
      <p:sp>
        <p:nvSpPr>
          <p:cNvPr id="145" name="Text 1"/>
          <p:cNvSpPr/>
          <p:nvPr/>
        </p:nvSpPr>
        <p:spPr>
          <a:xfrm>
            <a:off x="530280" y="822960"/>
            <a:ext cx="932652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CFEAF5"/>
                </a:solidFill>
                <a:effectLst/>
                <a:uFillTx/>
                <a:latin typeface="Arial"/>
                <a:ea typeface="Arial"/>
              </a:rPr>
              <a:t>PCP orchestrator, bounded specialist agents, MCP gateway, systems of record, and clinician review</a:t>
            </a:r>
            <a:endParaRPr lang="en-US" sz="1150" b="0" u="none" strike="noStrike">
              <a:solidFill>
                <a:srgbClr val="000000"/>
              </a:solidFill>
              <a:effectLst/>
              <a:uFillTx/>
              <a:latin typeface="Arial"/>
            </a:endParaRPr>
          </a:p>
        </p:txBody>
      </p:sp>
      <p:sp>
        <p:nvSpPr>
          <p:cNvPr id="146" name="Shape 2"/>
          <p:cNvSpPr/>
          <p:nvPr/>
        </p:nvSpPr>
        <p:spPr>
          <a:xfrm>
            <a:off x="567000" y="2487240"/>
            <a:ext cx="1096920" cy="639720"/>
          </a:xfrm>
          <a:prstGeom prst="roundRect">
            <a:avLst>
              <a:gd name="adj" fmla="val 11429"/>
            </a:avLst>
          </a:prstGeom>
          <a:solidFill>
            <a:srgbClr val="FFFFFF"/>
          </a:solidFill>
          <a:ln w="19050">
            <a:solidFill>
              <a:srgbClr val="16202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7" name="Text 3"/>
          <p:cNvSpPr/>
          <p:nvPr/>
        </p:nvSpPr>
        <p:spPr>
          <a:xfrm>
            <a:off x="676800" y="2597040"/>
            <a:ext cx="877320" cy="4201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0" u="none" strike="noStrike">
                <a:solidFill>
                  <a:srgbClr val="162021"/>
                </a:solidFill>
                <a:effectLst/>
                <a:uFillTx/>
                <a:latin typeface="Comic Sans MS"/>
                <a:ea typeface="Comic Sans MS"/>
              </a:rPr>
              <a:t>Patient</a:t>
            </a:r>
            <a:endParaRPr lang="en-US" sz="1300" b="0" u="none" strike="noStrike">
              <a:solidFill>
                <a:srgbClr val="000000"/>
              </a:solidFill>
              <a:effectLst/>
              <a:uFillTx/>
              <a:latin typeface="Arial"/>
            </a:endParaRPr>
          </a:p>
          <a:p>
            <a:pPr algn="ctr" defTabSz="914400">
              <a:lnSpc>
                <a:spcPct val="100000"/>
              </a:lnSpc>
              <a:tabLst>
                <a:tab pos="0" algn="l"/>
              </a:tabLst>
            </a:pPr>
            <a:r>
              <a:rPr lang="en-US" sz="1300" b="0" u="none" strike="noStrike">
                <a:solidFill>
                  <a:srgbClr val="162021"/>
                </a:solidFill>
                <a:effectLst/>
                <a:uFillTx/>
                <a:latin typeface="Comic Sans MS"/>
                <a:ea typeface="Comic Sans MS"/>
              </a:rPr>
              <a:t>concern</a:t>
            </a:r>
            <a:endParaRPr lang="en-US" sz="1300" b="0" u="none" strike="noStrike">
              <a:solidFill>
                <a:srgbClr val="000000"/>
              </a:solidFill>
              <a:effectLst/>
              <a:uFillTx/>
              <a:latin typeface="Arial"/>
            </a:endParaRPr>
          </a:p>
        </p:txBody>
      </p:sp>
      <p:sp>
        <p:nvSpPr>
          <p:cNvPr id="148" name="Shape 4"/>
          <p:cNvSpPr/>
          <p:nvPr/>
        </p:nvSpPr>
        <p:spPr>
          <a:xfrm>
            <a:off x="1700640" y="2806920"/>
            <a:ext cx="475560" cy="360"/>
          </a:xfrm>
          <a:prstGeom prst="line">
            <a:avLst/>
          </a:prstGeom>
          <a:ln w="16510">
            <a:solidFill>
              <a:srgbClr val="162021"/>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49" name="Shape 5"/>
          <p:cNvSpPr/>
          <p:nvPr/>
        </p:nvSpPr>
        <p:spPr>
          <a:xfrm>
            <a:off x="2221920" y="2331720"/>
            <a:ext cx="1416960" cy="959760"/>
          </a:xfrm>
          <a:prstGeom prst="roundRect">
            <a:avLst>
              <a:gd name="adj" fmla="val 7619"/>
            </a:avLst>
          </a:prstGeom>
          <a:solidFill>
            <a:srgbClr val="FFFFFF"/>
          </a:solidFill>
          <a:ln w="19050">
            <a:solidFill>
              <a:srgbClr val="169B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50" name="Text 6"/>
          <p:cNvSpPr/>
          <p:nvPr/>
        </p:nvSpPr>
        <p:spPr>
          <a:xfrm>
            <a:off x="2331720" y="2441520"/>
            <a:ext cx="1197360" cy="740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0" u="none" strike="noStrike">
                <a:solidFill>
                  <a:srgbClr val="169BD5"/>
                </a:solidFill>
                <a:effectLst/>
                <a:uFillTx/>
                <a:latin typeface="Comic Sans MS"/>
                <a:ea typeface="Comic Sans MS"/>
              </a:rPr>
              <a:t>Care navigation</a:t>
            </a:r>
            <a:endParaRPr lang="en-US" sz="1300" b="0" u="none" strike="noStrike">
              <a:solidFill>
                <a:srgbClr val="000000"/>
              </a:solidFill>
              <a:effectLst/>
              <a:uFillTx/>
              <a:latin typeface="Arial"/>
            </a:endParaRPr>
          </a:p>
          <a:p>
            <a:pPr algn="ctr" defTabSz="914400">
              <a:lnSpc>
                <a:spcPct val="100000"/>
              </a:lnSpc>
              <a:tabLst>
                <a:tab pos="0" algn="l"/>
              </a:tabLst>
            </a:pPr>
            <a:r>
              <a:rPr lang="en-US" sz="1300" b="0" u="none" strike="noStrike">
                <a:solidFill>
                  <a:srgbClr val="169BD5"/>
                </a:solidFill>
                <a:effectLst/>
                <a:uFillTx/>
                <a:latin typeface="Comic Sans MS"/>
                <a:ea typeface="Comic Sans MS"/>
              </a:rPr>
              <a:t>chat</a:t>
            </a:r>
            <a:endParaRPr lang="en-US" sz="1300" b="0" u="none" strike="noStrike">
              <a:solidFill>
                <a:srgbClr val="000000"/>
              </a:solidFill>
              <a:effectLst/>
              <a:uFillTx/>
              <a:latin typeface="Arial"/>
            </a:endParaRPr>
          </a:p>
        </p:txBody>
      </p:sp>
      <p:sp>
        <p:nvSpPr>
          <p:cNvPr id="151" name="Shape 7"/>
          <p:cNvSpPr/>
          <p:nvPr/>
        </p:nvSpPr>
        <p:spPr>
          <a:xfrm>
            <a:off x="3684960" y="2806920"/>
            <a:ext cx="502920" cy="360"/>
          </a:xfrm>
          <a:prstGeom prst="line">
            <a:avLst/>
          </a:prstGeom>
          <a:ln w="16510">
            <a:solidFill>
              <a:srgbClr val="162021"/>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52" name="Shape 8"/>
          <p:cNvSpPr/>
          <p:nvPr/>
        </p:nvSpPr>
        <p:spPr>
          <a:xfrm>
            <a:off x="4224600" y="1993320"/>
            <a:ext cx="1691280" cy="1627200"/>
          </a:xfrm>
          <a:prstGeom prst="roundRect">
            <a:avLst>
              <a:gd name="adj" fmla="val 4494"/>
            </a:avLst>
          </a:prstGeom>
          <a:solidFill>
            <a:srgbClr val="FFFFFF"/>
          </a:solidFill>
          <a:ln w="19050">
            <a:solidFill>
              <a:srgbClr val="0C796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53" name="Text 9"/>
          <p:cNvSpPr/>
          <p:nvPr/>
        </p:nvSpPr>
        <p:spPr>
          <a:xfrm>
            <a:off x="4334400" y="2103120"/>
            <a:ext cx="1471680" cy="1407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40" b="1" u="none" strike="noStrike">
                <a:solidFill>
                  <a:srgbClr val="162021"/>
                </a:solidFill>
                <a:effectLst/>
                <a:uFillTx/>
                <a:latin typeface="Comic Sans MS"/>
                <a:ea typeface="Comic Sans MS"/>
              </a:rPr>
              <a:t>PCP Agent</a:t>
            </a:r>
            <a:endParaRPr lang="en-US" sz="1240" b="0" u="none" strike="noStrike">
              <a:solidFill>
                <a:srgbClr val="000000"/>
              </a:solidFill>
              <a:effectLst/>
              <a:uFillTx/>
              <a:latin typeface="Arial"/>
            </a:endParaRPr>
          </a:p>
          <a:p>
            <a:pPr algn="ctr" defTabSz="914400">
              <a:lnSpc>
                <a:spcPct val="100000"/>
              </a:lnSpc>
              <a:tabLst>
                <a:tab pos="0" algn="l"/>
              </a:tabLst>
            </a:pPr>
            <a:r>
              <a:rPr lang="en-US" sz="1240" b="1" u="none" strike="noStrike">
                <a:solidFill>
                  <a:srgbClr val="162021"/>
                </a:solidFill>
                <a:effectLst/>
                <a:uFillTx/>
                <a:latin typeface="Comic Sans MS"/>
                <a:ea typeface="Comic Sans MS"/>
              </a:rPr>
              <a:t>Orchestrator</a:t>
            </a:r>
            <a:endParaRPr lang="en-US" sz="1240" b="0" u="none" strike="noStrike">
              <a:solidFill>
                <a:srgbClr val="000000"/>
              </a:solidFill>
              <a:effectLst/>
              <a:uFillTx/>
              <a:latin typeface="Arial"/>
            </a:endParaRPr>
          </a:p>
          <a:p>
            <a:pPr algn="ctr" defTabSz="914400">
              <a:lnSpc>
                <a:spcPct val="100000"/>
              </a:lnSpc>
              <a:tabLst>
                <a:tab pos="0" algn="l"/>
              </a:tabLst>
            </a:pPr>
            <a:endParaRPr lang="en-US" sz="1240" b="0" u="none" strike="noStrike">
              <a:solidFill>
                <a:srgbClr val="000000"/>
              </a:solidFill>
              <a:effectLst/>
              <a:uFillTx/>
              <a:latin typeface="Arial"/>
            </a:endParaRPr>
          </a:p>
          <a:p>
            <a:pPr algn="ctr" defTabSz="914400">
              <a:lnSpc>
                <a:spcPct val="100000"/>
              </a:lnSpc>
              <a:tabLst>
                <a:tab pos="0" algn="l"/>
              </a:tabLst>
            </a:pPr>
            <a:r>
              <a:rPr lang="en-US" sz="1240" b="1" u="none" strike="noStrike">
                <a:solidFill>
                  <a:srgbClr val="162021"/>
                </a:solidFill>
                <a:effectLst/>
                <a:uFillTx/>
                <a:latin typeface="Comic Sans MS"/>
                <a:ea typeface="Comic Sans MS"/>
              </a:rPr>
              <a:t>intake · context</a:t>
            </a:r>
            <a:endParaRPr lang="en-US" sz="1240" b="0" u="none" strike="noStrike">
              <a:solidFill>
                <a:srgbClr val="000000"/>
              </a:solidFill>
              <a:effectLst/>
              <a:uFillTx/>
              <a:latin typeface="Arial"/>
            </a:endParaRPr>
          </a:p>
          <a:p>
            <a:pPr algn="ctr" defTabSz="914400">
              <a:lnSpc>
                <a:spcPct val="100000"/>
              </a:lnSpc>
              <a:tabLst>
                <a:tab pos="0" algn="l"/>
              </a:tabLst>
            </a:pPr>
            <a:r>
              <a:rPr lang="en-US" sz="1240" b="1" u="none" strike="noStrike">
                <a:solidFill>
                  <a:srgbClr val="162021"/>
                </a:solidFill>
                <a:effectLst/>
                <a:uFillTx/>
                <a:latin typeface="Comic Sans MS"/>
                <a:ea typeface="Comic Sans MS"/>
              </a:rPr>
              <a:t>routing · summary</a:t>
            </a:r>
            <a:endParaRPr lang="en-US" sz="1240" b="0" u="none" strike="noStrike">
              <a:solidFill>
                <a:srgbClr val="000000"/>
              </a:solidFill>
              <a:effectLst/>
              <a:uFillTx/>
              <a:latin typeface="Arial"/>
            </a:endParaRPr>
          </a:p>
        </p:txBody>
      </p:sp>
      <p:sp>
        <p:nvSpPr>
          <p:cNvPr id="154" name="Shape 10"/>
          <p:cNvSpPr/>
          <p:nvPr/>
        </p:nvSpPr>
        <p:spPr>
          <a:xfrm flipV="1">
            <a:off x="5943600" y="1828800"/>
            <a:ext cx="475200" cy="658080"/>
          </a:xfrm>
          <a:prstGeom prst="line">
            <a:avLst/>
          </a:prstGeom>
          <a:ln w="16510">
            <a:solidFill>
              <a:srgbClr val="162021"/>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55" name="Shape 11"/>
          <p:cNvSpPr/>
          <p:nvPr/>
        </p:nvSpPr>
        <p:spPr>
          <a:xfrm>
            <a:off x="5943600" y="2816280"/>
            <a:ext cx="475200" cy="360"/>
          </a:xfrm>
          <a:prstGeom prst="line">
            <a:avLst/>
          </a:prstGeom>
          <a:ln w="16510">
            <a:solidFill>
              <a:srgbClr val="162021"/>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56" name="Shape 12"/>
          <p:cNvSpPr/>
          <p:nvPr/>
        </p:nvSpPr>
        <p:spPr>
          <a:xfrm>
            <a:off x="5943600" y="3154680"/>
            <a:ext cx="475200" cy="612360"/>
          </a:xfrm>
          <a:prstGeom prst="line">
            <a:avLst/>
          </a:prstGeom>
          <a:ln w="13970">
            <a:solidFill>
              <a:srgbClr val="162021"/>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57" name="Shape 13"/>
          <p:cNvSpPr/>
          <p:nvPr/>
        </p:nvSpPr>
        <p:spPr>
          <a:xfrm>
            <a:off x="6455520" y="1572840"/>
            <a:ext cx="1325520" cy="475200"/>
          </a:xfrm>
          <a:prstGeom prst="roundRect">
            <a:avLst>
              <a:gd name="adj" fmla="val 15385"/>
            </a:avLst>
          </a:prstGeom>
          <a:solidFill>
            <a:srgbClr val="FFFFFF"/>
          </a:solidFill>
          <a:ln w="19050">
            <a:solidFill>
              <a:srgbClr val="0C796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58" name="Text 14"/>
          <p:cNvSpPr/>
          <p:nvPr/>
        </p:nvSpPr>
        <p:spPr>
          <a:xfrm>
            <a:off x="6565320" y="1682640"/>
            <a:ext cx="1105920" cy="255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0" u="none" strike="noStrike">
                <a:solidFill>
                  <a:srgbClr val="0C796D"/>
                </a:solidFill>
                <a:effectLst/>
                <a:uFillTx/>
                <a:latin typeface="Comic Sans MS"/>
                <a:ea typeface="Comic Sans MS"/>
              </a:rPr>
              <a:t>Neurology</a:t>
            </a:r>
            <a:endParaRPr lang="en-US" sz="1200" b="0" u="none" strike="noStrike">
              <a:solidFill>
                <a:srgbClr val="000000"/>
              </a:solidFill>
              <a:effectLst/>
              <a:uFillTx/>
              <a:latin typeface="Arial"/>
            </a:endParaRPr>
          </a:p>
        </p:txBody>
      </p:sp>
      <p:sp>
        <p:nvSpPr>
          <p:cNvPr id="159" name="Shape 15"/>
          <p:cNvSpPr/>
          <p:nvPr/>
        </p:nvSpPr>
        <p:spPr>
          <a:xfrm>
            <a:off x="6455520" y="2578680"/>
            <a:ext cx="1325520" cy="475200"/>
          </a:xfrm>
          <a:prstGeom prst="roundRect">
            <a:avLst>
              <a:gd name="adj" fmla="val 15385"/>
            </a:avLst>
          </a:prstGeom>
          <a:solidFill>
            <a:srgbClr val="FFFFFF"/>
          </a:solidFill>
          <a:ln w="19050">
            <a:solidFill>
              <a:srgbClr val="0C796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60" name="Text 16"/>
          <p:cNvSpPr/>
          <p:nvPr/>
        </p:nvSpPr>
        <p:spPr>
          <a:xfrm>
            <a:off x="6565320" y="2688480"/>
            <a:ext cx="1105920" cy="255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0" u="none" strike="noStrike">
                <a:solidFill>
                  <a:srgbClr val="0C796D"/>
                </a:solidFill>
                <a:effectLst/>
                <a:uFillTx/>
                <a:latin typeface="Comic Sans MS"/>
                <a:ea typeface="Comic Sans MS"/>
              </a:rPr>
              <a:t>GI</a:t>
            </a:r>
            <a:endParaRPr lang="en-US" sz="1200" b="0" u="none" strike="noStrike">
              <a:solidFill>
                <a:srgbClr val="000000"/>
              </a:solidFill>
              <a:effectLst/>
              <a:uFillTx/>
              <a:latin typeface="Arial"/>
            </a:endParaRPr>
          </a:p>
        </p:txBody>
      </p:sp>
      <p:sp>
        <p:nvSpPr>
          <p:cNvPr id="161" name="Shape 17"/>
          <p:cNvSpPr/>
          <p:nvPr/>
        </p:nvSpPr>
        <p:spPr>
          <a:xfrm>
            <a:off x="6455520" y="3511440"/>
            <a:ext cx="1325520" cy="658080"/>
          </a:xfrm>
          <a:prstGeom prst="roundRect">
            <a:avLst>
              <a:gd name="adj" fmla="val 11111"/>
            </a:avLst>
          </a:prstGeom>
          <a:solidFill>
            <a:srgbClr val="FFFFFF"/>
          </a:solidFill>
          <a:ln w="19050">
            <a:solidFill>
              <a:srgbClr val="0C796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62" name="Text 18"/>
          <p:cNvSpPr/>
          <p:nvPr/>
        </p:nvSpPr>
        <p:spPr>
          <a:xfrm>
            <a:off x="6565320" y="3620880"/>
            <a:ext cx="1105920" cy="4384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20" b="0" u="none" strike="noStrike">
                <a:solidFill>
                  <a:srgbClr val="0C796D"/>
                </a:solidFill>
                <a:effectLst/>
                <a:uFillTx/>
                <a:latin typeface="Comic Sans MS"/>
                <a:ea typeface="Comic Sans MS"/>
              </a:rPr>
              <a:t>Other</a:t>
            </a:r>
            <a:endParaRPr lang="en-US" sz="1120" b="0" u="none" strike="noStrike">
              <a:solidFill>
                <a:srgbClr val="000000"/>
              </a:solidFill>
              <a:effectLst/>
              <a:uFillTx/>
              <a:latin typeface="Arial"/>
            </a:endParaRPr>
          </a:p>
          <a:p>
            <a:pPr algn="ctr" defTabSz="914400">
              <a:lnSpc>
                <a:spcPct val="100000"/>
              </a:lnSpc>
              <a:tabLst>
                <a:tab pos="0" algn="l"/>
              </a:tabLst>
            </a:pPr>
            <a:r>
              <a:rPr lang="en-US" sz="1120" b="0" u="none" strike="noStrike">
                <a:solidFill>
                  <a:srgbClr val="0C796D"/>
                </a:solidFill>
                <a:effectLst/>
                <a:uFillTx/>
                <a:latin typeface="Comic Sans MS"/>
                <a:ea typeface="Comic Sans MS"/>
              </a:rPr>
              <a:t>specialists</a:t>
            </a:r>
            <a:endParaRPr lang="en-US" sz="1120" b="0" u="none" strike="noStrike">
              <a:solidFill>
                <a:srgbClr val="000000"/>
              </a:solidFill>
              <a:effectLst/>
              <a:uFillTx/>
              <a:latin typeface="Arial"/>
            </a:endParaRPr>
          </a:p>
        </p:txBody>
      </p:sp>
      <p:sp>
        <p:nvSpPr>
          <p:cNvPr id="163" name="Shape 19"/>
          <p:cNvSpPr/>
          <p:nvPr/>
        </p:nvSpPr>
        <p:spPr>
          <a:xfrm>
            <a:off x="7818120" y="2816280"/>
            <a:ext cx="520920" cy="360"/>
          </a:xfrm>
          <a:prstGeom prst="line">
            <a:avLst/>
          </a:prstGeom>
          <a:ln w="15240">
            <a:solidFill>
              <a:srgbClr val="162021"/>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64" name="Shape 20"/>
          <p:cNvSpPr/>
          <p:nvPr/>
        </p:nvSpPr>
        <p:spPr>
          <a:xfrm>
            <a:off x="8394120" y="1865520"/>
            <a:ext cx="1170000" cy="1938240"/>
          </a:xfrm>
          <a:prstGeom prst="roundRect">
            <a:avLst>
              <a:gd name="adj" fmla="val 6250"/>
            </a:avLst>
          </a:prstGeom>
          <a:solidFill>
            <a:srgbClr val="FFFFFF"/>
          </a:solidFill>
          <a:ln w="19050">
            <a:solidFill>
              <a:srgbClr val="0C796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65" name="Text 21"/>
          <p:cNvSpPr/>
          <p:nvPr/>
        </p:nvSpPr>
        <p:spPr>
          <a:xfrm>
            <a:off x="8503920" y="1974960"/>
            <a:ext cx="950760" cy="17186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40" b="1" u="none" strike="noStrike">
                <a:solidFill>
                  <a:srgbClr val="162021"/>
                </a:solidFill>
                <a:effectLst/>
                <a:uFillTx/>
                <a:latin typeface="Comic Sans MS"/>
                <a:ea typeface="Comic Sans MS"/>
              </a:rPr>
              <a:t>MCP</a:t>
            </a:r>
            <a:endParaRPr lang="en-US" sz="1140" b="0" u="none" strike="noStrike">
              <a:solidFill>
                <a:srgbClr val="000000"/>
              </a:solidFill>
              <a:effectLst/>
              <a:uFillTx/>
              <a:latin typeface="Arial"/>
            </a:endParaRPr>
          </a:p>
          <a:p>
            <a:pPr algn="ctr" defTabSz="914400">
              <a:lnSpc>
                <a:spcPct val="100000"/>
              </a:lnSpc>
              <a:tabLst>
                <a:tab pos="0" algn="l"/>
              </a:tabLst>
            </a:pPr>
            <a:r>
              <a:rPr lang="en-US" sz="1140" b="1" u="none" strike="noStrike">
                <a:solidFill>
                  <a:srgbClr val="162021"/>
                </a:solidFill>
                <a:effectLst/>
                <a:uFillTx/>
                <a:latin typeface="Comic Sans MS"/>
                <a:ea typeface="Comic Sans MS"/>
              </a:rPr>
              <a:t>Gateway</a:t>
            </a:r>
            <a:endParaRPr lang="en-US" sz="1140" b="0" u="none" strike="noStrike">
              <a:solidFill>
                <a:srgbClr val="000000"/>
              </a:solidFill>
              <a:effectLst/>
              <a:uFillTx/>
              <a:latin typeface="Arial"/>
            </a:endParaRPr>
          </a:p>
          <a:p>
            <a:pPr algn="ctr" defTabSz="914400">
              <a:lnSpc>
                <a:spcPct val="100000"/>
              </a:lnSpc>
              <a:tabLst>
                <a:tab pos="0" algn="l"/>
              </a:tabLst>
            </a:pPr>
            <a:endParaRPr lang="en-US" sz="1140" b="0" u="none" strike="noStrike">
              <a:solidFill>
                <a:srgbClr val="000000"/>
              </a:solidFill>
              <a:effectLst/>
              <a:uFillTx/>
              <a:latin typeface="Arial"/>
            </a:endParaRPr>
          </a:p>
          <a:p>
            <a:pPr algn="ctr" defTabSz="914400">
              <a:lnSpc>
                <a:spcPct val="100000"/>
              </a:lnSpc>
              <a:tabLst>
                <a:tab pos="0" algn="l"/>
              </a:tabLst>
            </a:pPr>
            <a:r>
              <a:rPr lang="en-US" sz="1140" b="1" u="none" strike="noStrike">
                <a:solidFill>
                  <a:srgbClr val="162021"/>
                </a:solidFill>
                <a:effectLst/>
                <a:uFillTx/>
                <a:latin typeface="Comic Sans MS"/>
                <a:ea typeface="Comic Sans MS"/>
              </a:rPr>
              <a:t>auth · policy</a:t>
            </a:r>
            <a:endParaRPr lang="en-US" sz="1140" b="0" u="none" strike="noStrike">
              <a:solidFill>
                <a:srgbClr val="000000"/>
              </a:solidFill>
              <a:effectLst/>
              <a:uFillTx/>
              <a:latin typeface="Arial"/>
            </a:endParaRPr>
          </a:p>
          <a:p>
            <a:pPr algn="ctr" defTabSz="914400">
              <a:lnSpc>
                <a:spcPct val="100000"/>
              </a:lnSpc>
              <a:tabLst>
                <a:tab pos="0" algn="l"/>
              </a:tabLst>
            </a:pPr>
            <a:r>
              <a:rPr lang="en-US" sz="1140" b="1" u="none" strike="noStrike">
                <a:solidFill>
                  <a:srgbClr val="162021"/>
                </a:solidFill>
                <a:effectLst/>
                <a:uFillTx/>
                <a:latin typeface="Comic Sans MS"/>
                <a:ea typeface="Comic Sans MS"/>
              </a:rPr>
              <a:t>routing · audit</a:t>
            </a:r>
            <a:endParaRPr lang="en-US" sz="1140" b="0" u="none" strike="noStrike">
              <a:solidFill>
                <a:srgbClr val="000000"/>
              </a:solidFill>
              <a:effectLst/>
              <a:uFillTx/>
              <a:latin typeface="Arial"/>
            </a:endParaRPr>
          </a:p>
        </p:txBody>
      </p:sp>
      <p:sp>
        <p:nvSpPr>
          <p:cNvPr id="166" name="Shape 22"/>
          <p:cNvSpPr/>
          <p:nvPr/>
        </p:nvSpPr>
        <p:spPr>
          <a:xfrm flipV="1">
            <a:off x="9582840" y="1828800"/>
            <a:ext cx="457200" cy="987480"/>
          </a:xfrm>
          <a:prstGeom prst="line">
            <a:avLst/>
          </a:prstGeom>
          <a:ln w="13970">
            <a:solidFill>
              <a:srgbClr val="162021"/>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67" name="Shape 23"/>
          <p:cNvSpPr/>
          <p:nvPr/>
        </p:nvSpPr>
        <p:spPr>
          <a:xfrm>
            <a:off x="9582840" y="2816280"/>
            <a:ext cx="457200" cy="360"/>
          </a:xfrm>
          <a:prstGeom prst="line">
            <a:avLst/>
          </a:prstGeom>
          <a:ln w="13970">
            <a:solidFill>
              <a:srgbClr val="162021"/>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68" name="Shape 24"/>
          <p:cNvSpPr/>
          <p:nvPr/>
        </p:nvSpPr>
        <p:spPr>
          <a:xfrm>
            <a:off x="9582840" y="2816280"/>
            <a:ext cx="457200" cy="950760"/>
          </a:xfrm>
          <a:prstGeom prst="line">
            <a:avLst/>
          </a:prstGeom>
          <a:ln w="13970">
            <a:solidFill>
              <a:srgbClr val="162021"/>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69" name="Shape 25"/>
          <p:cNvSpPr/>
          <p:nvPr/>
        </p:nvSpPr>
        <p:spPr>
          <a:xfrm>
            <a:off x="10095120" y="1572840"/>
            <a:ext cx="1170000" cy="420120"/>
          </a:xfrm>
          <a:prstGeom prst="roundRect">
            <a:avLst>
              <a:gd name="adj" fmla="val 17391"/>
            </a:avLst>
          </a:prstGeom>
          <a:solidFill>
            <a:srgbClr val="FFFFFF"/>
          </a:solidFill>
          <a:ln w="19050">
            <a:solidFill>
              <a:srgbClr val="169B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70" name="Text 26"/>
          <p:cNvSpPr/>
          <p:nvPr/>
        </p:nvSpPr>
        <p:spPr>
          <a:xfrm>
            <a:off x="10204560" y="1682640"/>
            <a:ext cx="95076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0" u="none" strike="noStrike">
                <a:solidFill>
                  <a:srgbClr val="169BD5"/>
                </a:solidFill>
                <a:effectLst/>
                <a:uFillTx/>
                <a:latin typeface="Comic Sans MS"/>
                <a:ea typeface="Comic Sans MS"/>
              </a:rPr>
              <a:t>EHR</a:t>
            </a:r>
            <a:endParaRPr lang="en-US" sz="1200" b="0" u="none" strike="noStrike">
              <a:solidFill>
                <a:srgbClr val="000000"/>
              </a:solidFill>
              <a:effectLst/>
              <a:uFillTx/>
              <a:latin typeface="Arial"/>
            </a:endParaRPr>
          </a:p>
        </p:txBody>
      </p:sp>
      <p:sp>
        <p:nvSpPr>
          <p:cNvPr id="171" name="Shape 27"/>
          <p:cNvSpPr/>
          <p:nvPr/>
        </p:nvSpPr>
        <p:spPr>
          <a:xfrm>
            <a:off x="10095120" y="2231280"/>
            <a:ext cx="1170000" cy="420120"/>
          </a:xfrm>
          <a:prstGeom prst="roundRect">
            <a:avLst>
              <a:gd name="adj" fmla="val 17391"/>
            </a:avLst>
          </a:prstGeom>
          <a:solidFill>
            <a:srgbClr val="FFFFFF"/>
          </a:solidFill>
          <a:ln w="19050">
            <a:solidFill>
              <a:srgbClr val="169B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72" name="Text 28"/>
          <p:cNvSpPr/>
          <p:nvPr/>
        </p:nvSpPr>
        <p:spPr>
          <a:xfrm>
            <a:off x="10204560" y="2340720"/>
            <a:ext cx="95076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0" u="none" strike="noStrike">
                <a:solidFill>
                  <a:srgbClr val="169BD5"/>
                </a:solidFill>
                <a:effectLst/>
                <a:uFillTx/>
                <a:latin typeface="Comic Sans MS"/>
                <a:ea typeface="Comic Sans MS"/>
              </a:rPr>
              <a:t>Labs</a:t>
            </a:r>
            <a:endParaRPr lang="en-US" sz="1200" b="0" u="none" strike="noStrike">
              <a:solidFill>
                <a:srgbClr val="000000"/>
              </a:solidFill>
              <a:effectLst/>
              <a:uFillTx/>
              <a:latin typeface="Arial"/>
            </a:endParaRPr>
          </a:p>
        </p:txBody>
      </p:sp>
      <p:sp>
        <p:nvSpPr>
          <p:cNvPr id="173" name="Shape 29"/>
          <p:cNvSpPr/>
          <p:nvPr/>
        </p:nvSpPr>
        <p:spPr>
          <a:xfrm>
            <a:off x="10095120" y="2889360"/>
            <a:ext cx="1170000" cy="420120"/>
          </a:xfrm>
          <a:prstGeom prst="roundRect">
            <a:avLst>
              <a:gd name="adj" fmla="val 17391"/>
            </a:avLst>
          </a:prstGeom>
          <a:solidFill>
            <a:srgbClr val="FFFFFF"/>
          </a:solidFill>
          <a:ln w="19050">
            <a:solidFill>
              <a:srgbClr val="169B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74" name="Text 30"/>
          <p:cNvSpPr/>
          <p:nvPr/>
        </p:nvSpPr>
        <p:spPr>
          <a:xfrm>
            <a:off x="10204560" y="2999160"/>
            <a:ext cx="95076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0" u="none" strike="noStrike">
                <a:solidFill>
                  <a:srgbClr val="169BD5"/>
                </a:solidFill>
                <a:effectLst/>
                <a:uFillTx/>
                <a:latin typeface="Comic Sans MS"/>
                <a:ea typeface="Comic Sans MS"/>
              </a:rPr>
              <a:t>Care plan</a:t>
            </a:r>
            <a:endParaRPr lang="en-US" sz="1200" b="0" u="none" strike="noStrike">
              <a:solidFill>
                <a:srgbClr val="000000"/>
              </a:solidFill>
              <a:effectLst/>
              <a:uFillTx/>
              <a:latin typeface="Arial"/>
            </a:endParaRPr>
          </a:p>
        </p:txBody>
      </p:sp>
      <p:sp>
        <p:nvSpPr>
          <p:cNvPr id="175" name="Shape 31"/>
          <p:cNvSpPr/>
          <p:nvPr/>
        </p:nvSpPr>
        <p:spPr>
          <a:xfrm>
            <a:off x="10095120" y="3547800"/>
            <a:ext cx="1170000" cy="420120"/>
          </a:xfrm>
          <a:prstGeom prst="roundRect">
            <a:avLst>
              <a:gd name="adj" fmla="val 17391"/>
            </a:avLst>
          </a:prstGeom>
          <a:solidFill>
            <a:srgbClr val="FFFFFF"/>
          </a:solidFill>
          <a:ln w="19050">
            <a:solidFill>
              <a:srgbClr val="169B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76" name="Text 32"/>
          <p:cNvSpPr/>
          <p:nvPr/>
        </p:nvSpPr>
        <p:spPr>
          <a:xfrm>
            <a:off x="10204560" y="3657600"/>
            <a:ext cx="95076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40" b="0" u="none" strike="noStrike">
                <a:solidFill>
                  <a:srgbClr val="169BD5"/>
                </a:solidFill>
                <a:effectLst/>
                <a:uFillTx/>
                <a:latin typeface="Comic Sans MS"/>
                <a:ea typeface="Comic Sans MS"/>
              </a:rPr>
              <a:t>Medications</a:t>
            </a:r>
            <a:endParaRPr lang="en-US" sz="1140" b="0" u="none" strike="noStrike">
              <a:solidFill>
                <a:srgbClr val="000000"/>
              </a:solidFill>
              <a:effectLst/>
              <a:uFillTx/>
              <a:latin typeface="Arial"/>
            </a:endParaRPr>
          </a:p>
        </p:txBody>
      </p:sp>
      <p:sp>
        <p:nvSpPr>
          <p:cNvPr id="177" name="Shape 33"/>
          <p:cNvSpPr/>
          <p:nvPr/>
        </p:nvSpPr>
        <p:spPr>
          <a:xfrm>
            <a:off x="5074920" y="4389120"/>
            <a:ext cx="1535760" cy="694440"/>
          </a:xfrm>
          <a:prstGeom prst="roundRect">
            <a:avLst>
              <a:gd name="adj" fmla="val 10526"/>
            </a:avLst>
          </a:prstGeom>
          <a:solidFill>
            <a:srgbClr val="FFFFFF"/>
          </a:solidFill>
          <a:ln w="19050">
            <a:solidFill>
              <a:srgbClr val="0C796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78" name="Text 34"/>
          <p:cNvSpPr/>
          <p:nvPr/>
        </p:nvSpPr>
        <p:spPr>
          <a:xfrm>
            <a:off x="5184720" y="4498920"/>
            <a:ext cx="1316520" cy="4752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20" b="1" u="none" strike="noStrike">
                <a:solidFill>
                  <a:srgbClr val="0C796D"/>
                </a:solidFill>
                <a:effectLst/>
                <a:uFillTx/>
                <a:latin typeface="Comic Sans MS"/>
                <a:ea typeface="Comic Sans MS"/>
              </a:rPr>
              <a:t>Clinician</a:t>
            </a:r>
            <a:endParaRPr lang="en-US" sz="1220" b="0" u="none" strike="noStrike">
              <a:solidFill>
                <a:srgbClr val="000000"/>
              </a:solidFill>
              <a:effectLst/>
              <a:uFillTx/>
              <a:latin typeface="Arial"/>
            </a:endParaRPr>
          </a:p>
          <a:p>
            <a:pPr algn="ctr" defTabSz="914400">
              <a:lnSpc>
                <a:spcPct val="100000"/>
              </a:lnSpc>
              <a:tabLst>
                <a:tab pos="0" algn="l"/>
              </a:tabLst>
            </a:pPr>
            <a:r>
              <a:rPr lang="en-US" sz="1220" b="1" u="none" strike="noStrike">
                <a:solidFill>
                  <a:srgbClr val="0C796D"/>
                </a:solidFill>
                <a:effectLst/>
                <a:uFillTx/>
                <a:latin typeface="Comic Sans MS"/>
                <a:ea typeface="Comic Sans MS"/>
              </a:rPr>
              <a:t>review</a:t>
            </a:r>
            <a:endParaRPr lang="en-US" sz="1220" b="0" u="none" strike="noStrike">
              <a:solidFill>
                <a:srgbClr val="000000"/>
              </a:solidFill>
              <a:effectLst/>
              <a:uFillTx/>
              <a:latin typeface="Arial"/>
            </a:endParaRPr>
          </a:p>
        </p:txBody>
      </p:sp>
      <p:sp>
        <p:nvSpPr>
          <p:cNvPr id="179" name="Shape 35"/>
          <p:cNvSpPr/>
          <p:nvPr/>
        </p:nvSpPr>
        <p:spPr>
          <a:xfrm>
            <a:off x="5623560" y="3620880"/>
            <a:ext cx="45720" cy="749880"/>
          </a:xfrm>
          <a:prstGeom prst="line">
            <a:avLst/>
          </a:prstGeom>
          <a:ln w="15240">
            <a:solidFill>
              <a:srgbClr val="0C796D"/>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80" name="Shape 36"/>
          <p:cNvSpPr/>
          <p:nvPr/>
        </p:nvSpPr>
        <p:spPr>
          <a:xfrm>
            <a:off x="7360920" y="4690800"/>
            <a:ext cx="3200040" cy="658080"/>
          </a:xfrm>
          <a:prstGeom prst="rect">
            <a:avLst/>
          </a:prstGeom>
          <a:solidFill>
            <a:srgbClr val="F2F7F6"/>
          </a:solidFill>
          <a:ln w="12700">
            <a:solidFill>
              <a:srgbClr val="A8D7D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81" name="Text 37"/>
          <p:cNvSpPr/>
          <p:nvPr/>
        </p:nvSpPr>
        <p:spPr>
          <a:xfrm>
            <a:off x="7489080" y="4800600"/>
            <a:ext cx="2944080" cy="4384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2500"/>
          </a:bodyPr>
          <a:lstStyle/>
          <a:p>
            <a:pPr defTabSz="914400">
              <a:lnSpc>
                <a:spcPct val="100000"/>
              </a:lnSpc>
              <a:tabLst>
                <a:tab pos="0" algn="l"/>
              </a:tabLst>
            </a:pPr>
            <a:r>
              <a:rPr lang="en-US" sz="1350" b="0" u="none" strike="noStrike">
                <a:solidFill>
                  <a:srgbClr val="162021"/>
                </a:solidFill>
                <a:effectLst/>
                <a:uFillTx/>
                <a:latin typeface="Comic Sans MS"/>
                <a:ea typeface="Comic Sans MS"/>
              </a:rPr>
              <a:t>Approved tools only.</a:t>
            </a:r>
            <a:endParaRPr lang="en-US" sz="1350" b="0" u="none" strike="noStrike">
              <a:solidFill>
                <a:srgbClr val="000000"/>
              </a:solidFill>
              <a:effectLst/>
              <a:uFillTx/>
              <a:latin typeface="Arial"/>
            </a:endParaRPr>
          </a:p>
          <a:p>
            <a:pPr defTabSz="914400">
              <a:lnSpc>
                <a:spcPct val="100000"/>
              </a:lnSpc>
              <a:tabLst>
                <a:tab pos="0" algn="l"/>
              </a:tabLst>
            </a:pPr>
            <a:r>
              <a:rPr lang="en-US" sz="1350" b="0" u="none" strike="noStrike">
                <a:solidFill>
                  <a:srgbClr val="162021"/>
                </a:solidFill>
                <a:effectLst/>
                <a:uFillTx/>
                <a:latin typeface="Comic Sans MS"/>
                <a:ea typeface="Comic Sans MS"/>
              </a:rPr>
              <a:t>Human review before high-impact action.</a:t>
            </a:r>
            <a:endParaRPr lang="en-US" sz="1350" b="0" u="none" strike="noStrike">
              <a:solidFill>
                <a:srgbClr val="000000"/>
              </a:solidFill>
              <a:effectLst/>
              <a:uFillTx/>
              <a:latin typeface="Arial"/>
            </a:endParaRPr>
          </a:p>
        </p:txBody>
      </p:sp>
      <p:sp>
        <p:nvSpPr>
          <p:cNvPr id="182" name="Text 38"/>
          <p:cNvSpPr/>
          <p:nvPr/>
        </p:nvSpPr>
        <p:spPr>
          <a:xfrm>
            <a:off x="11567160" y="6455520"/>
            <a:ext cx="2282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9AA4A8"/>
                </a:solidFill>
                <a:effectLst/>
                <a:uFillTx/>
                <a:latin typeface="Arial"/>
                <a:ea typeface="Arial"/>
              </a:rPr>
              <a:t>8</a:t>
            </a:r>
            <a:endParaRPr lang="en-US" sz="750" b="0" u="none" strike="noStrike">
              <a:solidFill>
                <a:srgbClr val="000000"/>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83" name="Image 0" descr="/mnt/data/applied_template_content.jpg"/>
          <p:cNvPicPr/>
          <p:nvPr/>
        </p:nvPicPr>
        <p:blipFill>
          <a:blip r:embed="rId3"/>
          <a:stretch/>
        </p:blipFill>
        <p:spPr>
          <a:xfrm>
            <a:off x="0" y="0"/>
            <a:ext cx="12191400" cy="6857640"/>
          </a:xfrm>
          <a:prstGeom prst="rect">
            <a:avLst/>
          </a:prstGeom>
          <a:noFill/>
          <a:ln w="0">
            <a:noFill/>
          </a:ln>
        </p:spPr>
      </p:pic>
      <p:pic>
        <p:nvPicPr>
          <p:cNvPr id="184" name="Image 1" descr="/mnt/data/template_extract/ppt/media/image2.png"/>
          <p:cNvPicPr/>
          <p:nvPr/>
        </p:nvPicPr>
        <p:blipFill>
          <a:blip r:embed="rId4"/>
          <a:stretch/>
        </p:blipFill>
        <p:spPr>
          <a:xfrm>
            <a:off x="9738360" y="6291000"/>
            <a:ext cx="2057040" cy="475200"/>
          </a:xfrm>
          <a:prstGeom prst="rect">
            <a:avLst/>
          </a:prstGeom>
          <a:noFill/>
          <a:ln w="0">
            <a:noFill/>
          </a:ln>
        </p:spPr>
      </p:pic>
      <p:sp>
        <p:nvSpPr>
          <p:cNvPr id="185" name="Text 0"/>
          <p:cNvSpPr/>
          <p:nvPr/>
        </p:nvSpPr>
        <p:spPr>
          <a:xfrm>
            <a:off x="502920" y="347400"/>
            <a:ext cx="969228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u="none" strike="noStrike">
                <a:solidFill>
                  <a:srgbClr val="FFFFFF"/>
                </a:solidFill>
                <a:effectLst/>
                <a:uFillTx/>
                <a:latin typeface="Arial"/>
                <a:ea typeface="Arial"/>
              </a:rPr>
              <a:t>Where MCP fits</a:t>
            </a:r>
            <a:endParaRPr lang="en-US" sz="2600" b="0" u="none" strike="noStrike">
              <a:solidFill>
                <a:srgbClr val="000000"/>
              </a:solidFill>
              <a:effectLst/>
              <a:uFillTx/>
              <a:latin typeface="Arial"/>
            </a:endParaRPr>
          </a:p>
        </p:txBody>
      </p:sp>
      <p:sp>
        <p:nvSpPr>
          <p:cNvPr id="186" name="Text 1"/>
          <p:cNvSpPr/>
          <p:nvPr/>
        </p:nvSpPr>
        <p:spPr>
          <a:xfrm>
            <a:off x="530280" y="822960"/>
            <a:ext cx="932652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CFEAF5"/>
                </a:solidFill>
                <a:effectLst/>
                <a:uFillTx/>
                <a:latin typeface="Arial"/>
                <a:ea typeface="Arial"/>
              </a:rPr>
              <a:t>MCP makes tool access explicit. Governance makes it safe.</a:t>
            </a:r>
            <a:endParaRPr lang="en-US" sz="1150" b="0" u="none" strike="noStrike">
              <a:solidFill>
                <a:srgbClr val="000000"/>
              </a:solidFill>
              <a:effectLst/>
              <a:uFillTx/>
              <a:latin typeface="Arial"/>
            </a:endParaRPr>
          </a:p>
        </p:txBody>
      </p:sp>
      <p:sp>
        <p:nvSpPr>
          <p:cNvPr id="187" name="Text 2"/>
          <p:cNvSpPr/>
          <p:nvPr/>
        </p:nvSpPr>
        <p:spPr>
          <a:xfrm>
            <a:off x="685800" y="1508760"/>
            <a:ext cx="5668920" cy="10969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t">
            <a:normAutofit/>
          </a:bodyPr>
          <a:lstStyle/>
          <a:p>
            <a:pPr defTabSz="914400">
              <a:lnSpc>
                <a:spcPct val="100000"/>
              </a:lnSpc>
              <a:tabLst>
                <a:tab pos="0" algn="l"/>
              </a:tabLst>
            </a:pPr>
            <a:r>
              <a:rPr lang="en-US" sz="1700" b="0" u="none" strike="noStrike">
                <a:solidFill>
                  <a:srgbClr val="162021"/>
                </a:solidFill>
                <a:effectLst/>
                <a:uFillTx/>
                <a:latin typeface="Arial"/>
                <a:ea typeface="Arial"/>
              </a:rPr>
              <a:t>A healthcare agent becomes risky when it can call tools, retrieve records, route work, or draft messages without a contract for what it can access and what must be reviewed.</a:t>
            </a:r>
            <a:endParaRPr lang="en-US" sz="1700" b="0" u="none" strike="noStrike">
              <a:solidFill>
                <a:srgbClr val="000000"/>
              </a:solidFill>
              <a:effectLst/>
              <a:uFillTx/>
              <a:latin typeface="Arial"/>
            </a:endParaRPr>
          </a:p>
        </p:txBody>
      </p:sp>
      <p:sp>
        <p:nvSpPr>
          <p:cNvPr id="188" name="Shape 3"/>
          <p:cNvSpPr/>
          <p:nvPr/>
        </p:nvSpPr>
        <p:spPr>
          <a:xfrm>
            <a:off x="6400800" y="2011680"/>
            <a:ext cx="1142640" cy="566640"/>
          </a:xfrm>
          <a:prstGeom prst="roundRect">
            <a:avLst>
              <a:gd name="adj" fmla="val 12903"/>
            </a:avLst>
          </a:prstGeom>
          <a:solidFill>
            <a:srgbClr val="FFFFFF"/>
          </a:solidFill>
          <a:ln w="19050">
            <a:solidFill>
              <a:srgbClr val="16202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89" name="Text 4"/>
          <p:cNvSpPr/>
          <p:nvPr/>
        </p:nvSpPr>
        <p:spPr>
          <a:xfrm>
            <a:off x="6510600" y="2121480"/>
            <a:ext cx="923040" cy="3470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0" u="none" strike="noStrike">
                <a:solidFill>
                  <a:srgbClr val="162021"/>
                </a:solidFill>
                <a:effectLst/>
                <a:uFillTx/>
                <a:latin typeface="Comic Sans MS"/>
                <a:ea typeface="Comic Sans MS"/>
              </a:rPr>
              <a:t>Agent</a:t>
            </a:r>
            <a:endParaRPr lang="en-US" sz="1500" b="0" u="none" strike="noStrike">
              <a:solidFill>
                <a:srgbClr val="000000"/>
              </a:solidFill>
              <a:effectLst/>
              <a:uFillTx/>
              <a:latin typeface="Arial"/>
            </a:endParaRPr>
          </a:p>
        </p:txBody>
      </p:sp>
      <p:sp>
        <p:nvSpPr>
          <p:cNvPr id="190" name="Shape 5"/>
          <p:cNvSpPr/>
          <p:nvPr/>
        </p:nvSpPr>
        <p:spPr>
          <a:xfrm>
            <a:off x="7607520" y="2295000"/>
            <a:ext cx="695160" cy="360"/>
          </a:xfrm>
          <a:prstGeom prst="line">
            <a:avLst/>
          </a:prstGeom>
          <a:ln w="15240">
            <a:solidFill>
              <a:srgbClr val="162021"/>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91" name="Shape 6"/>
          <p:cNvSpPr/>
          <p:nvPr/>
        </p:nvSpPr>
        <p:spPr>
          <a:xfrm>
            <a:off x="8339400" y="1783080"/>
            <a:ext cx="1298160" cy="1005480"/>
          </a:xfrm>
          <a:prstGeom prst="roundRect">
            <a:avLst>
              <a:gd name="adj" fmla="val 7273"/>
            </a:avLst>
          </a:prstGeom>
          <a:solidFill>
            <a:srgbClr val="FFFFFF"/>
          </a:solidFill>
          <a:ln w="19050">
            <a:solidFill>
              <a:srgbClr val="0C796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92" name="Text 7"/>
          <p:cNvSpPr/>
          <p:nvPr/>
        </p:nvSpPr>
        <p:spPr>
          <a:xfrm>
            <a:off x="8449200" y="1892880"/>
            <a:ext cx="1078560" cy="785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1" u="none" strike="noStrike">
                <a:solidFill>
                  <a:srgbClr val="0C796D"/>
                </a:solidFill>
                <a:effectLst/>
                <a:uFillTx/>
                <a:latin typeface="Comic Sans MS"/>
                <a:ea typeface="Comic Sans MS"/>
              </a:rPr>
              <a:t>MCP</a:t>
            </a:r>
            <a:endParaRPr lang="en-US" sz="1300" b="0" u="none" strike="noStrike">
              <a:solidFill>
                <a:srgbClr val="000000"/>
              </a:solidFill>
              <a:effectLst/>
              <a:uFillTx/>
              <a:latin typeface="Arial"/>
            </a:endParaRPr>
          </a:p>
          <a:p>
            <a:pPr algn="ctr" defTabSz="914400">
              <a:lnSpc>
                <a:spcPct val="100000"/>
              </a:lnSpc>
              <a:tabLst>
                <a:tab pos="0" algn="l"/>
              </a:tabLst>
            </a:pPr>
            <a:r>
              <a:rPr lang="en-US" sz="1300" b="1" u="none" strike="noStrike">
                <a:solidFill>
                  <a:srgbClr val="0C796D"/>
                </a:solidFill>
                <a:effectLst/>
                <a:uFillTx/>
                <a:latin typeface="Comic Sans MS"/>
                <a:ea typeface="Comic Sans MS"/>
              </a:rPr>
              <a:t>contract</a:t>
            </a:r>
            <a:endParaRPr lang="en-US" sz="1300" b="0" u="none" strike="noStrike">
              <a:solidFill>
                <a:srgbClr val="000000"/>
              </a:solidFill>
              <a:effectLst/>
              <a:uFillTx/>
              <a:latin typeface="Arial"/>
            </a:endParaRPr>
          </a:p>
        </p:txBody>
      </p:sp>
      <p:sp>
        <p:nvSpPr>
          <p:cNvPr id="193" name="Shape 8"/>
          <p:cNvSpPr/>
          <p:nvPr/>
        </p:nvSpPr>
        <p:spPr>
          <a:xfrm>
            <a:off x="9674280" y="2295000"/>
            <a:ext cx="676440" cy="360"/>
          </a:xfrm>
          <a:prstGeom prst="line">
            <a:avLst/>
          </a:prstGeom>
          <a:ln w="15240">
            <a:solidFill>
              <a:srgbClr val="162021"/>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94" name="Shape 9"/>
          <p:cNvSpPr/>
          <p:nvPr/>
        </p:nvSpPr>
        <p:spPr>
          <a:xfrm>
            <a:off x="10387440" y="2011680"/>
            <a:ext cx="1142640" cy="566640"/>
          </a:xfrm>
          <a:prstGeom prst="roundRect">
            <a:avLst>
              <a:gd name="adj" fmla="val 12903"/>
            </a:avLst>
          </a:prstGeom>
          <a:solidFill>
            <a:srgbClr val="FFFFFF"/>
          </a:solidFill>
          <a:ln w="19050">
            <a:solidFill>
              <a:srgbClr val="169B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95" name="Text 10"/>
          <p:cNvSpPr/>
          <p:nvPr/>
        </p:nvSpPr>
        <p:spPr>
          <a:xfrm>
            <a:off x="10497240" y="2121480"/>
            <a:ext cx="923040" cy="3470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2500" lnSpcReduction="10000"/>
          </a:bodyPr>
          <a:lstStyle/>
          <a:p>
            <a:pPr algn="ctr" defTabSz="914400">
              <a:lnSpc>
                <a:spcPct val="100000"/>
              </a:lnSpc>
              <a:tabLst>
                <a:tab pos="0" algn="l"/>
              </a:tabLst>
            </a:pPr>
            <a:r>
              <a:rPr lang="en-US" sz="1300" b="0" u="none" strike="noStrike">
                <a:solidFill>
                  <a:srgbClr val="169BD5"/>
                </a:solidFill>
                <a:effectLst/>
                <a:uFillTx/>
                <a:latin typeface="Comic Sans MS"/>
                <a:ea typeface="Comic Sans MS"/>
              </a:rPr>
              <a:t>Approved</a:t>
            </a:r>
            <a:endParaRPr lang="en-US" sz="1300" b="0" u="none" strike="noStrike">
              <a:solidFill>
                <a:srgbClr val="000000"/>
              </a:solidFill>
              <a:effectLst/>
              <a:uFillTx/>
              <a:latin typeface="Arial"/>
            </a:endParaRPr>
          </a:p>
          <a:p>
            <a:pPr algn="ctr" defTabSz="914400">
              <a:lnSpc>
                <a:spcPct val="100000"/>
              </a:lnSpc>
              <a:tabLst>
                <a:tab pos="0" algn="l"/>
              </a:tabLst>
            </a:pPr>
            <a:r>
              <a:rPr lang="en-US" sz="1300" b="0" u="none" strike="noStrike">
                <a:solidFill>
                  <a:srgbClr val="169BD5"/>
                </a:solidFill>
                <a:effectLst/>
                <a:uFillTx/>
                <a:latin typeface="Comic Sans MS"/>
                <a:ea typeface="Comic Sans MS"/>
              </a:rPr>
              <a:t>tools</a:t>
            </a:r>
            <a:endParaRPr lang="en-US" sz="1300" b="0" u="none" strike="noStrike">
              <a:solidFill>
                <a:srgbClr val="000000"/>
              </a:solidFill>
              <a:effectLst/>
              <a:uFillTx/>
              <a:latin typeface="Arial"/>
            </a:endParaRPr>
          </a:p>
        </p:txBody>
      </p:sp>
      <p:sp>
        <p:nvSpPr>
          <p:cNvPr id="196" name="Shape 11"/>
          <p:cNvSpPr/>
          <p:nvPr/>
        </p:nvSpPr>
        <p:spPr>
          <a:xfrm>
            <a:off x="768240" y="3383280"/>
            <a:ext cx="1234080" cy="438480"/>
          </a:xfrm>
          <a:prstGeom prst="roundRect">
            <a:avLst>
              <a:gd name="adj" fmla="val 16667"/>
            </a:avLst>
          </a:prstGeom>
          <a:solidFill>
            <a:srgbClr val="E8F5F2"/>
          </a:solidFill>
          <a:ln w="19050">
            <a:solidFill>
              <a:srgbClr val="0C796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97" name="Text 12"/>
          <p:cNvSpPr/>
          <p:nvPr/>
        </p:nvSpPr>
        <p:spPr>
          <a:xfrm>
            <a:off x="877680" y="3493080"/>
            <a:ext cx="101448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50" b="1" u="none" strike="noStrike">
                <a:solidFill>
                  <a:srgbClr val="0C796D"/>
                </a:solidFill>
                <a:effectLst/>
                <a:uFillTx/>
                <a:latin typeface="Arial"/>
                <a:ea typeface="Arial"/>
              </a:rPr>
              <a:t>Expose</a:t>
            </a:r>
            <a:endParaRPr lang="en-US" sz="1250" b="0" u="none" strike="noStrike">
              <a:solidFill>
                <a:srgbClr val="000000"/>
              </a:solidFill>
              <a:effectLst/>
              <a:uFillTx/>
              <a:latin typeface="Arial"/>
            </a:endParaRPr>
          </a:p>
        </p:txBody>
      </p:sp>
      <p:sp>
        <p:nvSpPr>
          <p:cNvPr id="198" name="Text 13"/>
          <p:cNvSpPr/>
          <p:nvPr/>
        </p:nvSpPr>
        <p:spPr>
          <a:xfrm>
            <a:off x="2194560" y="3429000"/>
            <a:ext cx="4388760" cy="310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t">
            <a:normAutofit/>
          </a:bodyPr>
          <a:lstStyle/>
          <a:p>
            <a:pPr defTabSz="914400">
              <a:lnSpc>
                <a:spcPct val="100000"/>
              </a:lnSpc>
              <a:tabLst>
                <a:tab pos="0" algn="l"/>
              </a:tabLst>
            </a:pPr>
            <a:r>
              <a:rPr lang="en-US" sz="1500" b="0" u="none" strike="noStrike">
                <a:solidFill>
                  <a:srgbClr val="162021"/>
                </a:solidFill>
                <a:effectLst/>
                <a:uFillTx/>
                <a:latin typeface="Arial"/>
                <a:ea typeface="Arial"/>
              </a:rPr>
              <a:t>approved tools and resources</a:t>
            </a:r>
            <a:endParaRPr lang="en-US" sz="1500" b="0" u="none" strike="noStrike">
              <a:solidFill>
                <a:srgbClr val="000000"/>
              </a:solidFill>
              <a:effectLst/>
              <a:uFillTx/>
              <a:latin typeface="Arial"/>
            </a:endParaRPr>
          </a:p>
        </p:txBody>
      </p:sp>
      <p:sp>
        <p:nvSpPr>
          <p:cNvPr id="199" name="Shape 14"/>
          <p:cNvSpPr/>
          <p:nvPr/>
        </p:nvSpPr>
        <p:spPr>
          <a:xfrm>
            <a:off x="768240" y="3950280"/>
            <a:ext cx="1234080" cy="438480"/>
          </a:xfrm>
          <a:prstGeom prst="roundRect">
            <a:avLst>
              <a:gd name="adj" fmla="val 16667"/>
            </a:avLst>
          </a:prstGeom>
          <a:solidFill>
            <a:srgbClr val="E8F5F2"/>
          </a:solidFill>
          <a:ln w="19050">
            <a:solidFill>
              <a:srgbClr val="0C796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00" name="Text 15"/>
          <p:cNvSpPr/>
          <p:nvPr/>
        </p:nvSpPr>
        <p:spPr>
          <a:xfrm>
            <a:off x="877680" y="4060080"/>
            <a:ext cx="101448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50" b="1" u="none" strike="noStrike">
                <a:solidFill>
                  <a:srgbClr val="0C796D"/>
                </a:solidFill>
                <a:effectLst/>
                <a:uFillTx/>
                <a:latin typeface="Arial"/>
                <a:ea typeface="Arial"/>
              </a:rPr>
              <a:t>Authorize</a:t>
            </a:r>
            <a:endParaRPr lang="en-US" sz="1250" b="0" u="none" strike="noStrike">
              <a:solidFill>
                <a:srgbClr val="000000"/>
              </a:solidFill>
              <a:effectLst/>
              <a:uFillTx/>
              <a:latin typeface="Arial"/>
            </a:endParaRPr>
          </a:p>
        </p:txBody>
      </p:sp>
      <p:sp>
        <p:nvSpPr>
          <p:cNvPr id="201" name="Text 16"/>
          <p:cNvSpPr/>
          <p:nvPr/>
        </p:nvSpPr>
        <p:spPr>
          <a:xfrm>
            <a:off x="2194560" y="3996000"/>
            <a:ext cx="4388760" cy="310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t">
            <a:normAutofit/>
          </a:bodyPr>
          <a:lstStyle/>
          <a:p>
            <a:pPr defTabSz="914400">
              <a:lnSpc>
                <a:spcPct val="100000"/>
              </a:lnSpc>
              <a:tabLst>
                <a:tab pos="0" algn="l"/>
              </a:tabLst>
            </a:pPr>
            <a:r>
              <a:rPr lang="en-US" sz="1500" b="0" u="none" strike="noStrike">
                <a:solidFill>
                  <a:srgbClr val="162021"/>
                </a:solidFill>
                <a:effectLst/>
                <a:uFillTx/>
                <a:latin typeface="Arial"/>
                <a:ea typeface="Arial"/>
              </a:rPr>
              <a:t>identity, scopes, consent</a:t>
            </a:r>
            <a:endParaRPr lang="en-US" sz="1500" b="0" u="none" strike="noStrike">
              <a:solidFill>
                <a:srgbClr val="000000"/>
              </a:solidFill>
              <a:effectLst/>
              <a:uFillTx/>
              <a:latin typeface="Arial"/>
            </a:endParaRPr>
          </a:p>
        </p:txBody>
      </p:sp>
      <p:sp>
        <p:nvSpPr>
          <p:cNvPr id="202" name="Shape 17"/>
          <p:cNvSpPr/>
          <p:nvPr/>
        </p:nvSpPr>
        <p:spPr>
          <a:xfrm>
            <a:off x="768240" y="4517280"/>
            <a:ext cx="1234080" cy="438480"/>
          </a:xfrm>
          <a:prstGeom prst="roundRect">
            <a:avLst>
              <a:gd name="adj" fmla="val 16667"/>
            </a:avLst>
          </a:prstGeom>
          <a:solidFill>
            <a:srgbClr val="E8F5F2"/>
          </a:solidFill>
          <a:ln w="19050">
            <a:solidFill>
              <a:srgbClr val="0C796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03" name="Text 18"/>
          <p:cNvSpPr/>
          <p:nvPr/>
        </p:nvSpPr>
        <p:spPr>
          <a:xfrm>
            <a:off x="877680" y="4626720"/>
            <a:ext cx="101448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50" b="1" u="none" strike="noStrike">
                <a:solidFill>
                  <a:srgbClr val="0C796D"/>
                </a:solidFill>
                <a:effectLst/>
                <a:uFillTx/>
                <a:latin typeface="Arial"/>
                <a:ea typeface="Arial"/>
              </a:rPr>
              <a:t>Observe</a:t>
            </a:r>
            <a:endParaRPr lang="en-US" sz="1250" b="0" u="none" strike="noStrike">
              <a:solidFill>
                <a:srgbClr val="000000"/>
              </a:solidFill>
              <a:effectLst/>
              <a:uFillTx/>
              <a:latin typeface="Arial"/>
            </a:endParaRPr>
          </a:p>
        </p:txBody>
      </p:sp>
      <p:sp>
        <p:nvSpPr>
          <p:cNvPr id="204" name="Text 19"/>
          <p:cNvSpPr/>
          <p:nvPr/>
        </p:nvSpPr>
        <p:spPr>
          <a:xfrm>
            <a:off x="2194560" y="4563000"/>
            <a:ext cx="4388760" cy="310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t">
            <a:normAutofit/>
          </a:bodyPr>
          <a:lstStyle/>
          <a:p>
            <a:pPr defTabSz="914400">
              <a:lnSpc>
                <a:spcPct val="100000"/>
              </a:lnSpc>
              <a:tabLst>
                <a:tab pos="0" algn="l"/>
              </a:tabLst>
            </a:pPr>
            <a:r>
              <a:rPr lang="en-US" sz="1500" b="0" u="none" strike="noStrike">
                <a:solidFill>
                  <a:srgbClr val="162021"/>
                </a:solidFill>
                <a:effectLst/>
                <a:uFillTx/>
                <a:latin typeface="Arial"/>
                <a:ea typeface="Arial"/>
              </a:rPr>
              <a:t>calls, parameters, failures</a:t>
            </a:r>
            <a:endParaRPr lang="en-US" sz="1500" b="0" u="none" strike="noStrike">
              <a:solidFill>
                <a:srgbClr val="000000"/>
              </a:solidFill>
              <a:effectLst/>
              <a:uFillTx/>
              <a:latin typeface="Arial"/>
            </a:endParaRPr>
          </a:p>
        </p:txBody>
      </p:sp>
      <p:sp>
        <p:nvSpPr>
          <p:cNvPr id="205" name="Shape 20"/>
          <p:cNvSpPr/>
          <p:nvPr/>
        </p:nvSpPr>
        <p:spPr>
          <a:xfrm>
            <a:off x="768240" y="5083920"/>
            <a:ext cx="1234080" cy="438480"/>
          </a:xfrm>
          <a:prstGeom prst="roundRect">
            <a:avLst>
              <a:gd name="adj" fmla="val 16667"/>
            </a:avLst>
          </a:prstGeom>
          <a:solidFill>
            <a:srgbClr val="E8F5F2"/>
          </a:solidFill>
          <a:ln w="19050">
            <a:solidFill>
              <a:srgbClr val="0C796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06" name="Text 21"/>
          <p:cNvSpPr/>
          <p:nvPr/>
        </p:nvSpPr>
        <p:spPr>
          <a:xfrm>
            <a:off x="877680" y="5193720"/>
            <a:ext cx="101448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50" b="1" u="none" strike="noStrike">
                <a:solidFill>
                  <a:srgbClr val="0C796D"/>
                </a:solidFill>
                <a:effectLst/>
                <a:uFillTx/>
                <a:latin typeface="Arial"/>
                <a:ea typeface="Arial"/>
              </a:rPr>
              <a:t>Block</a:t>
            </a:r>
            <a:endParaRPr lang="en-US" sz="1250" b="0" u="none" strike="noStrike">
              <a:solidFill>
                <a:srgbClr val="000000"/>
              </a:solidFill>
              <a:effectLst/>
              <a:uFillTx/>
              <a:latin typeface="Arial"/>
            </a:endParaRPr>
          </a:p>
        </p:txBody>
      </p:sp>
      <p:sp>
        <p:nvSpPr>
          <p:cNvPr id="207" name="Text 22"/>
          <p:cNvSpPr/>
          <p:nvPr/>
        </p:nvSpPr>
        <p:spPr>
          <a:xfrm>
            <a:off x="2194560" y="5129640"/>
            <a:ext cx="4388760" cy="310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t">
            <a:normAutofit/>
          </a:bodyPr>
          <a:lstStyle/>
          <a:p>
            <a:pPr defTabSz="914400">
              <a:lnSpc>
                <a:spcPct val="100000"/>
              </a:lnSpc>
              <a:tabLst>
                <a:tab pos="0" algn="l"/>
              </a:tabLst>
            </a:pPr>
            <a:r>
              <a:rPr lang="en-US" sz="1500" b="0" u="none" strike="noStrike">
                <a:solidFill>
                  <a:srgbClr val="162021"/>
                </a:solidFill>
                <a:effectLst/>
                <a:uFillTx/>
                <a:latin typeface="Arial"/>
                <a:ea typeface="Arial"/>
              </a:rPr>
              <a:t>unsafe or out-of-scope actions</a:t>
            </a:r>
            <a:endParaRPr lang="en-US" sz="1500" b="0" u="none" strike="noStrike">
              <a:solidFill>
                <a:srgbClr val="000000"/>
              </a:solidFill>
              <a:effectLst/>
              <a:uFillTx/>
              <a:latin typeface="Arial"/>
            </a:endParaRPr>
          </a:p>
        </p:txBody>
      </p:sp>
      <p:sp>
        <p:nvSpPr>
          <p:cNvPr id="208" name="Shape 23"/>
          <p:cNvSpPr/>
          <p:nvPr/>
        </p:nvSpPr>
        <p:spPr>
          <a:xfrm>
            <a:off x="6720840" y="3767400"/>
            <a:ext cx="4343040" cy="987120"/>
          </a:xfrm>
          <a:prstGeom prst="rect">
            <a:avLst/>
          </a:prstGeom>
          <a:solidFill>
            <a:srgbClr val="FFF4C7"/>
          </a:solidFill>
          <a:ln w="12700">
            <a:solidFill>
              <a:srgbClr val="D8C45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09" name="Text 24"/>
          <p:cNvSpPr/>
          <p:nvPr/>
        </p:nvSpPr>
        <p:spPr>
          <a:xfrm>
            <a:off x="6849000" y="3877200"/>
            <a:ext cx="4087080" cy="767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2500" lnSpcReduction="10000"/>
          </a:bodyPr>
          <a:lstStyle/>
          <a:p>
            <a:pPr defTabSz="914400">
              <a:lnSpc>
                <a:spcPct val="100000"/>
              </a:lnSpc>
              <a:tabLst>
                <a:tab pos="0" algn="l"/>
              </a:tabLst>
            </a:pPr>
            <a:r>
              <a:rPr lang="en-US" sz="1420" b="0" u="none" strike="noStrike">
                <a:solidFill>
                  <a:srgbClr val="162021"/>
                </a:solidFill>
                <a:effectLst/>
                <a:uFillTx/>
                <a:latin typeface="Comic Sans MS"/>
                <a:ea typeface="Comic Sans MS"/>
              </a:rPr>
              <a:t>Do not confuse a protocol with a governance program.</a:t>
            </a:r>
            <a:endParaRPr lang="en-US" sz="1420" b="0" u="none" strike="noStrike">
              <a:solidFill>
                <a:srgbClr val="000000"/>
              </a:solidFill>
              <a:effectLst/>
              <a:uFillTx/>
              <a:latin typeface="Arial"/>
            </a:endParaRPr>
          </a:p>
          <a:p>
            <a:pPr defTabSz="914400">
              <a:lnSpc>
                <a:spcPct val="100000"/>
              </a:lnSpc>
              <a:tabLst>
                <a:tab pos="0" algn="l"/>
              </a:tabLst>
            </a:pPr>
            <a:r>
              <a:rPr lang="en-US" sz="1420" b="0" u="none" strike="noStrike">
                <a:solidFill>
                  <a:srgbClr val="162021"/>
                </a:solidFill>
                <a:effectLst/>
                <a:uFillTx/>
                <a:latin typeface="Comic Sans MS"/>
                <a:ea typeface="Comic Sans MS"/>
              </a:rPr>
              <a:t>MCP is the contract. The enterprise still owns policy, approval, and audit.</a:t>
            </a:r>
            <a:endParaRPr lang="en-US" sz="1420" b="0" u="none" strike="noStrike">
              <a:solidFill>
                <a:srgbClr val="000000"/>
              </a:solidFill>
              <a:effectLst/>
              <a:uFillTx/>
              <a:latin typeface="Arial"/>
            </a:endParaRPr>
          </a:p>
        </p:txBody>
      </p:sp>
      <p:sp>
        <p:nvSpPr>
          <p:cNvPr id="210" name="Text 25"/>
          <p:cNvSpPr/>
          <p:nvPr/>
        </p:nvSpPr>
        <p:spPr>
          <a:xfrm>
            <a:off x="11567160" y="6455520"/>
            <a:ext cx="2282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9AA4A8"/>
                </a:solidFill>
                <a:effectLst/>
                <a:uFillTx/>
                <a:latin typeface="Arial"/>
                <a:ea typeface="Arial"/>
              </a:rPr>
              <a:t>9</a:t>
            </a:r>
            <a:endParaRPr lang="en-US" sz="750" b="0" u="none" strike="noStrike">
              <a:solidFill>
                <a:srgbClr val="000000"/>
              </a:solidFill>
              <a:effectLst/>
              <a:uFillTx/>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11" name="Image 0" descr="/mnt/data/applied_template_content.jpg"/>
          <p:cNvPicPr/>
          <p:nvPr/>
        </p:nvPicPr>
        <p:blipFill>
          <a:blip r:embed="rId3"/>
          <a:stretch/>
        </p:blipFill>
        <p:spPr>
          <a:xfrm>
            <a:off x="0" y="0"/>
            <a:ext cx="12191400" cy="6857640"/>
          </a:xfrm>
          <a:prstGeom prst="rect">
            <a:avLst/>
          </a:prstGeom>
          <a:noFill/>
          <a:ln w="0">
            <a:noFill/>
          </a:ln>
        </p:spPr>
      </p:pic>
      <p:pic>
        <p:nvPicPr>
          <p:cNvPr id="212" name="Image 1" descr="/mnt/data/template_extract/ppt/media/image2.png"/>
          <p:cNvPicPr/>
          <p:nvPr/>
        </p:nvPicPr>
        <p:blipFill>
          <a:blip r:embed="rId4"/>
          <a:stretch/>
        </p:blipFill>
        <p:spPr>
          <a:xfrm>
            <a:off x="9738360" y="6291000"/>
            <a:ext cx="2057040" cy="475200"/>
          </a:xfrm>
          <a:prstGeom prst="rect">
            <a:avLst/>
          </a:prstGeom>
          <a:noFill/>
          <a:ln w="0">
            <a:noFill/>
          </a:ln>
        </p:spPr>
      </p:pic>
      <p:sp>
        <p:nvSpPr>
          <p:cNvPr id="213" name="Text 0"/>
          <p:cNvSpPr/>
          <p:nvPr/>
        </p:nvSpPr>
        <p:spPr>
          <a:xfrm>
            <a:off x="502920" y="347400"/>
            <a:ext cx="969228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u="none" strike="noStrike">
                <a:solidFill>
                  <a:srgbClr val="FFFFFF"/>
                </a:solidFill>
                <a:effectLst/>
                <a:uFillTx/>
                <a:latin typeface="Arial"/>
                <a:ea typeface="Arial"/>
              </a:rPr>
              <a:t>The handoff contract</a:t>
            </a:r>
            <a:endParaRPr lang="en-US" sz="2600" b="0" u="none" strike="noStrike">
              <a:solidFill>
                <a:srgbClr val="000000"/>
              </a:solidFill>
              <a:effectLst/>
              <a:uFillTx/>
              <a:latin typeface="Arial"/>
            </a:endParaRPr>
          </a:p>
        </p:txBody>
      </p:sp>
      <p:sp>
        <p:nvSpPr>
          <p:cNvPr id="214" name="Text 1"/>
          <p:cNvSpPr/>
          <p:nvPr/>
        </p:nvSpPr>
        <p:spPr>
          <a:xfrm>
            <a:off x="530280" y="822960"/>
            <a:ext cx="932652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dirty="0">
                <a:solidFill>
                  <a:srgbClr val="CFEAF5"/>
                </a:solidFill>
                <a:effectLst/>
                <a:uFillTx/>
                <a:latin typeface="Arial"/>
                <a:ea typeface="Arial"/>
              </a:rPr>
              <a:t>A specialist handoff should carry evidence, not assumptions</a:t>
            </a:r>
            <a:endParaRPr lang="en-US" sz="1150" b="0" u="none" strike="noStrike" dirty="0">
              <a:solidFill>
                <a:srgbClr val="000000"/>
              </a:solidFill>
              <a:effectLst/>
              <a:uFillTx/>
              <a:latin typeface="Arial"/>
            </a:endParaRPr>
          </a:p>
        </p:txBody>
      </p:sp>
      <p:sp>
        <p:nvSpPr>
          <p:cNvPr id="215" name="Text 2"/>
          <p:cNvSpPr/>
          <p:nvPr/>
        </p:nvSpPr>
        <p:spPr>
          <a:xfrm>
            <a:off x="685800" y="1444680"/>
            <a:ext cx="9875160" cy="5940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t">
            <a:normAutofit/>
          </a:bodyPr>
          <a:lstStyle/>
          <a:p>
            <a:pPr defTabSz="914400">
              <a:lnSpc>
                <a:spcPct val="100000"/>
              </a:lnSpc>
              <a:tabLst>
                <a:tab pos="0" algn="l"/>
              </a:tabLst>
            </a:pPr>
            <a:r>
              <a:rPr lang="en-US" sz="1700" b="0" u="none" strike="noStrike">
                <a:solidFill>
                  <a:srgbClr val="162021"/>
                </a:solidFill>
                <a:effectLst/>
                <a:uFillTx/>
                <a:latin typeface="Arial"/>
                <a:ea typeface="Arial"/>
              </a:rPr>
              <a:t>The orchestrator should not forward a vague symptom. It should pass a structured packet that explains why the specialist is needed and what context was used.</a:t>
            </a:r>
            <a:endParaRPr lang="en-US" sz="1700" b="0" u="none" strike="noStrike">
              <a:solidFill>
                <a:srgbClr val="000000"/>
              </a:solidFill>
              <a:effectLst/>
              <a:uFillTx/>
              <a:latin typeface="Arial"/>
            </a:endParaRPr>
          </a:p>
        </p:txBody>
      </p:sp>
      <p:sp>
        <p:nvSpPr>
          <p:cNvPr id="216" name="Shape 3"/>
          <p:cNvSpPr/>
          <p:nvPr/>
        </p:nvSpPr>
        <p:spPr>
          <a:xfrm>
            <a:off x="685800" y="2423160"/>
            <a:ext cx="1828440" cy="502560"/>
          </a:xfrm>
          <a:prstGeom prst="roundRect">
            <a:avLst>
              <a:gd name="adj" fmla="val 14545"/>
            </a:avLst>
          </a:prstGeom>
          <a:solidFill>
            <a:srgbClr val="FFFFFF"/>
          </a:solidFill>
          <a:ln w="19050">
            <a:solidFill>
              <a:srgbClr val="9E2A2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17" name="Text 4"/>
          <p:cNvSpPr/>
          <p:nvPr/>
        </p:nvSpPr>
        <p:spPr>
          <a:xfrm>
            <a:off x="795600" y="2532960"/>
            <a:ext cx="1608840" cy="282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50" b="1" u="none" strike="noStrike">
                <a:solidFill>
                  <a:srgbClr val="9E2A2B"/>
                </a:solidFill>
                <a:effectLst/>
                <a:uFillTx/>
                <a:latin typeface="Arial"/>
                <a:ea typeface="Arial"/>
              </a:rPr>
              <a:t>Before routing</a:t>
            </a:r>
            <a:endParaRPr lang="en-US" sz="1350" b="0" u="none" strike="noStrike">
              <a:solidFill>
                <a:srgbClr val="000000"/>
              </a:solidFill>
              <a:effectLst/>
              <a:uFillTx/>
              <a:latin typeface="Arial"/>
            </a:endParaRPr>
          </a:p>
        </p:txBody>
      </p:sp>
      <p:sp>
        <p:nvSpPr>
          <p:cNvPr id="218" name="Shape 5"/>
          <p:cNvSpPr/>
          <p:nvPr/>
        </p:nvSpPr>
        <p:spPr>
          <a:xfrm>
            <a:off x="6172200" y="2423160"/>
            <a:ext cx="1828440" cy="502560"/>
          </a:xfrm>
          <a:prstGeom prst="roundRect">
            <a:avLst>
              <a:gd name="adj" fmla="val 14545"/>
            </a:avLst>
          </a:prstGeom>
          <a:solidFill>
            <a:srgbClr val="FFFFFF"/>
          </a:solidFill>
          <a:ln w="19050">
            <a:solidFill>
              <a:srgbClr val="0C796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19" name="Text 6"/>
          <p:cNvSpPr/>
          <p:nvPr/>
        </p:nvSpPr>
        <p:spPr>
          <a:xfrm>
            <a:off x="6282000" y="2532960"/>
            <a:ext cx="1608840" cy="282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50" b="1" dirty="0">
                <a:solidFill>
                  <a:srgbClr val="0C796D"/>
                </a:solidFill>
                <a:latin typeface="Arial"/>
              </a:rPr>
              <a:t>Structured Handoff</a:t>
            </a:r>
            <a:endParaRPr lang="en-US" sz="1350" b="0" u="none" strike="noStrike" dirty="0">
              <a:solidFill>
                <a:srgbClr val="000000"/>
              </a:solidFill>
              <a:effectLst/>
              <a:uFillTx/>
              <a:latin typeface="Arial"/>
            </a:endParaRPr>
          </a:p>
        </p:txBody>
      </p:sp>
      <p:sp>
        <p:nvSpPr>
          <p:cNvPr id="220" name="Shape 7"/>
          <p:cNvSpPr/>
          <p:nvPr/>
        </p:nvSpPr>
        <p:spPr>
          <a:xfrm>
            <a:off x="749880" y="3154680"/>
            <a:ext cx="3565800" cy="868320"/>
          </a:xfrm>
          <a:prstGeom prst="rect">
            <a:avLst/>
          </a:prstGeom>
          <a:solidFill>
            <a:srgbClr val="FFF5F5"/>
          </a:solidFill>
          <a:ln w="12700">
            <a:solidFill>
              <a:srgbClr val="E0A0A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1" name="Text 8"/>
          <p:cNvSpPr/>
          <p:nvPr/>
        </p:nvSpPr>
        <p:spPr>
          <a:xfrm>
            <a:off x="877680" y="3264480"/>
            <a:ext cx="3309840" cy="6487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520" b="0" u="none" strike="noStrike">
                <a:solidFill>
                  <a:srgbClr val="162021"/>
                </a:solidFill>
                <a:effectLst/>
                <a:uFillTx/>
                <a:latin typeface="Comic Sans MS"/>
                <a:ea typeface="Comic Sans MS"/>
              </a:rPr>
              <a:t>“headache + nausea”</a:t>
            </a:r>
            <a:endParaRPr lang="en-US" sz="1520" b="0" u="none" strike="noStrike">
              <a:solidFill>
                <a:srgbClr val="000000"/>
              </a:solidFill>
              <a:effectLst/>
              <a:uFillTx/>
              <a:latin typeface="Arial"/>
            </a:endParaRPr>
          </a:p>
          <a:p>
            <a:pPr defTabSz="914400">
              <a:lnSpc>
                <a:spcPct val="100000"/>
              </a:lnSpc>
              <a:tabLst>
                <a:tab pos="0" algn="l"/>
              </a:tabLst>
            </a:pPr>
            <a:r>
              <a:rPr lang="en-US" sz="1520" b="0" u="none" strike="noStrike">
                <a:solidFill>
                  <a:srgbClr val="162021"/>
                </a:solidFill>
                <a:effectLst/>
                <a:uFillTx/>
                <a:latin typeface="Comic Sans MS"/>
                <a:ea typeface="Comic Sans MS"/>
              </a:rPr>
              <a:t>→ route to two specialists</a:t>
            </a:r>
            <a:endParaRPr lang="en-US" sz="1520" b="0" u="none" strike="noStrike">
              <a:solidFill>
                <a:srgbClr val="000000"/>
              </a:solidFill>
              <a:effectLst/>
              <a:uFillTx/>
              <a:latin typeface="Arial"/>
            </a:endParaRPr>
          </a:p>
        </p:txBody>
      </p:sp>
      <p:sp>
        <p:nvSpPr>
          <p:cNvPr id="222" name="Shape 9"/>
          <p:cNvSpPr/>
          <p:nvPr/>
        </p:nvSpPr>
        <p:spPr>
          <a:xfrm>
            <a:off x="4498560" y="3593520"/>
            <a:ext cx="1097280" cy="360"/>
          </a:xfrm>
          <a:prstGeom prst="line">
            <a:avLst/>
          </a:prstGeom>
          <a:ln w="15240">
            <a:solidFill>
              <a:srgbClr val="162021"/>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23" name="Shape 10"/>
          <p:cNvSpPr/>
          <p:nvPr/>
        </p:nvSpPr>
        <p:spPr>
          <a:xfrm>
            <a:off x="6199560" y="2971800"/>
            <a:ext cx="2057040" cy="402120"/>
          </a:xfrm>
          <a:prstGeom prst="roundRect">
            <a:avLst>
              <a:gd name="adj" fmla="val 18182"/>
            </a:avLst>
          </a:prstGeom>
          <a:solidFill>
            <a:srgbClr val="FFFFFF"/>
          </a:solidFill>
          <a:ln w="19050">
            <a:solidFill>
              <a:srgbClr val="A8D7D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4" name="Text 11"/>
          <p:cNvSpPr/>
          <p:nvPr/>
        </p:nvSpPr>
        <p:spPr>
          <a:xfrm>
            <a:off x="6309360" y="3081600"/>
            <a:ext cx="1837440" cy="182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50" b="0" u="none" strike="noStrike">
                <a:solidFill>
                  <a:srgbClr val="162021"/>
                </a:solidFill>
                <a:effectLst/>
                <a:uFillTx/>
                <a:latin typeface="Arial"/>
                <a:ea typeface="Arial"/>
              </a:rPr>
              <a:t>symptom onset</a:t>
            </a:r>
            <a:endParaRPr lang="en-US" sz="1150" b="0" u="none" strike="noStrike">
              <a:solidFill>
                <a:srgbClr val="000000"/>
              </a:solidFill>
              <a:effectLst/>
              <a:uFillTx/>
              <a:latin typeface="Arial"/>
            </a:endParaRPr>
          </a:p>
        </p:txBody>
      </p:sp>
      <p:sp>
        <p:nvSpPr>
          <p:cNvPr id="225" name="Shape 12"/>
          <p:cNvSpPr/>
          <p:nvPr/>
        </p:nvSpPr>
        <p:spPr>
          <a:xfrm>
            <a:off x="8577000" y="2971800"/>
            <a:ext cx="2057040" cy="402120"/>
          </a:xfrm>
          <a:prstGeom prst="roundRect">
            <a:avLst>
              <a:gd name="adj" fmla="val 18182"/>
            </a:avLst>
          </a:prstGeom>
          <a:solidFill>
            <a:srgbClr val="FFFFFF"/>
          </a:solidFill>
          <a:ln w="19050">
            <a:solidFill>
              <a:srgbClr val="A8D7D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6" name="Text 13"/>
          <p:cNvSpPr/>
          <p:nvPr/>
        </p:nvSpPr>
        <p:spPr>
          <a:xfrm>
            <a:off x="8686800" y="3081600"/>
            <a:ext cx="1837440" cy="182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50" b="0" u="none" strike="noStrike">
                <a:solidFill>
                  <a:srgbClr val="162021"/>
                </a:solidFill>
                <a:effectLst/>
                <a:uFillTx/>
                <a:latin typeface="Arial"/>
                <a:ea typeface="Arial"/>
              </a:rPr>
              <a:t>severity and change</a:t>
            </a:r>
            <a:endParaRPr lang="en-US" sz="1150" b="0" u="none" strike="noStrike">
              <a:solidFill>
                <a:srgbClr val="000000"/>
              </a:solidFill>
              <a:effectLst/>
              <a:uFillTx/>
              <a:latin typeface="Arial"/>
            </a:endParaRPr>
          </a:p>
        </p:txBody>
      </p:sp>
      <p:sp>
        <p:nvSpPr>
          <p:cNvPr id="227" name="Shape 14"/>
          <p:cNvSpPr/>
          <p:nvPr/>
        </p:nvSpPr>
        <p:spPr>
          <a:xfrm>
            <a:off x="6199560" y="3538800"/>
            <a:ext cx="2057040" cy="402120"/>
          </a:xfrm>
          <a:prstGeom prst="roundRect">
            <a:avLst>
              <a:gd name="adj" fmla="val 18182"/>
            </a:avLst>
          </a:prstGeom>
          <a:solidFill>
            <a:srgbClr val="FFFFFF"/>
          </a:solidFill>
          <a:ln w="19050">
            <a:solidFill>
              <a:srgbClr val="A8D7D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8" name="Text 15"/>
          <p:cNvSpPr/>
          <p:nvPr/>
        </p:nvSpPr>
        <p:spPr>
          <a:xfrm>
            <a:off x="6309360" y="3648600"/>
            <a:ext cx="1837440" cy="182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50" b="0" u="none" strike="noStrike">
                <a:solidFill>
                  <a:srgbClr val="162021"/>
                </a:solidFill>
                <a:effectLst/>
                <a:uFillTx/>
                <a:latin typeface="Arial"/>
                <a:ea typeface="Arial"/>
              </a:rPr>
              <a:t>warning signs checked</a:t>
            </a:r>
            <a:endParaRPr lang="en-US" sz="1150" b="0" u="none" strike="noStrike">
              <a:solidFill>
                <a:srgbClr val="000000"/>
              </a:solidFill>
              <a:effectLst/>
              <a:uFillTx/>
              <a:latin typeface="Arial"/>
            </a:endParaRPr>
          </a:p>
        </p:txBody>
      </p:sp>
      <p:sp>
        <p:nvSpPr>
          <p:cNvPr id="229" name="Shape 16"/>
          <p:cNvSpPr/>
          <p:nvPr/>
        </p:nvSpPr>
        <p:spPr>
          <a:xfrm>
            <a:off x="8577000" y="3538800"/>
            <a:ext cx="2057040" cy="402120"/>
          </a:xfrm>
          <a:prstGeom prst="roundRect">
            <a:avLst>
              <a:gd name="adj" fmla="val 18182"/>
            </a:avLst>
          </a:prstGeom>
          <a:solidFill>
            <a:srgbClr val="FFFFFF"/>
          </a:solidFill>
          <a:ln w="19050">
            <a:solidFill>
              <a:srgbClr val="A8D7D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30" name="Text 17"/>
          <p:cNvSpPr/>
          <p:nvPr/>
        </p:nvSpPr>
        <p:spPr>
          <a:xfrm>
            <a:off x="8686800" y="3648600"/>
            <a:ext cx="1837440" cy="182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50" b="0" u="none" strike="noStrike">
                <a:solidFill>
                  <a:srgbClr val="162021"/>
                </a:solidFill>
                <a:effectLst/>
                <a:uFillTx/>
                <a:latin typeface="Arial"/>
                <a:ea typeface="Arial"/>
              </a:rPr>
              <a:t>reason for routing</a:t>
            </a:r>
            <a:endParaRPr lang="en-US" sz="1150" b="0" u="none" strike="noStrike">
              <a:solidFill>
                <a:srgbClr val="000000"/>
              </a:solidFill>
              <a:effectLst/>
              <a:uFillTx/>
              <a:latin typeface="Arial"/>
            </a:endParaRPr>
          </a:p>
        </p:txBody>
      </p:sp>
      <p:sp>
        <p:nvSpPr>
          <p:cNvPr id="231" name="Shape 18"/>
          <p:cNvSpPr/>
          <p:nvPr/>
        </p:nvSpPr>
        <p:spPr>
          <a:xfrm>
            <a:off x="6199560" y="4105800"/>
            <a:ext cx="2057040" cy="402120"/>
          </a:xfrm>
          <a:prstGeom prst="roundRect">
            <a:avLst>
              <a:gd name="adj" fmla="val 18182"/>
            </a:avLst>
          </a:prstGeom>
          <a:solidFill>
            <a:srgbClr val="FFFFFF"/>
          </a:solidFill>
          <a:ln w="19050">
            <a:solidFill>
              <a:srgbClr val="A8D7D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32" name="Text 19"/>
          <p:cNvSpPr/>
          <p:nvPr/>
        </p:nvSpPr>
        <p:spPr>
          <a:xfrm>
            <a:off x="6309360" y="4215240"/>
            <a:ext cx="1837440" cy="182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50" b="0" u="none" strike="noStrike">
                <a:solidFill>
                  <a:srgbClr val="162021"/>
                </a:solidFill>
                <a:effectLst/>
                <a:uFillTx/>
                <a:latin typeface="Arial"/>
                <a:ea typeface="Arial"/>
              </a:rPr>
              <a:t>handoff context</a:t>
            </a:r>
            <a:endParaRPr lang="en-US" sz="1150" b="0" u="none" strike="noStrike">
              <a:solidFill>
                <a:srgbClr val="000000"/>
              </a:solidFill>
              <a:effectLst/>
              <a:uFillTx/>
              <a:latin typeface="Arial"/>
            </a:endParaRPr>
          </a:p>
        </p:txBody>
      </p:sp>
      <p:sp>
        <p:nvSpPr>
          <p:cNvPr id="233" name="Shape 20"/>
          <p:cNvSpPr/>
          <p:nvPr/>
        </p:nvSpPr>
        <p:spPr>
          <a:xfrm>
            <a:off x="8577000" y="4105800"/>
            <a:ext cx="2057040" cy="402120"/>
          </a:xfrm>
          <a:prstGeom prst="roundRect">
            <a:avLst>
              <a:gd name="adj" fmla="val 18182"/>
            </a:avLst>
          </a:prstGeom>
          <a:solidFill>
            <a:srgbClr val="FFFFFF"/>
          </a:solidFill>
          <a:ln w="19050">
            <a:solidFill>
              <a:srgbClr val="A8D7D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34" name="Text 21"/>
          <p:cNvSpPr/>
          <p:nvPr/>
        </p:nvSpPr>
        <p:spPr>
          <a:xfrm>
            <a:off x="8686800" y="4215240"/>
            <a:ext cx="1837440" cy="182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50" b="0" u="none" strike="noStrike">
                <a:solidFill>
                  <a:srgbClr val="162021"/>
                </a:solidFill>
                <a:effectLst/>
                <a:uFillTx/>
                <a:latin typeface="Arial"/>
                <a:ea typeface="Arial"/>
              </a:rPr>
              <a:t>approval status</a:t>
            </a:r>
            <a:endParaRPr lang="en-US" sz="1150" b="0" u="none" strike="noStrike">
              <a:solidFill>
                <a:srgbClr val="000000"/>
              </a:solidFill>
              <a:effectLst/>
              <a:uFillTx/>
              <a:latin typeface="Arial"/>
            </a:endParaRPr>
          </a:p>
        </p:txBody>
      </p:sp>
      <p:sp>
        <p:nvSpPr>
          <p:cNvPr id="235" name="Shape 22"/>
          <p:cNvSpPr/>
          <p:nvPr/>
        </p:nvSpPr>
        <p:spPr>
          <a:xfrm>
            <a:off x="841320" y="4892040"/>
            <a:ext cx="9600840" cy="658080"/>
          </a:xfrm>
          <a:prstGeom prst="rect">
            <a:avLst/>
          </a:prstGeom>
          <a:solidFill>
            <a:srgbClr val="F2F7F6"/>
          </a:solidFill>
          <a:ln w="12700">
            <a:solidFill>
              <a:srgbClr val="A8D7D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36" name="Text 23"/>
          <p:cNvSpPr/>
          <p:nvPr/>
        </p:nvSpPr>
        <p:spPr>
          <a:xfrm>
            <a:off x="969120" y="5001840"/>
            <a:ext cx="9344880" cy="4384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defTabSz="914400">
              <a:lnSpc>
                <a:spcPct val="100000"/>
              </a:lnSpc>
              <a:tabLst>
                <a:tab pos="0" algn="l"/>
              </a:tabLst>
            </a:pPr>
            <a:r>
              <a:rPr lang="en-US" sz="1520" b="0" u="none" strike="noStrike">
                <a:solidFill>
                  <a:srgbClr val="162021"/>
                </a:solidFill>
                <a:effectLst/>
                <a:uFillTx/>
                <a:latin typeface="Comic Sans MS"/>
                <a:ea typeface="Comic Sans MS"/>
              </a:rPr>
              <a:t>Contract rule:</a:t>
            </a:r>
            <a:endParaRPr lang="en-US" sz="1520" b="0" u="none" strike="noStrike">
              <a:solidFill>
                <a:srgbClr val="000000"/>
              </a:solidFill>
              <a:effectLst/>
              <a:uFillTx/>
              <a:latin typeface="Arial"/>
            </a:endParaRPr>
          </a:p>
          <a:p>
            <a:pPr defTabSz="914400">
              <a:lnSpc>
                <a:spcPct val="100000"/>
              </a:lnSpc>
              <a:tabLst>
                <a:tab pos="0" algn="l"/>
              </a:tabLst>
            </a:pPr>
            <a:r>
              <a:rPr lang="en-US" sz="1520" b="0" u="none" strike="noStrike">
                <a:solidFill>
                  <a:srgbClr val="162021"/>
                </a:solidFill>
                <a:effectLst/>
                <a:uFillTx/>
                <a:latin typeface="Comic Sans MS"/>
                <a:ea typeface="Comic Sans MS"/>
              </a:rPr>
              <a:t>if required context is missing, ask more questions before routing.</a:t>
            </a:r>
            <a:endParaRPr lang="en-US" sz="1520" b="0" u="none" strike="noStrike">
              <a:solidFill>
                <a:srgbClr val="000000"/>
              </a:solidFill>
              <a:effectLst/>
              <a:uFillTx/>
              <a:latin typeface="Arial"/>
            </a:endParaRPr>
          </a:p>
        </p:txBody>
      </p:sp>
      <p:sp>
        <p:nvSpPr>
          <p:cNvPr id="237" name="Text 24"/>
          <p:cNvSpPr/>
          <p:nvPr/>
        </p:nvSpPr>
        <p:spPr>
          <a:xfrm>
            <a:off x="11567160" y="6455520"/>
            <a:ext cx="2282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9AA4A8"/>
                </a:solidFill>
                <a:effectLst/>
                <a:uFillTx/>
                <a:latin typeface="Arial"/>
                <a:ea typeface="Arial"/>
              </a:rPr>
              <a:t>10</a:t>
            </a:r>
            <a:endParaRPr lang="en-US" sz="750" b="0" u="none" strike="noStrike">
              <a:solidFill>
                <a:srgbClr val="000000"/>
              </a:solidFill>
              <a:effectLst/>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F00F5AE-E97D-A410-626C-A1C35BB1836B}"/>
            </a:ext>
          </a:extLst>
        </p:cNvPr>
        <p:cNvGrpSpPr/>
        <p:nvPr/>
      </p:nvGrpSpPr>
      <p:grpSpPr>
        <a:xfrm>
          <a:off x="0" y="0"/>
          <a:ext cx="0" cy="0"/>
          <a:chOff x="0" y="0"/>
          <a:chExt cx="0" cy="0"/>
        </a:xfrm>
      </p:grpSpPr>
      <p:sp>
        <p:nvSpPr>
          <p:cNvPr id="2" name="Shape 26">
            <a:extLst>
              <a:ext uri="{FF2B5EF4-FFF2-40B4-BE49-F238E27FC236}">
                <a16:creationId xmlns:a16="http://schemas.microsoft.com/office/drawing/2014/main" id="{CD41B9F5-E6C4-CE70-BF9C-C19AD6253D96}"/>
              </a:ext>
            </a:extLst>
          </p:cNvPr>
          <p:cNvSpPr/>
          <p:nvPr/>
        </p:nvSpPr>
        <p:spPr>
          <a:xfrm>
            <a:off x="9320640" y="4572000"/>
            <a:ext cx="1919880" cy="383760"/>
          </a:xfrm>
          <a:prstGeom prst="roundRect">
            <a:avLst>
              <a:gd name="adj" fmla="val 28571"/>
            </a:avLst>
          </a:prstGeom>
          <a:solidFill>
            <a:srgbClr val="E8F5F2"/>
          </a:solidFill>
          <a:ln w="13970">
            <a:solidFill>
              <a:srgbClr val="A8D7D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238" name="Image 0" descr="/mnt/data/applied_template_content.jpg">
            <a:extLst>
              <a:ext uri="{FF2B5EF4-FFF2-40B4-BE49-F238E27FC236}">
                <a16:creationId xmlns:a16="http://schemas.microsoft.com/office/drawing/2014/main" id="{6A8D805A-6858-2833-CD3E-3EBCD2FE5BA2}"/>
              </a:ext>
            </a:extLst>
          </p:cNvPr>
          <p:cNvPicPr/>
          <p:nvPr/>
        </p:nvPicPr>
        <p:blipFill>
          <a:blip r:embed="rId3"/>
          <a:stretch/>
        </p:blipFill>
        <p:spPr>
          <a:xfrm>
            <a:off x="0" y="0"/>
            <a:ext cx="12191400" cy="6857640"/>
          </a:xfrm>
          <a:prstGeom prst="rect">
            <a:avLst/>
          </a:prstGeom>
          <a:noFill/>
          <a:ln w="0">
            <a:noFill/>
          </a:ln>
        </p:spPr>
      </p:pic>
      <p:pic>
        <p:nvPicPr>
          <p:cNvPr id="239" name="Image 1" descr="/mnt/data/template_extract/ppt/media/image2.png">
            <a:extLst>
              <a:ext uri="{FF2B5EF4-FFF2-40B4-BE49-F238E27FC236}">
                <a16:creationId xmlns:a16="http://schemas.microsoft.com/office/drawing/2014/main" id="{EB60FFFA-2DFE-2C57-210F-A98DE674F6BD}"/>
              </a:ext>
            </a:extLst>
          </p:cNvPr>
          <p:cNvPicPr/>
          <p:nvPr/>
        </p:nvPicPr>
        <p:blipFill>
          <a:blip r:embed="rId4"/>
          <a:stretch/>
        </p:blipFill>
        <p:spPr>
          <a:xfrm>
            <a:off x="9738360" y="6291000"/>
            <a:ext cx="2057040" cy="475200"/>
          </a:xfrm>
          <a:prstGeom prst="rect">
            <a:avLst/>
          </a:prstGeom>
          <a:noFill/>
          <a:ln w="0">
            <a:noFill/>
          </a:ln>
        </p:spPr>
      </p:pic>
      <p:sp>
        <p:nvSpPr>
          <p:cNvPr id="240" name="Text 0">
            <a:extLst>
              <a:ext uri="{FF2B5EF4-FFF2-40B4-BE49-F238E27FC236}">
                <a16:creationId xmlns:a16="http://schemas.microsoft.com/office/drawing/2014/main" id="{BFDA1EC1-A929-D967-4E5C-80FE554B5019}"/>
              </a:ext>
            </a:extLst>
          </p:cNvPr>
          <p:cNvSpPr/>
          <p:nvPr/>
        </p:nvSpPr>
        <p:spPr>
          <a:xfrm>
            <a:off x="502920" y="347400"/>
            <a:ext cx="969228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u="none" strike="noStrike" dirty="0">
                <a:solidFill>
                  <a:srgbClr val="FFFFFF"/>
                </a:solidFill>
                <a:effectLst/>
                <a:uFillTx/>
                <a:latin typeface="Arial"/>
                <a:ea typeface="Arial"/>
              </a:rPr>
              <a:t>Test the trajectory, not only the final answer</a:t>
            </a:r>
            <a:endParaRPr lang="en-US" sz="2600" b="0" u="none" strike="noStrike" dirty="0">
              <a:solidFill>
                <a:srgbClr val="000000"/>
              </a:solidFill>
              <a:effectLst/>
              <a:uFillTx/>
              <a:latin typeface="Arial"/>
            </a:endParaRPr>
          </a:p>
        </p:txBody>
      </p:sp>
      <p:sp>
        <p:nvSpPr>
          <p:cNvPr id="241" name="Text 1">
            <a:extLst>
              <a:ext uri="{FF2B5EF4-FFF2-40B4-BE49-F238E27FC236}">
                <a16:creationId xmlns:a16="http://schemas.microsoft.com/office/drawing/2014/main" id="{C023DDDF-DFE3-3883-3452-5BDB9C248C20}"/>
              </a:ext>
            </a:extLst>
          </p:cNvPr>
          <p:cNvSpPr/>
          <p:nvPr/>
        </p:nvSpPr>
        <p:spPr>
          <a:xfrm>
            <a:off x="530280" y="822960"/>
            <a:ext cx="932652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CFEAF5"/>
                </a:solidFill>
                <a:effectLst/>
                <a:uFillTx/>
                <a:latin typeface="Arial"/>
                <a:ea typeface="Arial"/>
              </a:rPr>
              <a:t>The unit of safety is the path from intake to action</a:t>
            </a:r>
            <a:endParaRPr lang="en-US" sz="1150" b="0" u="none" strike="noStrike">
              <a:solidFill>
                <a:srgbClr val="000000"/>
              </a:solidFill>
              <a:effectLst/>
              <a:uFillTx/>
              <a:latin typeface="Arial"/>
            </a:endParaRPr>
          </a:p>
        </p:txBody>
      </p:sp>
      <p:sp>
        <p:nvSpPr>
          <p:cNvPr id="243" name="Text 3">
            <a:extLst>
              <a:ext uri="{FF2B5EF4-FFF2-40B4-BE49-F238E27FC236}">
                <a16:creationId xmlns:a16="http://schemas.microsoft.com/office/drawing/2014/main" id="{11CBDC09-E99C-CDDF-C647-BC138D5C90AD}"/>
              </a:ext>
            </a:extLst>
          </p:cNvPr>
          <p:cNvSpPr/>
          <p:nvPr/>
        </p:nvSpPr>
        <p:spPr>
          <a:xfrm>
            <a:off x="749880" y="2167200"/>
            <a:ext cx="1225080" cy="5666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80" b="0" u="none" strike="noStrike" dirty="0">
                <a:solidFill>
                  <a:srgbClr val="162021"/>
                </a:solidFill>
                <a:effectLst/>
                <a:uFillTx/>
                <a:latin typeface="Comic Sans MS"/>
                <a:ea typeface="Comic Sans MS"/>
              </a:rPr>
              <a:t>1</a:t>
            </a:r>
            <a:endParaRPr lang="en-US" sz="1180" b="0" u="none" strike="noStrike" dirty="0">
              <a:solidFill>
                <a:srgbClr val="000000"/>
              </a:solidFill>
              <a:effectLst/>
              <a:uFillTx/>
              <a:latin typeface="Arial"/>
            </a:endParaRPr>
          </a:p>
          <a:p>
            <a:pPr algn="ctr" defTabSz="914400">
              <a:lnSpc>
                <a:spcPct val="100000"/>
              </a:lnSpc>
              <a:tabLst>
                <a:tab pos="0" algn="l"/>
              </a:tabLst>
            </a:pPr>
            <a:r>
              <a:rPr lang="en-US" sz="1180" b="0" u="none" strike="noStrike" dirty="0">
                <a:solidFill>
                  <a:srgbClr val="162021"/>
                </a:solidFill>
                <a:effectLst/>
                <a:uFillTx/>
                <a:latin typeface="Comic Sans MS"/>
                <a:ea typeface="Comic Sans MS"/>
              </a:rPr>
              <a:t>Intake fields</a:t>
            </a:r>
            <a:endParaRPr lang="en-US" sz="1180" b="0" u="none" strike="noStrike" dirty="0">
              <a:solidFill>
                <a:srgbClr val="000000"/>
              </a:solidFill>
              <a:effectLst/>
              <a:uFillTx/>
              <a:latin typeface="Arial"/>
            </a:endParaRPr>
          </a:p>
        </p:txBody>
      </p:sp>
      <p:sp>
        <p:nvSpPr>
          <p:cNvPr id="244" name="Shape 4">
            <a:extLst>
              <a:ext uri="{FF2B5EF4-FFF2-40B4-BE49-F238E27FC236}">
                <a16:creationId xmlns:a16="http://schemas.microsoft.com/office/drawing/2014/main" id="{2C5F50B1-C023-CBC0-B870-D611867B67BD}"/>
              </a:ext>
            </a:extLst>
          </p:cNvPr>
          <p:cNvSpPr/>
          <p:nvPr/>
        </p:nvSpPr>
        <p:spPr>
          <a:xfrm>
            <a:off x="2121120" y="2450520"/>
            <a:ext cx="347760" cy="360"/>
          </a:xfrm>
          <a:prstGeom prst="line">
            <a:avLst/>
          </a:prstGeom>
          <a:ln w="13970">
            <a:solidFill>
              <a:srgbClr val="162021"/>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45" name="Shape 5">
            <a:extLst>
              <a:ext uri="{FF2B5EF4-FFF2-40B4-BE49-F238E27FC236}">
                <a16:creationId xmlns:a16="http://schemas.microsoft.com/office/drawing/2014/main" id="{C76578EB-2074-560D-5157-E0189FD790D4}"/>
              </a:ext>
            </a:extLst>
          </p:cNvPr>
          <p:cNvSpPr/>
          <p:nvPr/>
        </p:nvSpPr>
        <p:spPr>
          <a:xfrm>
            <a:off x="2487240" y="2057400"/>
            <a:ext cx="1444320" cy="785880"/>
          </a:xfrm>
          <a:prstGeom prst="roundRect">
            <a:avLst>
              <a:gd name="adj" fmla="val 9302"/>
            </a:avLst>
          </a:prstGeom>
          <a:solidFill>
            <a:srgbClr val="FFFFFF"/>
          </a:solidFill>
          <a:ln w="19050">
            <a:solidFill>
              <a:srgbClr val="169B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46" name="Text 6">
            <a:extLst>
              <a:ext uri="{FF2B5EF4-FFF2-40B4-BE49-F238E27FC236}">
                <a16:creationId xmlns:a16="http://schemas.microsoft.com/office/drawing/2014/main" id="{79804898-EB28-458E-C589-0897925B3FB5}"/>
              </a:ext>
            </a:extLst>
          </p:cNvPr>
          <p:cNvSpPr/>
          <p:nvPr/>
        </p:nvSpPr>
        <p:spPr>
          <a:xfrm>
            <a:off x="2597040" y="2167200"/>
            <a:ext cx="1225080" cy="5666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80" b="0" u="none" strike="noStrike" dirty="0">
                <a:solidFill>
                  <a:srgbClr val="162021"/>
                </a:solidFill>
                <a:effectLst/>
                <a:uFillTx/>
                <a:latin typeface="Comic Sans MS"/>
                <a:ea typeface="Comic Sans MS"/>
              </a:rPr>
              <a:t>2</a:t>
            </a:r>
            <a:endParaRPr lang="en-US" sz="1180" b="0" u="none" strike="noStrike" dirty="0">
              <a:solidFill>
                <a:srgbClr val="000000"/>
              </a:solidFill>
              <a:effectLst/>
              <a:uFillTx/>
              <a:latin typeface="Arial"/>
            </a:endParaRPr>
          </a:p>
          <a:p>
            <a:pPr algn="ctr" defTabSz="914400">
              <a:lnSpc>
                <a:spcPct val="100000"/>
              </a:lnSpc>
              <a:tabLst>
                <a:tab pos="0" algn="l"/>
              </a:tabLst>
            </a:pPr>
            <a:r>
              <a:rPr lang="en-US" sz="1180" b="0" u="none" strike="noStrike" dirty="0">
                <a:solidFill>
                  <a:srgbClr val="162021"/>
                </a:solidFill>
                <a:effectLst/>
                <a:uFillTx/>
                <a:latin typeface="Comic Sans MS"/>
                <a:ea typeface="Comic Sans MS"/>
              </a:rPr>
              <a:t>Escalation check</a:t>
            </a:r>
            <a:endParaRPr lang="en-US" sz="1180" b="0" u="none" strike="noStrike" dirty="0">
              <a:solidFill>
                <a:srgbClr val="000000"/>
              </a:solidFill>
              <a:effectLst/>
              <a:uFillTx/>
              <a:latin typeface="Arial"/>
            </a:endParaRPr>
          </a:p>
        </p:txBody>
      </p:sp>
      <p:sp>
        <p:nvSpPr>
          <p:cNvPr id="247" name="Shape 7">
            <a:extLst>
              <a:ext uri="{FF2B5EF4-FFF2-40B4-BE49-F238E27FC236}">
                <a16:creationId xmlns:a16="http://schemas.microsoft.com/office/drawing/2014/main" id="{3AED1319-6E6C-5B3D-5223-93917C2358C4}"/>
              </a:ext>
            </a:extLst>
          </p:cNvPr>
          <p:cNvSpPr/>
          <p:nvPr/>
        </p:nvSpPr>
        <p:spPr>
          <a:xfrm>
            <a:off x="3968280" y="2450520"/>
            <a:ext cx="347400" cy="360"/>
          </a:xfrm>
          <a:prstGeom prst="line">
            <a:avLst/>
          </a:prstGeom>
          <a:ln w="13970">
            <a:solidFill>
              <a:srgbClr val="162021"/>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48" name="Shape 8">
            <a:extLst>
              <a:ext uri="{FF2B5EF4-FFF2-40B4-BE49-F238E27FC236}">
                <a16:creationId xmlns:a16="http://schemas.microsoft.com/office/drawing/2014/main" id="{057EA518-00DC-F900-9B0C-3D905DB3C3AE}"/>
              </a:ext>
            </a:extLst>
          </p:cNvPr>
          <p:cNvSpPr/>
          <p:nvPr/>
        </p:nvSpPr>
        <p:spPr>
          <a:xfrm>
            <a:off x="4334400" y="2057400"/>
            <a:ext cx="1444320" cy="785880"/>
          </a:xfrm>
          <a:prstGeom prst="roundRect">
            <a:avLst>
              <a:gd name="adj" fmla="val 9302"/>
            </a:avLst>
          </a:prstGeom>
          <a:solidFill>
            <a:srgbClr val="FFFFFF"/>
          </a:solidFill>
          <a:ln w="19050">
            <a:solidFill>
              <a:srgbClr val="0C796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49" name="Text 9">
            <a:extLst>
              <a:ext uri="{FF2B5EF4-FFF2-40B4-BE49-F238E27FC236}">
                <a16:creationId xmlns:a16="http://schemas.microsoft.com/office/drawing/2014/main" id="{716FD2BD-C567-C442-BA23-DBB0AEBCE2F8}"/>
              </a:ext>
            </a:extLst>
          </p:cNvPr>
          <p:cNvSpPr/>
          <p:nvPr/>
        </p:nvSpPr>
        <p:spPr>
          <a:xfrm>
            <a:off x="4443840" y="2167200"/>
            <a:ext cx="1225080" cy="5666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80" b="0" u="none" strike="noStrike" dirty="0">
                <a:solidFill>
                  <a:srgbClr val="162021"/>
                </a:solidFill>
                <a:effectLst/>
                <a:uFillTx/>
                <a:latin typeface="Comic Sans MS"/>
                <a:ea typeface="Comic Sans MS"/>
              </a:rPr>
              <a:t>3</a:t>
            </a:r>
            <a:endParaRPr lang="en-US" sz="1180" b="0" u="none" strike="noStrike" dirty="0">
              <a:solidFill>
                <a:srgbClr val="000000"/>
              </a:solidFill>
              <a:effectLst/>
              <a:uFillTx/>
              <a:latin typeface="Arial"/>
            </a:endParaRPr>
          </a:p>
          <a:p>
            <a:pPr algn="ctr" defTabSz="914400">
              <a:lnSpc>
                <a:spcPct val="100000"/>
              </a:lnSpc>
              <a:tabLst>
                <a:tab pos="0" algn="l"/>
              </a:tabLst>
            </a:pPr>
            <a:r>
              <a:rPr lang="en-US" sz="1180" b="0" u="none" strike="noStrike" dirty="0">
                <a:solidFill>
                  <a:srgbClr val="162021"/>
                </a:solidFill>
                <a:effectLst/>
                <a:uFillTx/>
                <a:latin typeface="Comic Sans MS"/>
                <a:ea typeface="Comic Sans MS"/>
              </a:rPr>
              <a:t>Routing rule</a:t>
            </a:r>
            <a:endParaRPr lang="en-US" sz="1180" b="0" u="none" strike="noStrike" dirty="0">
              <a:solidFill>
                <a:srgbClr val="000000"/>
              </a:solidFill>
              <a:effectLst/>
              <a:uFillTx/>
              <a:latin typeface="Arial"/>
            </a:endParaRPr>
          </a:p>
        </p:txBody>
      </p:sp>
      <p:sp>
        <p:nvSpPr>
          <p:cNvPr id="250" name="Shape 10">
            <a:extLst>
              <a:ext uri="{FF2B5EF4-FFF2-40B4-BE49-F238E27FC236}">
                <a16:creationId xmlns:a16="http://schemas.microsoft.com/office/drawing/2014/main" id="{6299969A-8C3B-6AF9-6E31-AD919A948A3F}"/>
              </a:ext>
            </a:extLst>
          </p:cNvPr>
          <p:cNvSpPr/>
          <p:nvPr/>
        </p:nvSpPr>
        <p:spPr>
          <a:xfrm>
            <a:off x="5815440" y="2450520"/>
            <a:ext cx="347400" cy="360"/>
          </a:xfrm>
          <a:prstGeom prst="line">
            <a:avLst/>
          </a:prstGeom>
          <a:ln w="13970">
            <a:solidFill>
              <a:srgbClr val="162021"/>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51" name="Shape 11">
            <a:extLst>
              <a:ext uri="{FF2B5EF4-FFF2-40B4-BE49-F238E27FC236}">
                <a16:creationId xmlns:a16="http://schemas.microsoft.com/office/drawing/2014/main" id="{279AC40D-EE4A-DAC1-0FCF-5FC08A65DA27}"/>
              </a:ext>
            </a:extLst>
          </p:cNvPr>
          <p:cNvSpPr/>
          <p:nvPr/>
        </p:nvSpPr>
        <p:spPr>
          <a:xfrm>
            <a:off x="6181200" y="2057400"/>
            <a:ext cx="1444320" cy="785880"/>
          </a:xfrm>
          <a:prstGeom prst="roundRect">
            <a:avLst>
              <a:gd name="adj" fmla="val 9302"/>
            </a:avLst>
          </a:prstGeom>
          <a:solidFill>
            <a:srgbClr val="FFFFFF"/>
          </a:solidFill>
          <a:ln w="19050">
            <a:solidFill>
              <a:srgbClr val="0C796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2" name="Text 12">
            <a:extLst>
              <a:ext uri="{FF2B5EF4-FFF2-40B4-BE49-F238E27FC236}">
                <a16:creationId xmlns:a16="http://schemas.microsoft.com/office/drawing/2014/main" id="{963A1C8A-32D8-9773-558A-EFBA1E84BA59}"/>
              </a:ext>
            </a:extLst>
          </p:cNvPr>
          <p:cNvSpPr/>
          <p:nvPr/>
        </p:nvSpPr>
        <p:spPr>
          <a:xfrm>
            <a:off x="6291000" y="2167200"/>
            <a:ext cx="1225080" cy="5666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80" b="0" u="none" strike="noStrike" dirty="0">
                <a:solidFill>
                  <a:srgbClr val="162021"/>
                </a:solidFill>
                <a:effectLst/>
                <a:uFillTx/>
                <a:latin typeface="Comic Sans MS"/>
                <a:ea typeface="Comic Sans MS"/>
              </a:rPr>
              <a:t>4</a:t>
            </a:r>
            <a:endParaRPr lang="en-US" sz="1180" b="0" u="none" strike="noStrike" dirty="0">
              <a:solidFill>
                <a:srgbClr val="000000"/>
              </a:solidFill>
              <a:effectLst/>
              <a:uFillTx/>
              <a:latin typeface="Arial"/>
            </a:endParaRPr>
          </a:p>
          <a:p>
            <a:pPr algn="ctr" defTabSz="914400">
              <a:lnSpc>
                <a:spcPct val="100000"/>
              </a:lnSpc>
              <a:tabLst>
                <a:tab pos="0" algn="l"/>
              </a:tabLst>
            </a:pPr>
            <a:r>
              <a:rPr lang="en-US" sz="1180" b="0" u="none" strike="noStrike" dirty="0">
                <a:solidFill>
                  <a:srgbClr val="162021"/>
                </a:solidFill>
                <a:effectLst/>
                <a:uFillTx/>
                <a:latin typeface="Comic Sans MS"/>
                <a:ea typeface="Comic Sans MS"/>
              </a:rPr>
              <a:t>Handoff packet</a:t>
            </a:r>
            <a:endParaRPr lang="en-US" sz="1180" b="0" u="none" strike="noStrike" dirty="0">
              <a:solidFill>
                <a:srgbClr val="000000"/>
              </a:solidFill>
              <a:effectLst/>
              <a:uFillTx/>
              <a:latin typeface="Arial"/>
            </a:endParaRPr>
          </a:p>
        </p:txBody>
      </p:sp>
      <p:sp>
        <p:nvSpPr>
          <p:cNvPr id="253" name="Shape 13">
            <a:extLst>
              <a:ext uri="{FF2B5EF4-FFF2-40B4-BE49-F238E27FC236}">
                <a16:creationId xmlns:a16="http://schemas.microsoft.com/office/drawing/2014/main" id="{4394BE56-8DD7-D002-A5B4-E4FC2910101F}"/>
              </a:ext>
            </a:extLst>
          </p:cNvPr>
          <p:cNvSpPr/>
          <p:nvPr/>
        </p:nvSpPr>
        <p:spPr>
          <a:xfrm>
            <a:off x="7662600" y="2450520"/>
            <a:ext cx="347400" cy="360"/>
          </a:xfrm>
          <a:prstGeom prst="line">
            <a:avLst/>
          </a:prstGeom>
          <a:ln w="13970">
            <a:solidFill>
              <a:srgbClr val="162021"/>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54" name="Shape 14">
            <a:extLst>
              <a:ext uri="{FF2B5EF4-FFF2-40B4-BE49-F238E27FC236}">
                <a16:creationId xmlns:a16="http://schemas.microsoft.com/office/drawing/2014/main" id="{849F3D87-89AC-5071-2801-B23078037F2B}"/>
              </a:ext>
            </a:extLst>
          </p:cNvPr>
          <p:cNvSpPr/>
          <p:nvPr/>
        </p:nvSpPr>
        <p:spPr>
          <a:xfrm>
            <a:off x="8028360" y="2057400"/>
            <a:ext cx="1444320" cy="785880"/>
          </a:xfrm>
          <a:prstGeom prst="roundRect">
            <a:avLst>
              <a:gd name="adj" fmla="val 9302"/>
            </a:avLst>
          </a:prstGeom>
          <a:solidFill>
            <a:srgbClr val="FFFFFF"/>
          </a:solidFill>
          <a:ln w="19050">
            <a:solidFill>
              <a:srgbClr val="0C796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5" name="Text 15">
            <a:extLst>
              <a:ext uri="{FF2B5EF4-FFF2-40B4-BE49-F238E27FC236}">
                <a16:creationId xmlns:a16="http://schemas.microsoft.com/office/drawing/2014/main" id="{71E90D72-016C-D55A-3419-D6DCFA145247}"/>
              </a:ext>
            </a:extLst>
          </p:cNvPr>
          <p:cNvSpPr/>
          <p:nvPr/>
        </p:nvSpPr>
        <p:spPr>
          <a:xfrm>
            <a:off x="8138160" y="2167200"/>
            <a:ext cx="1225080" cy="5666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80" b="0" u="none" strike="noStrike" dirty="0">
                <a:solidFill>
                  <a:srgbClr val="162021"/>
                </a:solidFill>
                <a:effectLst/>
                <a:uFillTx/>
                <a:latin typeface="Comic Sans MS"/>
                <a:ea typeface="Comic Sans MS"/>
              </a:rPr>
              <a:t>5</a:t>
            </a:r>
            <a:endParaRPr lang="en-US" sz="1180" b="0" u="none" strike="noStrike" dirty="0">
              <a:solidFill>
                <a:srgbClr val="000000"/>
              </a:solidFill>
              <a:effectLst/>
              <a:uFillTx/>
              <a:latin typeface="Arial"/>
            </a:endParaRPr>
          </a:p>
          <a:p>
            <a:pPr algn="ctr" defTabSz="914400">
              <a:lnSpc>
                <a:spcPct val="100000"/>
              </a:lnSpc>
              <a:tabLst>
                <a:tab pos="0" algn="l"/>
              </a:tabLst>
            </a:pPr>
            <a:r>
              <a:rPr lang="en-US" sz="1180" b="0" u="none" strike="noStrike" dirty="0">
                <a:solidFill>
                  <a:srgbClr val="162021"/>
                </a:solidFill>
                <a:effectLst/>
                <a:uFillTx/>
                <a:latin typeface="Comic Sans MS"/>
                <a:ea typeface="Comic Sans MS"/>
              </a:rPr>
              <a:t>Tool call</a:t>
            </a:r>
            <a:endParaRPr lang="en-US" sz="1180" b="0" u="none" strike="noStrike" dirty="0">
              <a:solidFill>
                <a:srgbClr val="000000"/>
              </a:solidFill>
              <a:effectLst/>
              <a:uFillTx/>
              <a:latin typeface="Arial"/>
            </a:endParaRPr>
          </a:p>
        </p:txBody>
      </p:sp>
      <p:sp>
        <p:nvSpPr>
          <p:cNvPr id="256" name="Shape 16">
            <a:extLst>
              <a:ext uri="{FF2B5EF4-FFF2-40B4-BE49-F238E27FC236}">
                <a16:creationId xmlns:a16="http://schemas.microsoft.com/office/drawing/2014/main" id="{B274E921-FF93-52A4-E622-DA656188BFFD}"/>
              </a:ext>
            </a:extLst>
          </p:cNvPr>
          <p:cNvSpPr/>
          <p:nvPr/>
        </p:nvSpPr>
        <p:spPr>
          <a:xfrm>
            <a:off x="9509760" y="2450520"/>
            <a:ext cx="347400" cy="360"/>
          </a:xfrm>
          <a:prstGeom prst="line">
            <a:avLst/>
          </a:prstGeom>
          <a:ln w="13970">
            <a:solidFill>
              <a:srgbClr val="162021"/>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57" name="Shape 17">
            <a:extLst>
              <a:ext uri="{FF2B5EF4-FFF2-40B4-BE49-F238E27FC236}">
                <a16:creationId xmlns:a16="http://schemas.microsoft.com/office/drawing/2014/main" id="{74B5DDFF-476D-AAB9-7E3F-4B830E66A706}"/>
              </a:ext>
            </a:extLst>
          </p:cNvPr>
          <p:cNvSpPr/>
          <p:nvPr/>
        </p:nvSpPr>
        <p:spPr>
          <a:xfrm>
            <a:off x="9875520" y="2057400"/>
            <a:ext cx="1444320" cy="785880"/>
          </a:xfrm>
          <a:prstGeom prst="roundRect">
            <a:avLst>
              <a:gd name="adj" fmla="val 9302"/>
            </a:avLst>
          </a:prstGeom>
          <a:solidFill>
            <a:srgbClr val="FFFFFF"/>
          </a:solidFill>
          <a:ln w="19050">
            <a:solidFill>
              <a:srgbClr val="0C796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8" name="Text 18">
            <a:extLst>
              <a:ext uri="{FF2B5EF4-FFF2-40B4-BE49-F238E27FC236}">
                <a16:creationId xmlns:a16="http://schemas.microsoft.com/office/drawing/2014/main" id="{52056BCF-F677-B650-52D2-382A9E1CAA0F}"/>
              </a:ext>
            </a:extLst>
          </p:cNvPr>
          <p:cNvSpPr/>
          <p:nvPr/>
        </p:nvSpPr>
        <p:spPr>
          <a:xfrm>
            <a:off x="9985320" y="2167200"/>
            <a:ext cx="1225080" cy="5666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80" b="0" u="none" strike="noStrike" dirty="0">
                <a:solidFill>
                  <a:srgbClr val="162021"/>
                </a:solidFill>
                <a:effectLst/>
                <a:uFillTx/>
                <a:latin typeface="Comic Sans MS"/>
                <a:ea typeface="Comic Sans MS"/>
              </a:rPr>
              <a:t>6</a:t>
            </a:r>
            <a:endParaRPr lang="en-US" sz="1180" b="0" u="none" strike="noStrike" dirty="0">
              <a:solidFill>
                <a:srgbClr val="000000"/>
              </a:solidFill>
              <a:effectLst/>
              <a:uFillTx/>
              <a:latin typeface="Arial"/>
            </a:endParaRPr>
          </a:p>
          <a:p>
            <a:pPr algn="ctr" defTabSz="914400">
              <a:lnSpc>
                <a:spcPct val="100000"/>
              </a:lnSpc>
              <a:tabLst>
                <a:tab pos="0" algn="l"/>
              </a:tabLst>
            </a:pPr>
            <a:r>
              <a:rPr lang="en-US" sz="1180" b="0" u="none" strike="noStrike" dirty="0">
                <a:solidFill>
                  <a:srgbClr val="162021"/>
                </a:solidFill>
                <a:effectLst/>
                <a:uFillTx/>
                <a:latin typeface="Comic Sans MS"/>
                <a:ea typeface="Comic Sans MS"/>
              </a:rPr>
              <a:t>Clinician review</a:t>
            </a:r>
            <a:endParaRPr lang="en-US" sz="1180" b="0" u="none" strike="noStrike" dirty="0">
              <a:solidFill>
                <a:srgbClr val="000000"/>
              </a:solidFill>
              <a:effectLst/>
              <a:uFillTx/>
              <a:latin typeface="Arial"/>
            </a:endParaRPr>
          </a:p>
        </p:txBody>
      </p:sp>
      <p:sp>
        <p:nvSpPr>
          <p:cNvPr id="259" name="Text 19">
            <a:extLst>
              <a:ext uri="{FF2B5EF4-FFF2-40B4-BE49-F238E27FC236}">
                <a16:creationId xmlns:a16="http://schemas.microsoft.com/office/drawing/2014/main" id="{45D911B3-79CC-F1AD-7BAC-9F9E131B3A09}"/>
              </a:ext>
            </a:extLst>
          </p:cNvPr>
          <p:cNvSpPr/>
          <p:nvPr/>
        </p:nvSpPr>
        <p:spPr>
          <a:xfrm>
            <a:off x="849560" y="5619420"/>
            <a:ext cx="10784840" cy="5025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t">
            <a:normAutofit/>
          </a:bodyPr>
          <a:lstStyle/>
          <a:p>
            <a:pPr defTabSz="914400">
              <a:lnSpc>
                <a:spcPct val="100000"/>
              </a:lnSpc>
              <a:tabLst>
                <a:tab pos="0" algn="l"/>
              </a:tabLst>
            </a:pPr>
            <a:r>
              <a:rPr lang="en-US" sz="1700" b="1" u="none" strike="noStrike" dirty="0">
                <a:solidFill>
                  <a:srgbClr val="162021"/>
                </a:solidFill>
                <a:effectLst/>
                <a:uFillTx/>
                <a:latin typeface="Arial"/>
                <a:ea typeface="Arial"/>
              </a:rPr>
              <a:t>Regression risk comes from every change: model, agent role, policies, routing logic, or data source</a:t>
            </a:r>
            <a:endParaRPr lang="en-US" sz="1700" b="0" u="none" strike="noStrike" dirty="0">
              <a:solidFill>
                <a:srgbClr val="000000"/>
              </a:solidFill>
              <a:effectLst/>
              <a:uFillTx/>
              <a:latin typeface="Arial"/>
            </a:endParaRPr>
          </a:p>
        </p:txBody>
      </p:sp>
      <p:sp>
        <p:nvSpPr>
          <p:cNvPr id="260" name="Shape 20">
            <a:extLst>
              <a:ext uri="{FF2B5EF4-FFF2-40B4-BE49-F238E27FC236}">
                <a16:creationId xmlns:a16="http://schemas.microsoft.com/office/drawing/2014/main" id="{768587AB-F237-2157-17E3-B9EEE8375E3C}"/>
              </a:ext>
            </a:extLst>
          </p:cNvPr>
          <p:cNvSpPr/>
          <p:nvPr/>
        </p:nvSpPr>
        <p:spPr>
          <a:xfrm>
            <a:off x="868680" y="4572000"/>
            <a:ext cx="1919880" cy="383760"/>
          </a:xfrm>
          <a:prstGeom prst="roundRect">
            <a:avLst>
              <a:gd name="adj" fmla="val 28571"/>
            </a:avLst>
          </a:prstGeom>
          <a:solidFill>
            <a:srgbClr val="E8F5F2"/>
          </a:solidFill>
          <a:ln w="13970">
            <a:solidFill>
              <a:srgbClr val="A8D7D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61" name="Text 21">
            <a:extLst>
              <a:ext uri="{FF2B5EF4-FFF2-40B4-BE49-F238E27FC236}">
                <a16:creationId xmlns:a16="http://schemas.microsoft.com/office/drawing/2014/main" id="{053BFB03-ADF4-45ED-A59B-57CA3CF08479}"/>
              </a:ext>
            </a:extLst>
          </p:cNvPr>
          <p:cNvSpPr/>
          <p:nvPr/>
        </p:nvSpPr>
        <p:spPr>
          <a:xfrm>
            <a:off x="987480" y="4681800"/>
            <a:ext cx="168228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80" b="1" u="none" strike="noStrike">
                <a:solidFill>
                  <a:srgbClr val="0C796D"/>
                </a:solidFill>
                <a:effectLst/>
                <a:uFillTx/>
                <a:latin typeface="Arial"/>
                <a:ea typeface="Arial"/>
              </a:rPr>
              <a:t>Expected path defined</a:t>
            </a:r>
            <a:endParaRPr lang="en-US" sz="1080" b="0" u="none" strike="noStrike">
              <a:solidFill>
                <a:srgbClr val="000000"/>
              </a:solidFill>
              <a:effectLst/>
              <a:uFillTx/>
              <a:latin typeface="Arial"/>
            </a:endParaRPr>
          </a:p>
        </p:txBody>
      </p:sp>
      <p:sp>
        <p:nvSpPr>
          <p:cNvPr id="262" name="Shape 22">
            <a:extLst>
              <a:ext uri="{FF2B5EF4-FFF2-40B4-BE49-F238E27FC236}">
                <a16:creationId xmlns:a16="http://schemas.microsoft.com/office/drawing/2014/main" id="{2652C40B-7B7A-EAB8-2C5E-A8C3BA9D3B98}"/>
              </a:ext>
            </a:extLst>
          </p:cNvPr>
          <p:cNvSpPr/>
          <p:nvPr/>
        </p:nvSpPr>
        <p:spPr>
          <a:xfrm>
            <a:off x="2935080" y="4572000"/>
            <a:ext cx="1919880" cy="383760"/>
          </a:xfrm>
          <a:prstGeom prst="roundRect">
            <a:avLst>
              <a:gd name="adj" fmla="val 28571"/>
            </a:avLst>
          </a:prstGeom>
          <a:solidFill>
            <a:srgbClr val="E8F5F2"/>
          </a:solidFill>
          <a:ln w="13970">
            <a:solidFill>
              <a:srgbClr val="A8D7D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63" name="Text 23">
            <a:extLst>
              <a:ext uri="{FF2B5EF4-FFF2-40B4-BE49-F238E27FC236}">
                <a16:creationId xmlns:a16="http://schemas.microsoft.com/office/drawing/2014/main" id="{D7318674-AA41-E16B-619D-706CD80DEE24}"/>
              </a:ext>
            </a:extLst>
          </p:cNvPr>
          <p:cNvSpPr/>
          <p:nvPr/>
        </p:nvSpPr>
        <p:spPr>
          <a:xfrm>
            <a:off x="3054240" y="4681800"/>
            <a:ext cx="168228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80" b="1" u="none" strike="noStrike" dirty="0">
                <a:solidFill>
                  <a:srgbClr val="0C796D"/>
                </a:solidFill>
                <a:effectLst/>
                <a:uFillTx/>
                <a:latin typeface="Arial"/>
                <a:ea typeface="Arial"/>
              </a:rPr>
              <a:t>Tool parameters validated</a:t>
            </a:r>
            <a:endParaRPr lang="en-US" sz="1080" b="0" u="none" strike="noStrike" dirty="0">
              <a:solidFill>
                <a:srgbClr val="000000"/>
              </a:solidFill>
              <a:effectLst/>
              <a:uFillTx/>
              <a:latin typeface="Arial"/>
            </a:endParaRPr>
          </a:p>
        </p:txBody>
      </p:sp>
      <p:sp>
        <p:nvSpPr>
          <p:cNvPr id="264" name="Shape 24">
            <a:extLst>
              <a:ext uri="{FF2B5EF4-FFF2-40B4-BE49-F238E27FC236}">
                <a16:creationId xmlns:a16="http://schemas.microsoft.com/office/drawing/2014/main" id="{156B53A2-29DA-ADA1-B87A-58E4FC8BBC0E}"/>
              </a:ext>
            </a:extLst>
          </p:cNvPr>
          <p:cNvSpPr/>
          <p:nvPr/>
        </p:nvSpPr>
        <p:spPr>
          <a:xfrm>
            <a:off x="5001840" y="4572000"/>
            <a:ext cx="1919880" cy="383760"/>
          </a:xfrm>
          <a:prstGeom prst="roundRect">
            <a:avLst>
              <a:gd name="adj" fmla="val 28571"/>
            </a:avLst>
          </a:prstGeom>
          <a:solidFill>
            <a:srgbClr val="E8F5F2"/>
          </a:solidFill>
          <a:ln w="13970">
            <a:solidFill>
              <a:srgbClr val="A8D7D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65" name="Text 25">
            <a:extLst>
              <a:ext uri="{FF2B5EF4-FFF2-40B4-BE49-F238E27FC236}">
                <a16:creationId xmlns:a16="http://schemas.microsoft.com/office/drawing/2014/main" id="{EBD3E645-5B7F-8DBD-24F1-951BCCA6B5EF}"/>
              </a:ext>
            </a:extLst>
          </p:cNvPr>
          <p:cNvSpPr/>
          <p:nvPr/>
        </p:nvSpPr>
        <p:spPr>
          <a:xfrm>
            <a:off x="5120640" y="4681800"/>
            <a:ext cx="168228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80" b="1" u="none" strike="noStrike">
                <a:solidFill>
                  <a:srgbClr val="0C796D"/>
                </a:solidFill>
                <a:effectLst/>
                <a:uFillTx/>
                <a:latin typeface="Arial"/>
                <a:ea typeface="Arial"/>
              </a:rPr>
              <a:t>Trace captured</a:t>
            </a:r>
            <a:endParaRPr lang="en-US" sz="1080" b="0" u="none" strike="noStrike">
              <a:solidFill>
                <a:srgbClr val="000000"/>
              </a:solidFill>
              <a:effectLst/>
              <a:uFillTx/>
              <a:latin typeface="Arial"/>
            </a:endParaRPr>
          </a:p>
        </p:txBody>
      </p:sp>
      <p:sp>
        <p:nvSpPr>
          <p:cNvPr id="266" name="Shape 26">
            <a:extLst>
              <a:ext uri="{FF2B5EF4-FFF2-40B4-BE49-F238E27FC236}">
                <a16:creationId xmlns:a16="http://schemas.microsoft.com/office/drawing/2014/main" id="{1415224B-FD20-61B6-E467-4CF72E1B27FD}"/>
              </a:ext>
            </a:extLst>
          </p:cNvPr>
          <p:cNvSpPr/>
          <p:nvPr/>
        </p:nvSpPr>
        <p:spPr>
          <a:xfrm>
            <a:off x="7068240" y="4572000"/>
            <a:ext cx="1919880" cy="383760"/>
          </a:xfrm>
          <a:prstGeom prst="roundRect">
            <a:avLst>
              <a:gd name="adj" fmla="val 28571"/>
            </a:avLst>
          </a:prstGeom>
          <a:solidFill>
            <a:srgbClr val="E8F5F2"/>
          </a:solidFill>
          <a:ln w="13970">
            <a:solidFill>
              <a:srgbClr val="A8D7D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67" name="Text 27">
            <a:extLst>
              <a:ext uri="{FF2B5EF4-FFF2-40B4-BE49-F238E27FC236}">
                <a16:creationId xmlns:a16="http://schemas.microsoft.com/office/drawing/2014/main" id="{CACFDE6F-E02D-2D3D-3293-E93ACADBEA93}"/>
              </a:ext>
            </a:extLst>
          </p:cNvPr>
          <p:cNvSpPr/>
          <p:nvPr/>
        </p:nvSpPr>
        <p:spPr>
          <a:xfrm>
            <a:off x="7187040" y="4681800"/>
            <a:ext cx="168228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80" b="1" u="none" strike="noStrike" dirty="0">
                <a:solidFill>
                  <a:srgbClr val="0C796D"/>
                </a:solidFill>
                <a:effectLst/>
                <a:uFillTx/>
                <a:latin typeface="Arial"/>
                <a:ea typeface="Arial"/>
              </a:rPr>
              <a:t>Failures classified</a:t>
            </a:r>
            <a:endParaRPr lang="en-US" sz="1080" b="0" u="none" strike="noStrike" dirty="0">
              <a:solidFill>
                <a:srgbClr val="000000"/>
              </a:solidFill>
              <a:effectLst/>
              <a:uFillTx/>
              <a:latin typeface="Arial"/>
            </a:endParaRPr>
          </a:p>
        </p:txBody>
      </p:sp>
      <p:sp>
        <p:nvSpPr>
          <p:cNvPr id="270" name="Text 30">
            <a:extLst>
              <a:ext uri="{FF2B5EF4-FFF2-40B4-BE49-F238E27FC236}">
                <a16:creationId xmlns:a16="http://schemas.microsoft.com/office/drawing/2014/main" id="{A698CAE4-6C4D-8519-A296-DBE1B17206B8}"/>
              </a:ext>
            </a:extLst>
          </p:cNvPr>
          <p:cNvSpPr/>
          <p:nvPr/>
        </p:nvSpPr>
        <p:spPr>
          <a:xfrm>
            <a:off x="11567160" y="6455520"/>
            <a:ext cx="2282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9AA4A8"/>
                </a:solidFill>
                <a:effectLst/>
                <a:uFillTx/>
                <a:latin typeface="Arial"/>
                <a:ea typeface="Arial"/>
              </a:rPr>
              <a:t>11</a:t>
            </a:r>
            <a:endParaRPr lang="en-US" sz="750" b="0" u="none" strike="noStrike">
              <a:solidFill>
                <a:srgbClr val="000000"/>
              </a:solidFill>
              <a:effectLst/>
              <a:uFillTx/>
              <a:latin typeface="Arial"/>
            </a:endParaRPr>
          </a:p>
        </p:txBody>
      </p:sp>
      <p:sp>
        <p:nvSpPr>
          <p:cNvPr id="3" name="Shape 26">
            <a:extLst>
              <a:ext uri="{FF2B5EF4-FFF2-40B4-BE49-F238E27FC236}">
                <a16:creationId xmlns:a16="http://schemas.microsoft.com/office/drawing/2014/main" id="{68789E83-3BBA-938E-F62A-63B1217FA614}"/>
              </a:ext>
            </a:extLst>
          </p:cNvPr>
          <p:cNvSpPr/>
          <p:nvPr/>
        </p:nvSpPr>
        <p:spPr>
          <a:xfrm>
            <a:off x="9509760" y="4556700"/>
            <a:ext cx="1919880" cy="383760"/>
          </a:xfrm>
          <a:prstGeom prst="roundRect">
            <a:avLst>
              <a:gd name="adj" fmla="val 28571"/>
            </a:avLst>
          </a:prstGeom>
          <a:solidFill>
            <a:srgbClr val="E8F5F2"/>
          </a:solidFill>
          <a:ln w="13970">
            <a:solidFill>
              <a:srgbClr val="A8D7D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69" name="Text 29">
            <a:extLst>
              <a:ext uri="{FF2B5EF4-FFF2-40B4-BE49-F238E27FC236}">
                <a16:creationId xmlns:a16="http://schemas.microsoft.com/office/drawing/2014/main" id="{AA88BAF2-E04B-A0C0-F1EB-3DDDF2956B86}"/>
              </a:ext>
            </a:extLst>
          </p:cNvPr>
          <p:cNvSpPr/>
          <p:nvPr/>
        </p:nvSpPr>
        <p:spPr>
          <a:xfrm>
            <a:off x="9522240" y="4664520"/>
            <a:ext cx="168228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80" b="1" u="none" strike="noStrike" dirty="0">
                <a:solidFill>
                  <a:srgbClr val="0C796D"/>
                </a:solidFill>
                <a:effectLst/>
                <a:uFillTx/>
                <a:latin typeface="Arial"/>
                <a:ea typeface="Arial"/>
              </a:rPr>
              <a:t>Behavior monitored</a:t>
            </a:r>
            <a:endParaRPr lang="en-US" sz="1080" b="0" u="none" strike="noStrike" dirty="0">
              <a:solidFill>
                <a:srgbClr val="000000"/>
              </a:solidFill>
              <a:effectLst/>
              <a:uFillTx/>
              <a:latin typeface="Arial"/>
            </a:endParaRPr>
          </a:p>
        </p:txBody>
      </p:sp>
    </p:spTree>
    <p:extLst>
      <p:ext uri="{BB962C8B-B14F-4D97-AF65-F5344CB8AC3E}">
        <p14:creationId xmlns:p14="http://schemas.microsoft.com/office/powerpoint/2010/main" val="11533058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71" name="Image 0" descr="/mnt/data/applied_template_content.jpg"/>
          <p:cNvPicPr/>
          <p:nvPr/>
        </p:nvPicPr>
        <p:blipFill>
          <a:blip r:embed="rId3"/>
          <a:stretch/>
        </p:blipFill>
        <p:spPr>
          <a:xfrm>
            <a:off x="0" y="0"/>
            <a:ext cx="12191400" cy="6857640"/>
          </a:xfrm>
          <a:prstGeom prst="rect">
            <a:avLst/>
          </a:prstGeom>
          <a:noFill/>
          <a:ln w="0">
            <a:noFill/>
          </a:ln>
        </p:spPr>
      </p:pic>
      <p:pic>
        <p:nvPicPr>
          <p:cNvPr id="272" name="Image 1" descr="/mnt/data/template_extract/ppt/media/image2.png"/>
          <p:cNvPicPr/>
          <p:nvPr/>
        </p:nvPicPr>
        <p:blipFill>
          <a:blip r:embed="rId4"/>
          <a:stretch/>
        </p:blipFill>
        <p:spPr>
          <a:xfrm>
            <a:off x="9738360" y="6291000"/>
            <a:ext cx="2057040" cy="475200"/>
          </a:xfrm>
          <a:prstGeom prst="rect">
            <a:avLst/>
          </a:prstGeom>
          <a:noFill/>
          <a:ln w="0">
            <a:noFill/>
          </a:ln>
        </p:spPr>
      </p:pic>
      <p:sp>
        <p:nvSpPr>
          <p:cNvPr id="273" name="Text 0"/>
          <p:cNvSpPr/>
          <p:nvPr/>
        </p:nvSpPr>
        <p:spPr>
          <a:xfrm>
            <a:off x="502920" y="347400"/>
            <a:ext cx="969228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u="none" strike="noStrike">
                <a:solidFill>
                  <a:srgbClr val="FFFFFF"/>
                </a:solidFill>
                <a:effectLst/>
                <a:uFillTx/>
                <a:latin typeface="Arial"/>
                <a:ea typeface="Arial"/>
              </a:rPr>
              <a:t>Human and agent decision rights</a:t>
            </a:r>
            <a:endParaRPr lang="en-US" sz="2600" b="0" u="none" strike="noStrike">
              <a:solidFill>
                <a:srgbClr val="000000"/>
              </a:solidFill>
              <a:effectLst/>
              <a:uFillTx/>
              <a:latin typeface="Arial"/>
            </a:endParaRPr>
          </a:p>
        </p:txBody>
      </p:sp>
      <p:sp>
        <p:nvSpPr>
          <p:cNvPr id="274" name="Text 1"/>
          <p:cNvSpPr/>
          <p:nvPr/>
        </p:nvSpPr>
        <p:spPr>
          <a:xfrm>
            <a:off x="530280" y="822960"/>
            <a:ext cx="932652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CFEAF5"/>
                </a:solidFill>
                <a:effectLst/>
                <a:uFillTx/>
                <a:latin typeface="Arial"/>
                <a:ea typeface="Arial"/>
              </a:rPr>
              <a:t>Clear boundaries prevent the agent from freelancing inside a regulated workflow</a:t>
            </a:r>
            <a:endParaRPr lang="en-US" sz="1150" b="0" u="none" strike="noStrike">
              <a:solidFill>
                <a:srgbClr val="000000"/>
              </a:solidFill>
              <a:effectLst/>
              <a:uFillTx/>
              <a:latin typeface="Arial"/>
            </a:endParaRPr>
          </a:p>
        </p:txBody>
      </p:sp>
      <p:sp>
        <p:nvSpPr>
          <p:cNvPr id="275" name="Shape 2"/>
          <p:cNvSpPr/>
          <p:nvPr/>
        </p:nvSpPr>
        <p:spPr>
          <a:xfrm>
            <a:off x="786240" y="1755720"/>
            <a:ext cx="4480200" cy="511560"/>
          </a:xfrm>
          <a:prstGeom prst="roundRect">
            <a:avLst>
              <a:gd name="adj" fmla="val 14286"/>
            </a:avLst>
          </a:prstGeom>
          <a:solidFill>
            <a:srgbClr val="E8F5F2"/>
          </a:solidFill>
          <a:ln w="19050">
            <a:solidFill>
              <a:srgbClr val="0C796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76" name="Text 3"/>
          <p:cNvSpPr/>
          <p:nvPr/>
        </p:nvSpPr>
        <p:spPr>
          <a:xfrm>
            <a:off x="896040" y="1865520"/>
            <a:ext cx="4260600" cy="2923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0C796D"/>
                </a:solidFill>
                <a:effectLst/>
                <a:uFillTx/>
                <a:latin typeface="Arial"/>
                <a:ea typeface="Arial"/>
              </a:rPr>
              <a:t>Agent can prepare</a:t>
            </a:r>
            <a:endParaRPr lang="en-US" sz="1500" b="0" u="none" strike="noStrike">
              <a:solidFill>
                <a:srgbClr val="000000"/>
              </a:solidFill>
              <a:effectLst/>
              <a:uFillTx/>
              <a:latin typeface="Arial"/>
            </a:endParaRPr>
          </a:p>
        </p:txBody>
      </p:sp>
      <p:sp>
        <p:nvSpPr>
          <p:cNvPr id="277" name="Shape 4"/>
          <p:cNvSpPr/>
          <p:nvPr/>
        </p:nvSpPr>
        <p:spPr>
          <a:xfrm>
            <a:off x="6400800" y="1755720"/>
            <a:ext cx="4480200" cy="511560"/>
          </a:xfrm>
          <a:prstGeom prst="roundRect">
            <a:avLst>
              <a:gd name="adj" fmla="val 14286"/>
            </a:avLst>
          </a:prstGeom>
          <a:solidFill>
            <a:srgbClr val="FFF4C7"/>
          </a:solidFill>
          <a:ln w="19050">
            <a:solidFill>
              <a:srgbClr val="D8C45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78" name="Text 5"/>
          <p:cNvSpPr/>
          <p:nvPr/>
        </p:nvSpPr>
        <p:spPr>
          <a:xfrm>
            <a:off x="6510600" y="1865520"/>
            <a:ext cx="4260600" cy="2923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62021"/>
                </a:solidFill>
                <a:effectLst/>
                <a:uFillTx/>
                <a:latin typeface="Arial"/>
                <a:ea typeface="Arial"/>
              </a:rPr>
              <a:t>Human must approve</a:t>
            </a:r>
            <a:endParaRPr lang="en-US" sz="1500" b="0" u="none" strike="noStrike">
              <a:solidFill>
                <a:srgbClr val="000000"/>
              </a:solidFill>
              <a:effectLst/>
              <a:uFillTx/>
              <a:latin typeface="Arial"/>
            </a:endParaRPr>
          </a:p>
        </p:txBody>
      </p:sp>
      <p:sp>
        <p:nvSpPr>
          <p:cNvPr id="279" name="Text 6"/>
          <p:cNvSpPr/>
          <p:nvPr/>
        </p:nvSpPr>
        <p:spPr>
          <a:xfrm>
            <a:off x="1005840" y="2633400"/>
            <a:ext cx="411444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t">
            <a:normAutofit/>
          </a:bodyPr>
          <a:lstStyle/>
          <a:p>
            <a:pPr defTabSz="914400">
              <a:lnSpc>
                <a:spcPct val="100000"/>
              </a:lnSpc>
              <a:tabLst>
                <a:tab pos="0" algn="l"/>
              </a:tabLst>
            </a:pPr>
            <a:r>
              <a:rPr lang="en-US" sz="1620" b="0" u="none" strike="noStrike">
                <a:solidFill>
                  <a:srgbClr val="162021"/>
                </a:solidFill>
                <a:effectLst/>
                <a:uFillTx/>
                <a:latin typeface="Arial"/>
                <a:ea typeface="Arial"/>
              </a:rPr>
              <a:t>• organize symptoms</a:t>
            </a:r>
            <a:endParaRPr lang="en-US" sz="1620" b="0" u="none" strike="noStrike">
              <a:solidFill>
                <a:srgbClr val="000000"/>
              </a:solidFill>
              <a:effectLst/>
              <a:uFillTx/>
              <a:latin typeface="Arial"/>
            </a:endParaRPr>
          </a:p>
        </p:txBody>
      </p:sp>
      <p:sp>
        <p:nvSpPr>
          <p:cNvPr id="280" name="Text 7"/>
          <p:cNvSpPr/>
          <p:nvPr/>
        </p:nvSpPr>
        <p:spPr>
          <a:xfrm>
            <a:off x="1005840" y="3108960"/>
            <a:ext cx="411444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t">
            <a:normAutofit/>
          </a:bodyPr>
          <a:lstStyle/>
          <a:p>
            <a:pPr defTabSz="914400">
              <a:lnSpc>
                <a:spcPct val="100000"/>
              </a:lnSpc>
              <a:tabLst>
                <a:tab pos="0" algn="l"/>
              </a:tabLst>
            </a:pPr>
            <a:r>
              <a:rPr lang="en-US" sz="1620" b="0" u="none" strike="noStrike">
                <a:solidFill>
                  <a:srgbClr val="162021"/>
                </a:solidFill>
                <a:effectLst/>
                <a:uFillTx/>
                <a:latin typeface="Arial"/>
                <a:ea typeface="Arial"/>
              </a:rPr>
              <a:t>• ask structured follow-ups</a:t>
            </a:r>
            <a:endParaRPr lang="en-US" sz="1620" b="0" u="none" strike="noStrike">
              <a:solidFill>
                <a:srgbClr val="000000"/>
              </a:solidFill>
              <a:effectLst/>
              <a:uFillTx/>
              <a:latin typeface="Arial"/>
            </a:endParaRPr>
          </a:p>
        </p:txBody>
      </p:sp>
      <p:sp>
        <p:nvSpPr>
          <p:cNvPr id="281" name="Text 8"/>
          <p:cNvSpPr/>
          <p:nvPr/>
        </p:nvSpPr>
        <p:spPr>
          <a:xfrm>
            <a:off x="1005840" y="3584520"/>
            <a:ext cx="411444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t">
            <a:normAutofit/>
          </a:bodyPr>
          <a:lstStyle/>
          <a:p>
            <a:pPr defTabSz="914400">
              <a:lnSpc>
                <a:spcPct val="100000"/>
              </a:lnSpc>
              <a:tabLst>
                <a:tab pos="0" algn="l"/>
              </a:tabLst>
            </a:pPr>
            <a:r>
              <a:rPr lang="en-US" sz="1620" b="0" u="none" strike="noStrike">
                <a:solidFill>
                  <a:srgbClr val="162021"/>
                </a:solidFill>
                <a:effectLst/>
                <a:uFillTx/>
                <a:latin typeface="Arial"/>
                <a:ea typeface="Arial"/>
              </a:rPr>
              <a:t>• retrieve allowed context</a:t>
            </a:r>
            <a:endParaRPr lang="en-US" sz="1620" b="0" u="none" strike="noStrike">
              <a:solidFill>
                <a:srgbClr val="000000"/>
              </a:solidFill>
              <a:effectLst/>
              <a:uFillTx/>
              <a:latin typeface="Arial"/>
            </a:endParaRPr>
          </a:p>
        </p:txBody>
      </p:sp>
      <p:sp>
        <p:nvSpPr>
          <p:cNvPr id="282" name="Text 9"/>
          <p:cNvSpPr/>
          <p:nvPr/>
        </p:nvSpPr>
        <p:spPr>
          <a:xfrm>
            <a:off x="1005840" y="4060080"/>
            <a:ext cx="411444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t">
            <a:normAutofit/>
          </a:bodyPr>
          <a:lstStyle/>
          <a:p>
            <a:pPr defTabSz="914400">
              <a:lnSpc>
                <a:spcPct val="100000"/>
              </a:lnSpc>
              <a:tabLst>
                <a:tab pos="0" algn="l"/>
              </a:tabLst>
            </a:pPr>
            <a:r>
              <a:rPr lang="en-US" sz="1620" b="0" u="none" strike="noStrike">
                <a:solidFill>
                  <a:srgbClr val="162021"/>
                </a:solidFill>
                <a:effectLst/>
                <a:uFillTx/>
                <a:latin typeface="Arial"/>
                <a:ea typeface="Arial"/>
              </a:rPr>
              <a:t>• draft summary</a:t>
            </a:r>
            <a:endParaRPr lang="en-US" sz="1620" b="0" u="none" strike="noStrike">
              <a:solidFill>
                <a:srgbClr val="000000"/>
              </a:solidFill>
              <a:effectLst/>
              <a:uFillTx/>
              <a:latin typeface="Arial"/>
            </a:endParaRPr>
          </a:p>
        </p:txBody>
      </p:sp>
      <p:sp>
        <p:nvSpPr>
          <p:cNvPr id="283" name="Text 10"/>
          <p:cNvSpPr/>
          <p:nvPr/>
        </p:nvSpPr>
        <p:spPr>
          <a:xfrm>
            <a:off x="1005840" y="4535280"/>
            <a:ext cx="411444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t">
            <a:normAutofit/>
          </a:bodyPr>
          <a:lstStyle/>
          <a:p>
            <a:pPr defTabSz="914400">
              <a:lnSpc>
                <a:spcPct val="100000"/>
              </a:lnSpc>
              <a:tabLst>
                <a:tab pos="0" algn="l"/>
              </a:tabLst>
            </a:pPr>
            <a:r>
              <a:rPr lang="en-US" sz="1620" b="0" u="none" strike="noStrike">
                <a:solidFill>
                  <a:srgbClr val="162021"/>
                </a:solidFill>
                <a:effectLst/>
                <a:uFillTx/>
                <a:latin typeface="Arial"/>
                <a:ea typeface="Arial"/>
              </a:rPr>
              <a:t>• suggest routing with evidence</a:t>
            </a:r>
            <a:endParaRPr lang="en-US" sz="1620" b="0" u="none" strike="noStrike">
              <a:solidFill>
                <a:srgbClr val="000000"/>
              </a:solidFill>
              <a:effectLst/>
              <a:uFillTx/>
              <a:latin typeface="Arial"/>
            </a:endParaRPr>
          </a:p>
        </p:txBody>
      </p:sp>
      <p:sp>
        <p:nvSpPr>
          <p:cNvPr id="284" name="Text 11"/>
          <p:cNvSpPr/>
          <p:nvPr/>
        </p:nvSpPr>
        <p:spPr>
          <a:xfrm>
            <a:off x="6629400" y="2633400"/>
            <a:ext cx="411444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t">
            <a:normAutofit/>
          </a:bodyPr>
          <a:lstStyle/>
          <a:p>
            <a:pPr defTabSz="914400">
              <a:lnSpc>
                <a:spcPct val="100000"/>
              </a:lnSpc>
              <a:tabLst>
                <a:tab pos="0" algn="l"/>
              </a:tabLst>
            </a:pPr>
            <a:r>
              <a:rPr lang="en-US" sz="1620" b="0" u="none" strike="noStrike">
                <a:solidFill>
                  <a:srgbClr val="162021"/>
                </a:solidFill>
                <a:effectLst/>
                <a:uFillTx/>
                <a:latin typeface="Arial"/>
                <a:ea typeface="Arial"/>
              </a:rPr>
              <a:t>• diagnosis</a:t>
            </a:r>
            <a:endParaRPr lang="en-US" sz="1620" b="0" u="none" strike="noStrike">
              <a:solidFill>
                <a:srgbClr val="000000"/>
              </a:solidFill>
              <a:effectLst/>
              <a:uFillTx/>
              <a:latin typeface="Arial"/>
            </a:endParaRPr>
          </a:p>
        </p:txBody>
      </p:sp>
      <p:sp>
        <p:nvSpPr>
          <p:cNvPr id="285" name="Text 12"/>
          <p:cNvSpPr/>
          <p:nvPr/>
        </p:nvSpPr>
        <p:spPr>
          <a:xfrm>
            <a:off x="6629400" y="3108960"/>
            <a:ext cx="411444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t">
            <a:normAutofit/>
          </a:bodyPr>
          <a:lstStyle/>
          <a:p>
            <a:pPr defTabSz="914400">
              <a:lnSpc>
                <a:spcPct val="100000"/>
              </a:lnSpc>
              <a:tabLst>
                <a:tab pos="0" algn="l"/>
              </a:tabLst>
            </a:pPr>
            <a:r>
              <a:rPr lang="en-US" sz="1620" b="0" u="none" strike="noStrike">
                <a:solidFill>
                  <a:srgbClr val="162021"/>
                </a:solidFill>
                <a:effectLst/>
                <a:uFillTx/>
                <a:latin typeface="Arial"/>
                <a:ea typeface="Arial"/>
              </a:rPr>
              <a:t>• treatment decision</a:t>
            </a:r>
            <a:endParaRPr lang="en-US" sz="1620" b="0" u="none" strike="noStrike">
              <a:solidFill>
                <a:srgbClr val="000000"/>
              </a:solidFill>
              <a:effectLst/>
              <a:uFillTx/>
              <a:latin typeface="Arial"/>
            </a:endParaRPr>
          </a:p>
        </p:txBody>
      </p:sp>
      <p:sp>
        <p:nvSpPr>
          <p:cNvPr id="286" name="Text 13"/>
          <p:cNvSpPr/>
          <p:nvPr/>
        </p:nvSpPr>
        <p:spPr>
          <a:xfrm>
            <a:off x="6629400" y="3584520"/>
            <a:ext cx="411444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t">
            <a:normAutofit/>
          </a:bodyPr>
          <a:lstStyle/>
          <a:p>
            <a:pPr defTabSz="914400">
              <a:lnSpc>
                <a:spcPct val="100000"/>
              </a:lnSpc>
              <a:tabLst>
                <a:tab pos="0" algn="l"/>
              </a:tabLst>
            </a:pPr>
            <a:r>
              <a:rPr lang="en-US" sz="1620" b="0" u="none" strike="noStrike">
                <a:solidFill>
                  <a:srgbClr val="162021"/>
                </a:solidFill>
                <a:effectLst/>
                <a:uFillTx/>
                <a:latin typeface="Arial"/>
                <a:ea typeface="Arial"/>
              </a:rPr>
              <a:t>• medication change</a:t>
            </a:r>
            <a:endParaRPr lang="en-US" sz="1620" b="0" u="none" strike="noStrike">
              <a:solidFill>
                <a:srgbClr val="000000"/>
              </a:solidFill>
              <a:effectLst/>
              <a:uFillTx/>
              <a:latin typeface="Arial"/>
            </a:endParaRPr>
          </a:p>
        </p:txBody>
      </p:sp>
      <p:sp>
        <p:nvSpPr>
          <p:cNvPr id="287" name="Text 14"/>
          <p:cNvSpPr/>
          <p:nvPr/>
        </p:nvSpPr>
        <p:spPr>
          <a:xfrm>
            <a:off x="6629400" y="4060080"/>
            <a:ext cx="411444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t">
            <a:normAutofit/>
          </a:bodyPr>
          <a:lstStyle/>
          <a:p>
            <a:pPr defTabSz="914400">
              <a:lnSpc>
                <a:spcPct val="100000"/>
              </a:lnSpc>
              <a:tabLst>
                <a:tab pos="0" algn="l"/>
              </a:tabLst>
            </a:pPr>
            <a:r>
              <a:rPr lang="en-US" sz="1620" b="0" u="none" strike="noStrike">
                <a:solidFill>
                  <a:srgbClr val="162021"/>
                </a:solidFill>
                <a:effectLst/>
                <a:uFillTx/>
                <a:latin typeface="Arial"/>
                <a:ea typeface="Arial"/>
              </a:rPr>
              <a:t>• urgent escalation decision</a:t>
            </a:r>
            <a:endParaRPr lang="en-US" sz="1620" b="0" u="none" strike="noStrike">
              <a:solidFill>
                <a:srgbClr val="000000"/>
              </a:solidFill>
              <a:effectLst/>
              <a:uFillTx/>
              <a:latin typeface="Arial"/>
            </a:endParaRPr>
          </a:p>
        </p:txBody>
      </p:sp>
      <p:sp>
        <p:nvSpPr>
          <p:cNvPr id="288" name="Text 15"/>
          <p:cNvSpPr/>
          <p:nvPr/>
        </p:nvSpPr>
        <p:spPr>
          <a:xfrm>
            <a:off x="6629400" y="4535280"/>
            <a:ext cx="411444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t">
            <a:normAutofit/>
          </a:bodyPr>
          <a:lstStyle/>
          <a:p>
            <a:pPr defTabSz="914400">
              <a:lnSpc>
                <a:spcPct val="100000"/>
              </a:lnSpc>
              <a:tabLst>
                <a:tab pos="0" algn="l"/>
              </a:tabLst>
            </a:pPr>
            <a:r>
              <a:rPr lang="en-US" sz="1620" b="0" u="none" strike="noStrike">
                <a:solidFill>
                  <a:srgbClr val="162021"/>
                </a:solidFill>
                <a:effectLst/>
                <a:uFillTx/>
                <a:latin typeface="Arial"/>
                <a:ea typeface="Arial"/>
              </a:rPr>
              <a:t>• message sent to clinician or patient</a:t>
            </a:r>
            <a:endParaRPr lang="en-US" sz="1620" b="0" u="none" strike="noStrike">
              <a:solidFill>
                <a:srgbClr val="000000"/>
              </a:solidFill>
              <a:effectLst/>
              <a:uFillTx/>
              <a:latin typeface="Arial"/>
            </a:endParaRPr>
          </a:p>
        </p:txBody>
      </p:sp>
      <p:sp>
        <p:nvSpPr>
          <p:cNvPr id="289" name="Shape 16"/>
          <p:cNvSpPr/>
          <p:nvPr/>
        </p:nvSpPr>
        <p:spPr>
          <a:xfrm>
            <a:off x="914400" y="5349240"/>
            <a:ext cx="9143640" cy="621360"/>
          </a:xfrm>
          <a:prstGeom prst="rect">
            <a:avLst/>
          </a:prstGeom>
          <a:solidFill>
            <a:srgbClr val="F2F7F6"/>
          </a:solidFill>
          <a:ln w="12700">
            <a:solidFill>
              <a:srgbClr val="A8D7D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90" name="Text 17"/>
          <p:cNvSpPr/>
          <p:nvPr/>
        </p:nvSpPr>
        <p:spPr>
          <a:xfrm>
            <a:off x="1042560" y="5459040"/>
            <a:ext cx="8887680" cy="4021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2500"/>
          </a:bodyPr>
          <a:lstStyle/>
          <a:p>
            <a:pPr defTabSz="914400">
              <a:lnSpc>
                <a:spcPct val="100000"/>
              </a:lnSpc>
              <a:tabLst>
                <a:tab pos="0" algn="l"/>
              </a:tabLst>
            </a:pPr>
            <a:r>
              <a:rPr lang="en-US" sz="1540" b="0" u="none" strike="noStrike">
                <a:solidFill>
                  <a:srgbClr val="162021"/>
                </a:solidFill>
                <a:effectLst/>
                <a:uFillTx/>
                <a:latin typeface="Comic Sans MS"/>
                <a:ea typeface="Comic Sans MS"/>
              </a:rPr>
              <a:t>In healthcare, the agent supports navigation. It does not become an autonomous clinical decision-maker.</a:t>
            </a:r>
            <a:endParaRPr lang="en-US" sz="1540" b="0" u="none" strike="noStrike">
              <a:solidFill>
                <a:srgbClr val="000000"/>
              </a:solidFill>
              <a:effectLst/>
              <a:uFillTx/>
              <a:latin typeface="Arial"/>
            </a:endParaRPr>
          </a:p>
        </p:txBody>
      </p:sp>
      <p:sp>
        <p:nvSpPr>
          <p:cNvPr id="291" name="Text 18"/>
          <p:cNvSpPr/>
          <p:nvPr/>
        </p:nvSpPr>
        <p:spPr>
          <a:xfrm>
            <a:off x="11567160" y="6455520"/>
            <a:ext cx="2282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9AA4A8"/>
                </a:solidFill>
                <a:effectLst/>
                <a:uFillTx/>
                <a:latin typeface="Arial"/>
                <a:ea typeface="Arial"/>
              </a:rPr>
              <a:t>12</a:t>
            </a:r>
            <a:endParaRPr lang="en-US" sz="750" b="0" u="none" strike="noStrike">
              <a:solidFill>
                <a:srgbClr val="000000"/>
              </a:solidFill>
              <a:effectLst/>
              <a:uFillTx/>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92" name="Image 0" descr="/mnt/data/applied_template_content.jpg"/>
          <p:cNvPicPr/>
          <p:nvPr/>
        </p:nvPicPr>
        <p:blipFill>
          <a:blip r:embed="rId3"/>
          <a:stretch/>
        </p:blipFill>
        <p:spPr>
          <a:xfrm>
            <a:off x="0" y="0"/>
            <a:ext cx="12191400" cy="6857640"/>
          </a:xfrm>
          <a:prstGeom prst="rect">
            <a:avLst/>
          </a:prstGeom>
          <a:noFill/>
          <a:ln w="0">
            <a:noFill/>
          </a:ln>
        </p:spPr>
      </p:pic>
      <p:pic>
        <p:nvPicPr>
          <p:cNvPr id="293" name="Image 1" descr="/mnt/data/template_extract/ppt/media/image2.png"/>
          <p:cNvPicPr/>
          <p:nvPr/>
        </p:nvPicPr>
        <p:blipFill>
          <a:blip r:embed="rId4"/>
          <a:stretch/>
        </p:blipFill>
        <p:spPr>
          <a:xfrm>
            <a:off x="9738360" y="6291000"/>
            <a:ext cx="2057040" cy="475200"/>
          </a:xfrm>
          <a:prstGeom prst="rect">
            <a:avLst/>
          </a:prstGeom>
          <a:noFill/>
          <a:ln w="0">
            <a:noFill/>
          </a:ln>
        </p:spPr>
      </p:pic>
      <p:sp>
        <p:nvSpPr>
          <p:cNvPr id="294" name="Text 0"/>
          <p:cNvSpPr/>
          <p:nvPr/>
        </p:nvSpPr>
        <p:spPr>
          <a:xfrm>
            <a:off x="502920" y="347400"/>
            <a:ext cx="969228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u="none" strike="noStrike">
                <a:solidFill>
                  <a:srgbClr val="FFFFFF"/>
                </a:solidFill>
                <a:effectLst/>
                <a:uFillTx/>
                <a:latin typeface="Arial"/>
                <a:ea typeface="Arial"/>
              </a:rPr>
              <a:t>From prototype to operational trust</a:t>
            </a:r>
            <a:endParaRPr lang="en-US" sz="2600" b="0" u="none" strike="noStrike">
              <a:solidFill>
                <a:srgbClr val="000000"/>
              </a:solidFill>
              <a:effectLst/>
              <a:uFillTx/>
              <a:latin typeface="Arial"/>
            </a:endParaRPr>
          </a:p>
        </p:txBody>
      </p:sp>
      <p:sp>
        <p:nvSpPr>
          <p:cNvPr id="295" name="Text 1"/>
          <p:cNvSpPr/>
          <p:nvPr/>
        </p:nvSpPr>
        <p:spPr>
          <a:xfrm>
            <a:off x="530280" y="822960"/>
            <a:ext cx="932652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CFEAF5"/>
                </a:solidFill>
                <a:effectLst/>
                <a:uFillTx/>
                <a:latin typeface="Arial"/>
                <a:ea typeface="Arial"/>
              </a:rPr>
              <a:t>Day 3 and Day 4 are where agentic AI earns the right to scale</a:t>
            </a:r>
            <a:endParaRPr lang="en-US" sz="1150" b="0" u="none" strike="noStrike">
              <a:solidFill>
                <a:srgbClr val="000000"/>
              </a:solidFill>
              <a:effectLst/>
              <a:uFillTx/>
              <a:latin typeface="Arial"/>
            </a:endParaRPr>
          </a:p>
        </p:txBody>
      </p:sp>
      <p:sp>
        <p:nvSpPr>
          <p:cNvPr id="296" name="Shape 2"/>
          <p:cNvSpPr/>
          <p:nvPr/>
        </p:nvSpPr>
        <p:spPr>
          <a:xfrm>
            <a:off x="786240" y="1920240"/>
            <a:ext cx="2239920" cy="420120"/>
          </a:xfrm>
          <a:prstGeom prst="roundRect">
            <a:avLst>
              <a:gd name="adj" fmla="val 17391"/>
            </a:avLst>
          </a:prstGeom>
          <a:solidFill>
            <a:srgbClr val="FFFFFF"/>
          </a:solidFill>
          <a:ln w="19050">
            <a:solidFill>
              <a:srgbClr val="169B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97" name="Text 3"/>
          <p:cNvSpPr/>
          <p:nvPr/>
        </p:nvSpPr>
        <p:spPr>
          <a:xfrm>
            <a:off x="896040" y="2030040"/>
            <a:ext cx="202032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50" b="1" u="none" strike="noStrike">
                <a:solidFill>
                  <a:srgbClr val="169BD5"/>
                </a:solidFill>
                <a:effectLst/>
                <a:uFillTx/>
                <a:latin typeface="Arial"/>
                <a:ea typeface="Arial"/>
              </a:rPr>
              <a:t>Demo works</a:t>
            </a:r>
            <a:endParaRPr lang="en-US" sz="1250" b="0" u="none" strike="noStrike">
              <a:solidFill>
                <a:srgbClr val="000000"/>
              </a:solidFill>
              <a:effectLst/>
              <a:uFillTx/>
              <a:latin typeface="Arial"/>
            </a:endParaRPr>
          </a:p>
        </p:txBody>
      </p:sp>
      <p:sp>
        <p:nvSpPr>
          <p:cNvPr id="298" name="Text 4"/>
          <p:cNvSpPr/>
          <p:nvPr/>
        </p:nvSpPr>
        <p:spPr>
          <a:xfrm>
            <a:off x="3246120" y="1938600"/>
            <a:ext cx="4388760" cy="3654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t">
            <a:normAutofit fontScale="92500" lnSpcReduction="10000"/>
          </a:bodyPr>
          <a:lstStyle/>
          <a:p>
            <a:pPr defTabSz="914400">
              <a:lnSpc>
                <a:spcPct val="100000"/>
              </a:lnSpc>
              <a:tabLst>
                <a:tab pos="0" algn="l"/>
              </a:tabLst>
            </a:pPr>
            <a:r>
              <a:rPr lang="en-US" sz="1450" b="0" u="none" strike="noStrike">
                <a:solidFill>
                  <a:srgbClr val="162021"/>
                </a:solidFill>
                <a:effectLst/>
                <a:uFillTx/>
                <a:latin typeface="Arial"/>
                <a:ea typeface="Arial"/>
              </a:rPr>
              <a:t>agents answer</a:t>
            </a:r>
            <a:endParaRPr lang="en-US" sz="1450" b="0" u="none" strike="noStrike">
              <a:solidFill>
                <a:srgbClr val="000000"/>
              </a:solidFill>
              <a:effectLst/>
              <a:uFillTx/>
              <a:latin typeface="Arial"/>
            </a:endParaRPr>
          </a:p>
          <a:p>
            <a:pPr defTabSz="914400">
              <a:lnSpc>
                <a:spcPct val="100000"/>
              </a:lnSpc>
              <a:tabLst>
                <a:tab pos="0" algn="l"/>
              </a:tabLst>
            </a:pPr>
            <a:r>
              <a:rPr lang="en-US" sz="1450" b="0" u="none" strike="noStrike">
                <a:solidFill>
                  <a:srgbClr val="162021"/>
                </a:solidFill>
                <a:effectLst/>
                <a:uFillTx/>
                <a:latin typeface="Arial"/>
                <a:ea typeface="Arial"/>
              </a:rPr>
              <a:t>tools connect</a:t>
            </a:r>
            <a:endParaRPr lang="en-US" sz="1450" b="0" u="none" strike="noStrike">
              <a:solidFill>
                <a:srgbClr val="000000"/>
              </a:solidFill>
              <a:effectLst/>
              <a:uFillTx/>
              <a:latin typeface="Arial"/>
            </a:endParaRPr>
          </a:p>
        </p:txBody>
      </p:sp>
      <p:sp>
        <p:nvSpPr>
          <p:cNvPr id="299" name="Shape 5"/>
          <p:cNvSpPr/>
          <p:nvPr/>
        </p:nvSpPr>
        <p:spPr>
          <a:xfrm>
            <a:off x="1828800" y="2377440"/>
            <a:ext cx="360" cy="200880"/>
          </a:xfrm>
          <a:prstGeom prst="line">
            <a:avLst/>
          </a:prstGeom>
          <a:ln w="12700">
            <a:solidFill>
              <a:srgbClr val="162021"/>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300" name="Shape 6"/>
          <p:cNvSpPr/>
          <p:nvPr/>
        </p:nvSpPr>
        <p:spPr>
          <a:xfrm>
            <a:off x="786240" y="2633400"/>
            <a:ext cx="2239920" cy="420120"/>
          </a:xfrm>
          <a:prstGeom prst="roundRect">
            <a:avLst>
              <a:gd name="adj" fmla="val 17391"/>
            </a:avLst>
          </a:prstGeom>
          <a:solidFill>
            <a:srgbClr val="FFFFFF"/>
          </a:solidFill>
          <a:ln w="19050">
            <a:solidFill>
              <a:srgbClr val="0C796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01" name="Text 7"/>
          <p:cNvSpPr/>
          <p:nvPr/>
        </p:nvSpPr>
        <p:spPr>
          <a:xfrm>
            <a:off x="896040" y="2743200"/>
            <a:ext cx="202032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50" b="1" u="none" strike="noStrike">
                <a:solidFill>
                  <a:srgbClr val="0C796D"/>
                </a:solidFill>
                <a:effectLst/>
                <a:uFillTx/>
                <a:latin typeface="Arial"/>
                <a:ea typeface="Arial"/>
              </a:rPr>
              <a:t>Workflow is testable</a:t>
            </a:r>
            <a:endParaRPr lang="en-US" sz="1250" b="0" u="none" strike="noStrike">
              <a:solidFill>
                <a:srgbClr val="000000"/>
              </a:solidFill>
              <a:effectLst/>
              <a:uFillTx/>
              <a:latin typeface="Arial"/>
            </a:endParaRPr>
          </a:p>
        </p:txBody>
      </p:sp>
      <p:sp>
        <p:nvSpPr>
          <p:cNvPr id="302" name="Text 8"/>
          <p:cNvSpPr/>
          <p:nvPr/>
        </p:nvSpPr>
        <p:spPr>
          <a:xfrm>
            <a:off x="3246120" y="2651760"/>
            <a:ext cx="4388760" cy="3654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t">
            <a:normAutofit fontScale="92500" lnSpcReduction="10000"/>
          </a:bodyPr>
          <a:lstStyle/>
          <a:p>
            <a:pPr defTabSz="914400">
              <a:lnSpc>
                <a:spcPct val="100000"/>
              </a:lnSpc>
              <a:tabLst>
                <a:tab pos="0" algn="l"/>
              </a:tabLst>
            </a:pPr>
            <a:r>
              <a:rPr lang="en-US" sz="1450" b="0" u="none" strike="noStrike">
                <a:solidFill>
                  <a:srgbClr val="162021"/>
                </a:solidFill>
                <a:effectLst/>
                <a:uFillTx/>
                <a:latin typeface="Arial"/>
                <a:ea typeface="Arial"/>
              </a:rPr>
              <a:t>expected paths</a:t>
            </a:r>
            <a:endParaRPr lang="en-US" sz="1450" b="0" u="none" strike="noStrike">
              <a:solidFill>
                <a:srgbClr val="000000"/>
              </a:solidFill>
              <a:effectLst/>
              <a:uFillTx/>
              <a:latin typeface="Arial"/>
            </a:endParaRPr>
          </a:p>
          <a:p>
            <a:pPr defTabSz="914400">
              <a:lnSpc>
                <a:spcPct val="100000"/>
              </a:lnSpc>
              <a:tabLst>
                <a:tab pos="0" algn="l"/>
              </a:tabLst>
            </a:pPr>
            <a:r>
              <a:rPr lang="en-US" sz="1450" b="0" u="none" strike="noStrike">
                <a:solidFill>
                  <a:srgbClr val="162021"/>
                </a:solidFill>
                <a:effectLst/>
                <a:uFillTx/>
                <a:latin typeface="Arial"/>
                <a:ea typeface="Arial"/>
              </a:rPr>
              <a:t>controls defined</a:t>
            </a:r>
            <a:endParaRPr lang="en-US" sz="1450" b="0" u="none" strike="noStrike">
              <a:solidFill>
                <a:srgbClr val="000000"/>
              </a:solidFill>
              <a:effectLst/>
              <a:uFillTx/>
              <a:latin typeface="Arial"/>
            </a:endParaRPr>
          </a:p>
        </p:txBody>
      </p:sp>
      <p:sp>
        <p:nvSpPr>
          <p:cNvPr id="303" name="Shape 9"/>
          <p:cNvSpPr/>
          <p:nvPr/>
        </p:nvSpPr>
        <p:spPr>
          <a:xfrm>
            <a:off x="1828800" y="3090600"/>
            <a:ext cx="360" cy="201240"/>
          </a:xfrm>
          <a:prstGeom prst="line">
            <a:avLst/>
          </a:prstGeom>
          <a:ln w="12700">
            <a:solidFill>
              <a:srgbClr val="162021"/>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304" name="Shape 10"/>
          <p:cNvSpPr/>
          <p:nvPr/>
        </p:nvSpPr>
        <p:spPr>
          <a:xfrm>
            <a:off x="786240" y="3346560"/>
            <a:ext cx="2239920" cy="420120"/>
          </a:xfrm>
          <a:prstGeom prst="roundRect">
            <a:avLst>
              <a:gd name="adj" fmla="val 17391"/>
            </a:avLst>
          </a:prstGeom>
          <a:solidFill>
            <a:srgbClr val="FFFFFF"/>
          </a:solidFill>
          <a:ln w="19050">
            <a:solidFill>
              <a:srgbClr val="0C796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05" name="Text 11"/>
          <p:cNvSpPr/>
          <p:nvPr/>
        </p:nvSpPr>
        <p:spPr>
          <a:xfrm>
            <a:off x="896040" y="3456360"/>
            <a:ext cx="202032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50" b="1" u="none" strike="noStrike">
                <a:solidFill>
                  <a:srgbClr val="0C796D"/>
                </a:solidFill>
                <a:effectLst/>
                <a:uFillTx/>
                <a:latin typeface="Arial"/>
                <a:ea typeface="Arial"/>
              </a:rPr>
              <a:t>Workflow is governable</a:t>
            </a:r>
            <a:endParaRPr lang="en-US" sz="1250" b="0" u="none" strike="noStrike">
              <a:solidFill>
                <a:srgbClr val="000000"/>
              </a:solidFill>
              <a:effectLst/>
              <a:uFillTx/>
              <a:latin typeface="Arial"/>
            </a:endParaRPr>
          </a:p>
        </p:txBody>
      </p:sp>
      <p:sp>
        <p:nvSpPr>
          <p:cNvPr id="306" name="Text 12"/>
          <p:cNvSpPr/>
          <p:nvPr/>
        </p:nvSpPr>
        <p:spPr>
          <a:xfrm>
            <a:off x="3246120" y="3364920"/>
            <a:ext cx="4388760" cy="3654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t">
            <a:normAutofit fontScale="92500" lnSpcReduction="10000"/>
          </a:bodyPr>
          <a:lstStyle/>
          <a:p>
            <a:pPr defTabSz="914400">
              <a:lnSpc>
                <a:spcPct val="100000"/>
              </a:lnSpc>
              <a:tabLst>
                <a:tab pos="0" algn="l"/>
              </a:tabLst>
            </a:pPr>
            <a:r>
              <a:rPr lang="en-US" sz="1450" b="0" u="none" strike="noStrike">
                <a:solidFill>
                  <a:srgbClr val="162021"/>
                </a:solidFill>
                <a:effectLst/>
                <a:uFillTx/>
                <a:latin typeface="Arial"/>
                <a:ea typeface="Arial"/>
              </a:rPr>
              <a:t>policy, access,</a:t>
            </a:r>
            <a:endParaRPr lang="en-US" sz="1450" b="0" u="none" strike="noStrike">
              <a:solidFill>
                <a:srgbClr val="000000"/>
              </a:solidFill>
              <a:effectLst/>
              <a:uFillTx/>
              <a:latin typeface="Arial"/>
            </a:endParaRPr>
          </a:p>
          <a:p>
            <a:pPr defTabSz="914400">
              <a:lnSpc>
                <a:spcPct val="100000"/>
              </a:lnSpc>
              <a:tabLst>
                <a:tab pos="0" algn="l"/>
              </a:tabLst>
            </a:pPr>
            <a:r>
              <a:rPr lang="en-US" sz="1450" b="0" u="none" strike="noStrike">
                <a:solidFill>
                  <a:srgbClr val="162021"/>
                </a:solidFill>
                <a:effectLst/>
                <a:uFillTx/>
                <a:latin typeface="Arial"/>
                <a:ea typeface="Arial"/>
              </a:rPr>
              <a:t>approval, trace</a:t>
            </a:r>
            <a:endParaRPr lang="en-US" sz="1450" b="0" u="none" strike="noStrike">
              <a:solidFill>
                <a:srgbClr val="000000"/>
              </a:solidFill>
              <a:effectLst/>
              <a:uFillTx/>
              <a:latin typeface="Arial"/>
            </a:endParaRPr>
          </a:p>
        </p:txBody>
      </p:sp>
      <p:sp>
        <p:nvSpPr>
          <p:cNvPr id="307" name="Shape 13"/>
          <p:cNvSpPr/>
          <p:nvPr/>
        </p:nvSpPr>
        <p:spPr>
          <a:xfrm>
            <a:off x="1828800" y="3803760"/>
            <a:ext cx="360" cy="201240"/>
          </a:xfrm>
          <a:prstGeom prst="line">
            <a:avLst/>
          </a:prstGeom>
          <a:ln w="12700">
            <a:solidFill>
              <a:srgbClr val="162021"/>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308" name="Shape 14"/>
          <p:cNvSpPr/>
          <p:nvPr/>
        </p:nvSpPr>
        <p:spPr>
          <a:xfrm>
            <a:off x="786240" y="4060080"/>
            <a:ext cx="2239920" cy="420120"/>
          </a:xfrm>
          <a:prstGeom prst="roundRect">
            <a:avLst>
              <a:gd name="adj" fmla="val 17391"/>
            </a:avLst>
          </a:prstGeom>
          <a:solidFill>
            <a:srgbClr val="FFFFFF"/>
          </a:solidFill>
          <a:ln w="19050">
            <a:solidFill>
              <a:srgbClr val="0C796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09" name="Text 15"/>
          <p:cNvSpPr/>
          <p:nvPr/>
        </p:nvSpPr>
        <p:spPr>
          <a:xfrm>
            <a:off x="896040" y="4169520"/>
            <a:ext cx="202032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50" b="1" u="none" strike="noStrike">
                <a:solidFill>
                  <a:srgbClr val="0C796D"/>
                </a:solidFill>
                <a:effectLst/>
                <a:uFillTx/>
                <a:latin typeface="Arial"/>
                <a:ea typeface="Arial"/>
              </a:rPr>
              <a:t>Workflow improves</a:t>
            </a:r>
            <a:endParaRPr lang="en-US" sz="1250" b="0" u="none" strike="noStrike">
              <a:solidFill>
                <a:srgbClr val="000000"/>
              </a:solidFill>
              <a:effectLst/>
              <a:uFillTx/>
              <a:latin typeface="Arial"/>
            </a:endParaRPr>
          </a:p>
        </p:txBody>
      </p:sp>
      <p:sp>
        <p:nvSpPr>
          <p:cNvPr id="310" name="Text 16"/>
          <p:cNvSpPr/>
          <p:nvPr/>
        </p:nvSpPr>
        <p:spPr>
          <a:xfrm>
            <a:off x="3246120" y="4078080"/>
            <a:ext cx="4388760" cy="3654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t">
            <a:normAutofit fontScale="92500" lnSpcReduction="10000"/>
          </a:bodyPr>
          <a:lstStyle/>
          <a:p>
            <a:pPr defTabSz="914400">
              <a:lnSpc>
                <a:spcPct val="100000"/>
              </a:lnSpc>
              <a:tabLst>
                <a:tab pos="0" algn="l"/>
              </a:tabLst>
            </a:pPr>
            <a:r>
              <a:rPr lang="en-US" sz="1450" b="0" u="none" strike="noStrike">
                <a:solidFill>
                  <a:srgbClr val="162021"/>
                </a:solidFill>
                <a:effectLst/>
                <a:uFillTx/>
                <a:latin typeface="Arial"/>
                <a:ea typeface="Arial"/>
              </a:rPr>
              <a:t>monitoring and</a:t>
            </a:r>
            <a:endParaRPr lang="en-US" sz="1450" b="0" u="none" strike="noStrike">
              <a:solidFill>
                <a:srgbClr val="000000"/>
              </a:solidFill>
              <a:effectLst/>
              <a:uFillTx/>
              <a:latin typeface="Arial"/>
            </a:endParaRPr>
          </a:p>
          <a:p>
            <a:pPr defTabSz="914400">
              <a:lnSpc>
                <a:spcPct val="100000"/>
              </a:lnSpc>
              <a:tabLst>
                <a:tab pos="0" algn="l"/>
              </a:tabLst>
            </a:pPr>
            <a:r>
              <a:rPr lang="en-US" sz="1450" b="0" u="none" strike="noStrike">
                <a:solidFill>
                  <a:srgbClr val="162021"/>
                </a:solidFill>
                <a:effectLst/>
                <a:uFillTx/>
                <a:latin typeface="Arial"/>
                <a:ea typeface="Arial"/>
              </a:rPr>
              <a:t>regression loops</a:t>
            </a:r>
            <a:endParaRPr lang="en-US" sz="1450" b="0" u="none" strike="noStrike">
              <a:solidFill>
                <a:srgbClr val="000000"/>
              </a:solidFill>
              <a:effectLst/>
              <a:uFillTx/>
              <a:latin typeface="Arial"/>
            </a:endParaRPr>
          </a:p>
        </p:txBody>
      </p:sp>
      <p:sp>
        <p:nvSpPr>
          <p:cNvPr id="311" name="Shape 17"/>
          <p:cNvSpPr/>
          <p:nvPr/>
        </p:nvSpPr>
        <p:spPr>
          <a:xfrm>
            <a:off x="822960" y="5029200"/>
            <a:ext cx="8960760" cy="658080"/>
          </a:xfrm>
          <a:prstGeom prst="rect">
            <a:avLst/>
          </a:prstGeom>
          <a:solidFill>
            <a:srgbClr val="FFF4C7"/>
          </a:solidFill>
          <a:ln w="12700">
            <a:solidFill>
              <a:srgbClr val="D8C45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12" name="Text 18"/>
          <p:cNvSpPr/>
          <p:nvPr/>
        </p:nvSpPr>
        <p:spPr>
          <a:xfrm>
            <a:off x="951120" y="5139000"/>
            <a:ext cx="8704800" cy="4384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defTabSz="914400">
              <a:lnSpc>
                <a:spcPct val="100000"/>
              </a:lnSpc>
              <a:tabLst>
                <a:tab pos="0" algn="l"/>
              </a:tabLst>
            </a:pPr>
            <a:r>
              <a:rPr lang="en-US" sz="1550" b="1" u="none" strike="noStrike">
                <a:solidFill>
                  <a:srgbClr val="162021"/>
                </a:solidFill>
                <a:effectLst/>
                <a:uFillTx/>
                <a:latin typeface="Comic Sans MS"/>
                <a:ea typeface="Comic Sans MS"/>
              </a:rPr>
              <a:t>Production readiness means proving the workflow behaved safely, not proving the model produced a plausible answer.</a:t>
            </a:r>
            <a:endParaRPr lang="en-US" sz="1550" b="0" u="none" strike="noStrike">
              <a:solidFill>
                <a:srgbClr val="000000"/>
              </a:solidFill>
              <a:effectLst/>
              <a:uFillTx/>
              <a:latin typeface="Arial"/>
            </a:endParaRPr>
          </a:p>
        </p:txBody>
      </p:sp>
      <p:sp>
        <p:nvSpPr>
          <p:cNvPr id="313" name="Text 19"/>
          <p:cNvSpPr/>
          <p:nvPr/>
        </p:nvSpPr>
        <p:spPr>
          <a:xfrm>
            <a:off x="11567160" y="6455520"/>
            <a:ext cx="2282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9AA4A8"/>
                </a:solidFill>
                <a:effectLst/>
                <a:uFillTx/>
                <a:latin typeface="Arial"/>
                <a:ea typeface="Arial"/>
              </a:rPr>
              <a:t>13</a:t>
            </a:r>
            <a:endParaRPr lang="en-US" sz="750" b="0" u="none" strike="noStrike">
              <a:solidFill>
                <a:srgbClr val="000000"/>
              </a:solidFill>
              <a:effectLst/>
              <a:uFillTx/>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14" name="Image 0" descr="/mnt/data/applied_template_content.jpg"/>
          <p:cNvPicPr/>
          <p:nvPr/>
        </p:nvPicPr>
        <p:blipFill>
          <a:blip r:embed="rId3"/>
          <a:stretch/>
        </p:blipFill>
        <p:spPr>
          <a:xfrm>
            <a:off x="0" y="0"/>
            <a:ext cx="12191400" cy="6857640"/>
          </a:xfrm>
          <a:prstGeom prst="rect">
            <a:avLst/>
          </a:prstGeom>
          <a:noFill/>
          <a:ln w="0">
            <a:noFill/>
          </a:ln>
        </p:spPr>
      </p:pic>
      <p:pic>
        <p:nvPicPr>
          <p:cNvPr id="315" name="Image 1" descr="/mnt/data/template_extract/ppt/media/image2.png"/>
          <p:cNvPicPr/>
          <p:nvPr/>
        </p:nvPicPr>
        <p:blipFill>
          <a:blip r:embed="rId4"/>
          <a:stretch/>
        </p:blipFill>
        <p:spPr>
          <a:xfrm>
            <a:off x="9738360" y="6291000"/>
            <a:ext cx="2057040" cy="475200"/>
          </a:xfrm>
          <a:prstGeom prst="rect">
            <a:avLst/>
          </a:prstGeom>
          <a:noFill/>
          <a:ln w="0">
            <a:noFill/>
          </a:ln>
        </p:spPr>
      </p:pic>
      <p:sp>
        <p:nvSpPr>
          <p:cNvPr id="316" name="Text 0"/>
          <p:cNvSpPr/>
          <p:nvPr/>
        </p:nvSpPr>
        <p:spPr>
          <a:xfrm>
            <a:off x="502920" y="347400"/>
            <a:ext cx="969228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u="none" strike="noStrike">
                <a:solidFill>
                  <a:srgbClr val="FFFFFF"/>
                </a:solidFill>
                <a:effectLst/>
                <a:uFillTx/>
                <a:latin typeface="Arial"/>
                <a:ea typeface="Arial"/>
              </a:rPr>
              <a:t>What attendees should take away</a:t>
            </a:r>
            <a:endParaRPr lang="en-US" sz="2600" b="0" u="none" strike="noStrike">
              <a:solidFill>
                <a:srgbClr val="000000"/>
              </a:solidFill>
              <a:effectLst/>
              <a:uFillTx/>
              <a:latin typeface="Arial"/>
            </a:endParaRPr>
          </a:p>
        </p:txBody>
      </p:sp>
      <p:sp>
        <p:nvSpPr>
          <p:cNvPr id="317" name="Text 1"/>
          <p:cNvSpPr/>
          <p:nvPr/>
        </p:nvSpPr>
        <p:spPr>
          <a:xfrm>
            <a:off x="530280" y="822960"/>
            <a:ext cx="932652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CFEAF5"/>
                </a:solidFill>
                <a:effectLst/>
                <a:uFillTx/>
                <a:latin typeface="Arial"/>
                <a:ea typeface="Arial"/>
              </a:rPr>
              <a:t>A reusable pattern for healthcare agents and other high-impact workflows</a:t>
            </a:r>
            <a:endParaRPr lang="en-US" sz="1150" b="0" u="none" strike="noStrike">
              <a:solidFill>
                <a:srgbClr val="000000"/>
              </a:solidFill>
              <a:effectLst/>
              <a:uFillTx/>
              <a:latin typeface="Arial"/>
            </a:endParaRPr>
          </a:p>
        </p:txBody>
      </p:sp>
      <p:sp>
        <p:nvSpPr>
          <p:cNvPr id="318" name="Shape 2"/>
          <p:cNvSpPr/>
          <p:nvPr/>
        </p:nvSpPr>
        <p:spPr>
          <a:xfrm>
            <a:off x="786240" y="1572840"/>
            <a:ext cx="9966600" cy="1115280"/>
          </a:xfrm>
          <a:prstGeom prst="rect">
            <a:avLst/>
          </a:prstGeom>
          <a:solidFill>
            <a:srgbClr val="FFF8CC"/>
          </a:solidFill>
          <a:ln w="12700">
            <a:solidFill>
              <a:srgbClr val="D8C45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19" name="Text 3"/>
          <p:cNvSpPr/>
          <p:nvPr/>
        </p:nvSpPr>
        <p:spPr>
          <a:xfrm>
            <a:off x="914400" y="1682640"/>
            <a:ext cx="9710640" cy="895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779" b="1" u="none" strike="noStrike" dirty="0">
                <a:solidFill>
                  <a:srgbClr val="162021"/>
                </a:solidFill>
                <a:effectLst/>
                <a:uFillTx/>
                <a:latin typeface="Comic Sans MS"/>
                <a:ea typeface="Comic Sans MS"/>
              </a:rPr>
              <a:t>A healthcare agent becomes useful when it connects fragmented patient information into a longitudinal view, identifies what needs attention, and supports the right next action with clear human oversight</a:t>
            </a:r>
            <a:endParaRPr lang="en-US" sz="1779" b="0" u="none" strike="noStrike" dirty="0">
              <a:solidFill>
                <a:srgbClr val="000000"/>
              </a:solidFill>
              <a:effectLst/>
              <a:uFillTx/>
              <a:latin typeface="Arial"/>
            </a:endParaRPr>
          </a:p>
        </p:txBody>
      </p:sp>
      <p:sp>
        <p:nvSpPr>
          <p:cNvPr id="320" name="Shape 4"/>
          <p:cNvSpPr/>
          <p:nvPr/>
        </p:nvSpPr>
        <p:spPr>
          <a:xfrm>
            <a:off x="1097280" y="3246120"/>
            <a:ext cx="1828440" cy="502560"/>
          </a:xfrm>
          <a:prstGeom prst="roundRect">
            <a:avLst>
              <a:gd name="adj" fmla="val 14545"/>
            </a:avLst>
          </a:prstGeom>
          <a:solidFill>
            <a:srgbClr val="FFFFFF"/>
          </a:solidFill>
          <a:ln w="19050">
            <a:solidFill>
              <a:srgbClr val="169BD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21" name="Text 5"/>
          <p:cNvSpPr/>
          <p:nvPr/>
        </p:nvSpPr>
        <p:spPr>
          <a:xfrm>
            <a:off x="1207080" y="3355920"/>
            <a:ext cx="1608840" cy="282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50" b="1" u="none" strike="noStrike">
                <a:solidFill>
                  <a:srgbClr val="169BD5"/>
                </a:solidFill>
                <a:effectLst/>
                <a:uFillTx/>
                <a:latin typeface="Arial"/>
                <a:ea typeface="Arial"/>
              </a:rPr>
              <a:t>Design</a:t>
            </a:r>
            <a:endParaRPr lang="en-US" sz="1450" b="0" u="none" strike="noStrike">
              <a:solidFill>
                <a:srgbClr val="000000"/>
              </a:solidFill>
              <a:effectLst/>
              <a:uFillTx/>
              <a:latin typeface="Arial"/>
            </a:endParaRPr>
          </a:p>
        </p:txBody>
      </p:sp>
      <p:sp>
        <p:nvSpPr>
          <p:cNvPr id="322" name="Text 6"/>
          <p:cNvSpPr/>
          <p:nvPr/>
        </p:nvSpPr>
        <p:spPr>
          <a:xfrm>
            <a:off x="1097280" y="3913560"/>
            <a:ext cx="2468520" cy="5299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t">
            <a:normAutofit fontScale="92500"/>
          </a:bodyPr>
          <a:lstStyle/>
          <a:p>
            <a:pPr defTabSz="914400">
              <a:lnSpc>
                <a:spcPct val="100000"/>
              </a:lnSpc>
              <a:tabLst>
                <a:tab pos="0" algn="l"/>
              </a:tabLst>
            </a:pPr>
            <a:r>
              <a:rPr lang="en-US" sz="1480" b="0" u="none" strike="noStrike">
                <a:solidFill>
                  <a:srgbClr val="162021"/>
                </a:solidFill>
                <a:effectLst/>
                <a:uFillTx/>
                <a:latin typeface="Arial"/>
                <a:ea typeface="Arial"/>
              </a:rPr>
              <a:t>Start with the clinical workflow and expected outcome.</a:t>
            </a:r>
            <a:endParaRPr lang="en-US" sz="1480" b="0" u="none" strike="noStrike">
              <a:solidFill>
                <a:srgbClr val="000000"/>
              </a:solidFill>
              <a:effectLst/>
              <a:uFillTx/>
              <a:latin typeface="Arial"/>
            </a:endParaRPr>
          </a:p>
        </p:txBody>
      </p:sp>
      <p:sp>
        <p:nvSpPr>
          <p:cNvPr id="323" name="Shape 7"/>
          <p:cNvSpPr/>
          <p:nvPr/>
        </p:nvSpPr>
        <p:spPr>
          <a:xfrm>
            <a:off x="4754880" y="3246120"/>
            <a:ext cx="1828440" cy="502560"/>
          </a:xfrm>
          <a:prstGeom prst="roundRect">
            <a:avLst>
              <a:gd name="adj" fmla="val 14545"/>
            </a:avLst>
          </a:prstGeom>
          <a:solidFill>
            <a:srgbClr val="FFFFFF"/>
          </a:solidFill>
          <a:ln w="19050">
            <a:solidFill>
              <a:srgbClr val="0C796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24" name="Text 8"/>
          <p:cNvSpPr/>
          <p:nvPr/>
        </p:nvSpPr>
        <p:spPr>
          <a:xfrm>
            <a:off x="4864680" y="3355920"/>
            <a:ext cx="1608840" cy="282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50" b="1" u="none" strike="noStrike">
                <a:solidFill>
                  <a:srgbClr val="0C796D"/>
                </a:solidFill>
                <a:effectLst/>
                <a:uFillTx/>
                <a:latin typeface="Arial"/>
                <a:ea typeface="Arial"/>
              </a:rPr>
              <a:t>Govern</a:t>
            </a:r>
            <a:endParaRPr lang="en-US" sz="1450" b="0" u="none" strike="noStrike">
              <a:solidFill>
                <a:srgbClr val="000000"/>
              </a:solidFill>
              <a:effectLst/>
              <a:uFillTx/>
              <a:latin typeface="Arial"/>
            </a:endParaRPr>
          </a:p>
        </p:txBody>
      </p:sp>
      <p:sp>
        <p:nvSpPr>
          <p:cNvPr id="325" name="Text 9"/>
          <p:cNvSpPr/>
          <p:nvPr/>
        </p:nvSpPr>
        <p:spPr>
          <a:xfrm>
            <a:off x="4754880" y="3913560"/>
            <a:ext cx="2651400" cy="5299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t">
            <a:normAutofit/>
          </a:bodyPr>
          <a:lstStyle/>
          <a:p>
            <a:pPr defTabSz="914400">
              <a:lnSpc>
                <a:spcPct val="100000"/>
              </a:lnSpc>
              <a:tabLst>
                <a:tab pos="0" algn="l"/>
              </a:tabLst>
            </a:pPr>
            <a:r>
              <a:rPr lang="en-US" sz="1480" b="0" u="none" strike="noStrike">
                <a:solidFill>
                  <a:srgbClr val="162021"/>
                </a:solidFill>
                <a:effectLst/>
                <a:uFillTx/>
                <a:latin typeface="Arial"/>
                <a:ea typeface="Arial"/>
              </a:rPr>
              <a:t>Define boundaries, approvals, routing rules, and tool access.</a:t>
            </a:r>
            <a:endParaRPr lang="en-US" sz="1480" b="0" u="none" strike="noStrike">
              <a:solidFill>
                <a:srgbClr val="000000"/>
              </a:solidFill>
              <a:effectLst/>
              <a:uFillTx/>
              <a:latin typeface="Arial"/>
            </a:endParaRPr>
          </a:p>
        </p:txBody>
      </p:sp>
      <p:sp>
        <p:nvSpPr>
          <p:cNvPr id="326" name="Shape 10"/>
          <p:cNvSpPr/>
          <p:nvPr/>
        </p:nvSpPr>
        <p:spPr>
          <a:xfrm>
            <a:off x="8412480" y="3246120"/>
            <a:ext cx="1828440" cy="502560"/>
          </a:xfrm>
          <a:prstGeom prst="roundRect">
            <a:avLst>
              <a:gd name="adj" fmla="val 14545"/>
            </a:avLst>
          </a:prstGeom>
          <a:solidFill>
            <a:srgbClr val="FFFFFF"/>
          </a:solidFill>
          <a:ln w="19050">
            <a:solidFill>
              <a:srgbClr val="0C796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27" name="Text 11"/>
          <p:cNvSpPr/>
          <p:nvPr/>
        </p:nvSpPr>
        <p:spPr>
          <a:xfrm>
            <a:off x="8522280" y="3355920"/>
            <a:ext cx="1608840" cy="282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50" b="1" u="none" strike="noStrike">
                <a:solidFill>
                  <a:srgbClr val="0C796D"/>
                </a:solidFill>
                <a:effectLst/>
                <a:uFillTx/>
                <a:latin typeface="Arial"/>
                <a:ea typeface="Arial"/>
              </a:rPr>
              <a:t>Test</a:t>
            </a:r>
            <a:endParaRPr lang="en-US" sz="1450" b="0" u="none" strike="noStrike">
              <a:solidFill>
                <a:srgbClr val="000000"/>
              </a:solidFill>
              <a:effectLst/>
              <a:uFillTx/>
              <a:latin typeface="Arial"/>
            </a:endParaRPr>
          </a:p>
        </p:txBody>
      </p:sp>
      <p:sp>
        <p:nvSpPr>
          <p:cNvPr id="328" name="Text 12"/>
          <p:cNvSpPr/>
          <p:nvPr/>
        </p:nvSpPr>
        <p:spPr>
          <a:xfrm>
            <a:off x="8412480" y="3913560"/>
            <a:ext cx="2651400" cy="5299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t">
            <a:normAutofit fontScale="92500"/>
          </a:bodyPr>
          <a:lstStyle/>
          <a:p>
            <a:pPr defTabSz="914400">
              <a:lnSpc>
                <a:spcPct val="100000"/>
              </a:lnSpc>
              <a:tabLst>
                <a:tab pos="0" algn="l"/>
              </a:tabLst>
            </a:pPr>
            <a:r>
              <a:rPr lang="en-US" sz="1480" b="0" u="none" strike="noStrike">
                <a:solidFill>
                  <a:srgbClr val="162021"/>
                </a:solidFill>
                <a:effectLst/>
                <a:uFillTx/>
                <a:latin typeface="Arial"/>
                <a:ea typeface="Arial"/>
              </a:rPr>
              <a:t>Validate the full path from intake to action after every change.</a:t>
            </a:r>
            <a:endParaRPr lang="en-US" sz="1480" b="0" u="none" strike="noStrike">
              <a:solidFill>
                <a:srgbClr val="000000"/>
              </a:solidFill>
              <a:effectLst/>
              <a:uFillTx/>
              <a:latin typeface="Arial"/>
            </a:endParaRPr>
          </a:p>
        </p:txBody>
      </p:sp>
      <p:sp>
        <p:nvSpPr>
          <p:cNvPr id="329" name="Text 13"/>
          <p:cNvSpPr/>
          <p:nvPr/>
        </p:nvSpPr>
        <p:spPr>
          <a:xfrm>
            <a:off x="868680" y="5413320"/>
            <a:ext cx="9692280" cy="4568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t">
            <a:normAutofit lnSpcReduction="10000"/>
          </a:bodyPr>
          <a:lstStyle/>
          <a:p>
            <a:pPr defTabSz="914400">
              <a:lnSpc>
                <a:spcPct val="100000"/>
              </a:lnSpc>
              <a:tabLst>
                <a:tab pos="0" algn="l"/>
              </a:tabLst>
            </a:pPr>
            <a:r>
              <a:rPr lang="en-US" sz="1550" b="0" u="none" strike="noStrike" dirty="0">
                <a:solidFill>
                  <a:srgbClr val="5C6667"/>
                </a:solidFill>
                <a:effectLst/>
                <a:uFillTx/>
                <a:latin typeface="Arial"/>
                <a:ea typeface="Arial"/>
              </a:rPr>
              <a:t>Seeded moderator questions: personal starting point, incorrect routing, deterministic controls, human review, and production readiness.</a:t>
            </a:r>
            <a:endParaRPr lang="en-US" sz="1550" b="0" u="none" strike="noStrike" dirty="0">
              <a:solidFill>
                <a:srgbClr val="000000"/>
              </a:solidFill>
              <a:effectLst/>
              <a:uFillTx/>
              <a:latin typeface="Arial"/>
            </a:endParaRPr>
          </a:p>
        </p:txBody>
      </p:sp>
      <p:sp>
        <p:nvSpPr>
          <p:cNvPr id="330" name="Text 14"/>
          <p:cNvSpPr/>
          <p:nvPr/>
        </p:nvSpPr>
        <p:spPr>
          <a:xfrm>
            <a:off x="11567160" y="6455520"/>
            <a:ext cx="2282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9AA4A8"/>
                </a:solidFill>
                <a:effectLst/>
                <a:uFillTx/>
                <a:latin typeface="Arial"/>
                <a:ea typeface="Arial"/>
              </a:rPr>
              <a:t>14</a:t>
            </a:r>
            <a:endParaRPr lang="en-US" sz="750" b="0" u="none" strike="noStrike">
              <a:solidFill>
                <a:srgbClr val="000000"/>
              </a:solidFill>
              <a:effectLst/>
              <a:uFillTx/>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31" name="Image 0" descr="/mnt/data/applied_template_content.jpg"/>
          <p:cNvPicPr/>
          <p:nvPr/>
        </p:nvPicPr>
        <p:blipFill>
          <a:blip r:embed="rId3"/>
          <a:stretch/>
        </p:blipFill>
        <p:spPr>
          <a:xfrm>
            <a:off x="0" y="0"/>
            <a:ext cx="12191400" cy="6857640"/>
          </a:xfrm>
          <a:prstGeom prst="rect">
            <a:avLst/>
          </a:prstGeom>
          <a:noFill/>
          <a:ln w="0">
            <a:noFill/>
          </a:ln>
        </p:spPr>
      </p:pic>
      <p:pic>
        <p:nvPicPr>
          <p:cNvPr id="332" name="Image 1" descr="/mnt/data/template_extract/ppt/media/image2.png"/>
          <p:cNvPicPr/>
          <p:nvPr/>
        </p:nvPicPr>
        <p:blipFill>
          <a:blip r:embed="rId4"/>
          <a:stretch/>
        </p:blipFill>
        <p:spPr>
          <a:xfrm>
            <a:off x="9738360" y="6291000"/>
            <a:ext cx="2057040" cy="475200"/>
          </a:xfrm>
          <a:prstGeom prst="rect">
            <a:avLst/>
          </a:prstGeom>
          <a:noFill/>
          <a:ln w="0">
            <a:noFill/>
          </a:ln>
        </p:spPr>
      </p:pic>
      <p:sp>
        <p:nvSpPr>
          <p:cNvPr id="333" name="Text 0"/>
          <p:cNvSpPr/>
          <p:nvPr/>
        </p:nvSpPr>
        <p:spPr>
          <a:xfrm>
            <a:off x="502920" y="347400"/>
            <a:ext cx="969228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u="none" strike="noStrike">
                <a:solidFill>
                  <a:srgbClr val="FFFFFF"/>
                </a:solidFill>
                <a:effectLst/>
                <a:uFillTx/>
                <a:latin typeface="Arial"/>
                <a:ea typeface="Arial"/>
              </a:rPr>
              <a:t>Backup: seeded questions</a:t>
            </a:r>
            <a:endParaRPr lang="en-US" sz="2600" b="0" u="none" strike="noStrike">
              <a:solidFill>
                <a:srgbClr val="000000"/>
              </a:solidFill>
              <a:effectLst/>
              <a:uFillTx/>
              <a:latin typeface="Arial"/>
            </a:endParaRPr>
          </a:p>
        </p:txBody>
      </p:sp>
      <p:sp>
        <p:nvSpPr>
          <p:cNvPr id="334" name="Text 1"/>
          <p:cNvSpPr/>
          <p:nvPr/>
        </p:nvSpPr>
        <p:spPr>
          <a:xfrm>
            <a:off x="530280" y="822960"/>
            <a:ext cx="932652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CFEAF5"/>
                </a:solidFill>
                <a:effectLst/>
                <a:uFillTx/>
                <a:latin typeface="Arial"/>
                <a:ea typeface="Arial"/>
              </a:rPr>
              <a:t>Use only if the moderator asks for them live</a:t>
            </a:r>
            <a:endParaRPr lang="en-US" sz="1150" b="0" u="none" strike="noStrike">
              <a:solidFill>
                <a:srgbClr val="000000"/>
              </a:solidFill>
              <a:effectLst/>
              <a:uFillTx/>
              <a:latin typeface="Arial"/>
            </a:endParaRPr>
          </a:p>
        </p:txBody>
      </p:sp>
      <p:sp>
        <p:nvSpPr>
          <p:cNvPr id="335" name="Text 2"/>
          <p:cNvSpPr/>
          <p:nvPr/>
        </p:nvSpPr>
        <p:spPr>
          <a:xfrm>
            <a:off x="749880" y="1481400"/>
            <a:ext cx="996660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t">
            <a:normAutofit/>
          </a:bodyPr>
          <a:lstStyle/>
          <a:p>
            <a:pPr defTabSz="914400">
              <a:lnSpc>
                <a:spcPct val="100000"/>
              </a:lnSpc>
              <a:tabLst>
                <a:tab pos="0" algn="l"/>
              </a:tabLst>
            </a:pPr>
            <a:r>
              <a:rPr lang="en-US" sz="1620" b="0" u="none" strike="noStrike">
                <a:solidFill>
                  <a:srgbClr val="162021"/>
                </a:solidFill>
                <a:effectLst/>
                <a:uFillTx/>
                <a:latin typeface="Arial"/>
                <a:ea typeface="Arial"/>
              </a:rPr>
              <a:t>• What problem were you trying to solve with the healthcare agent?</a:t>
            </a:r>
            <a:endParaRPr lang="en-US" sz="1620" b="0" u="none" strike="noStrike">
              <a:solidFill>
                <a:srgbClr val="000000"/>
              </a:solidFill>
              <a:effectLst/>
              <a:uFillTx/>
              <a:latin typeface="Arial"/>
            </a:endParaRPr>
          </a:p>
        </p:txBody>
      </p:sp>
      <p:sp>
        <p:nvSpPr>
          <p:cNvPr id="336" name="Text 3"/>
          <p:cNvSpPr/>
          <p:nvPr/>
        </p:nvSpPr>
        <p:spPr>
          <a:xfrm>
            <a:off x="749880" y="2057400"/>
            <a:ext cx="996660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t">
            <a:normAutofit/>
          </a:bodyPr>
          <a:lstStyle/>
          <a:p>
            <a:pPr defTabSz="914400">
              <a:lnSpc>
                <a:spcPct val="100000"/>
              </a:lnSpc>
              <a:tabLst>
                <a:tab pos="0" algn="l"/>
              </a:tabLst>
            </a:pPr>
            <a:r>
              <a:rPr lang="en-US" sz="1620" b="0" u="none" strike="noStrike">
                <a:solidFill>
                  <a:srgbClr val="162021"/>
                </a:solidFill>
                <a:effectLst/>
                <a:uFillTx/>
                <a:latin typeface="Arial"/>
                <a:ea typeface="Arial"/>
              </a:rPr>
              <a:t>• How did your patient experience shape the PCP orchestrator design?</a:t>
            </a:r>
            <a:endParaRPr lang="en-US" sz="1620" b="0" u="none" strike="noStrike">
              <a:solidFill>
                <a:srgbClr val="000000"/>
              </a:solidFill>
              <a:effectLst/>
              <a:uFillTx/>
              <a:latin typeface="Arial"/>
            </a:endParaRPr>
          </a:p>
        </p:txBody>
      </p:sp>
      <p:sp>
        <p:nvSpPr>
          <p:cNvPr id="337" name="Text 4"/>
          <p:cNvSpPr/>
          <p:nvPr/>
        </p:nvSpPr>
        <p:spPr>
          <a:xfrm>
            <a:off x="749880" y="2633400"/>
            <a:ext cx="996660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t">
            <a:normAutofit/>
          </a:bodyPr>
          <a:lstStyle/>
          <a:p>
            <a:pPr defTabSz="914400">
              <a:lnSpc>
                <a:spcPct val="100000"/>
              </a:lnSpc>
              <a:tabLst>
                <a:tab pos="0" algn="l"/>
              </a:tabLst>
            </a:pPr>
            <a:r>
              <a:rPr lang="en-US" sz="1620" b="0" u="none" strike="noStrike">
                <a:solidFill>
                  <a:srgbClr val="162021"/>
                </a:solidFill>
                <a:effectLst/>
                <a:uFillTx/>
                <a:latin typeface="Arial"/>
                <a:ea typeface="Arial"/>
              </a:rPr>
              <a:t>• What did the incorrect routing teach you?</a:t>
            </a:r>
            <a:endParaRPr lang="en-US" sz="1620" b="0" u="none" strike="noStrike">
              <a:solidFill>
                <a:srgbClr val="000000"/>
              </a:solidFill>
              <a:effectLst/>
              <a:uFillTx/>
              <a:latin typeface="Arial"/>
            </a:endParaRPr>
          </a:p>
        </p:txBody>
      </p:sp>
      <p:sp>
        <p:nvSpPr>
          <p:cNvPr id="338" name="Text 5"/>
          <p:cNvSpPr/>
          <p:nvPr/>
        </p:nvSpPr>
        <p:spPr>
          <a:xfrm>
            <a:off x="749880" y="3209400"/>
            <a:ext cx="996660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t">
            <a:normAutofit/>
          </a:bodyPr>
          <a:lstStyle/>
          <a:p>
            <a:pPr defTabSz="914400">
              <a:lnSpc>
                <a:spcPct val="100000"/>
              </a:lnSpc>
              <a:tabLst>
                <a:tab pos="0" algn="l"/>
              </a:tabLst>
            </a:pPr>
            <a:r>
              <a:rPr lang="en-US" sz="1620" b="0" u="none" strike="noStrike">
                <a:solidFill>
                  <a:srgbClr val="162021"/>
                </a:solidFill>
                <a:effectLst/>
                <a:uFillTx/>
                <a:latin typeface="Arial"/>
                <a:ea typeface="Arial"/>
              </a:rPr>
              <a:t>• Which workflow steps should be deterministic?</a:t>
            </a:r>
            <a:endParaRPr lang="en-US" sz="1620" b="0" u="none" strike="noStrike">
              <a:solidFill>
                <a:srgbClr val="000000"/>
              </a:solidFill>
              <a:effectLst/>
              <a:uFillTx/>
              <a:latin typeface="Arial"/>
            </a:endParaRPr>
          </a:p>
        </p:txBody>
      </p:sp>
      <p:sp>
        <p:nvSpPr>
          <p:cNvPr id="339" name="Text 6"/>
          <p:cNvSpPr/>
          <p:nvPr/>
        </p:nvSpPr>
        <p:spPr>
          <a:xfrm>
            <a:off x="749880" y="3785760"/>
            <a:ext cx="996660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t">
            <a:normAutofit/>
          </a:bodyPr>
          <a:lstStyle/>
          <a:p>
            <a:pPr defTabSz="914400">
              <a:lnSpc>
                <a:spcPct val="100000"/>
              </a:lnSpc>
              <a:tabLst>
                <a:tab pos="0" algn="l"/>
              </a:tabLst>
            </a:pPr>
            <a:r>
              <a:rPr lang="en-US" sz="1620" b="0" u="none" strike="noStrike">
                <a:solidFill>
                  <a:srgbClr val="162021"/>
                </a:solidFill>
                <a:effectLst/>
                <a:uFillTx/>
                <a:latin typeface="Arial"/>
                <a:ea typeface="Arial"/>
              </a:rPr>
              <a:t>• Where does human review belong?</a:t>
            </a:r>
            <a:endParaRPr lang="en-US" sz="1620" b="0" u="none" strike="noStrike">
              <a:solidFill>
                <a:srgbClr val="000000"/>
              </a:solidFill>
              <a:effectLst/>
              <a:uFillTx/>
              <a:latin typeface="Arial"/>
            </a:endParaRPr>
          </a:p>
        </p:txBody>
      </p:sp>
      <p:sp>
        <p:nvSpPr>
          <p:cNvPr id="340" name="Text 7"/>
          <p:cNvSpPr/>
          <p:nvPr/>
        </p:nvSpPr>
        <p:spPr>
          <a:xfrm>
            <a:off x="749880" y="4361760"/>
            <a:ext cx="996660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t">
            <a:normAutofit/>
          </a:bodyPr>
          <a:lstStyle/>
          <a:p>
            <a:pPr defTabSz="914400">
              <a:lnSpc>
                <a:spcPct val="100000"/>
              </a:lnSpc>
              <a:tabLst>
                <a:tab pos="0" algn="l"/>
              </a:tabLst>
            </a:pPr>
            <a:r>
              <a:rPr lang="en-US" sz="1620" b="0" u="none" strike="noStrike">
                <a:solidFill>
                  <a:srgbClr val="162021"/>
                </a:solidFill>
                <a:effectLst/>
                <a:uFillTx/>
                <a:latin typeface="Arial"/>
                <a:ea typeface="Arial"/>
              </a:rPr>
              <a:t>• What changes before this becomes production-ready?</a:t>
            </a:r>
            <a:endParaRPr lang="en-US" sz="1620" b="0" u="none" strike="noStrike">
              <a:solidFill>
                <a:srgbClr val="000000"/>
              </a:solidFill>
              <a:effectLst/>
              <a:uFillTx/>
              <a:latin typeface="Arial"/>
            </a:endParaRPr>
          </a:p>
        </p:txBody>
      </p:sp>
      <p:sp>
        <p:nvSpPr>
          <p:cNvPr id="341" name="Text 8"/>
          <p:cNvSpPr/>
          <p:nvPr/>
        </p:nvSpPr>
        <p:spPr>
          <a:xfrm>
            <a:off x="11567160" y="6455520"/>
            <a:ext cx="2282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9AA4A8"/>
                </a:solidFill>
                <a:effectLst/>
                <a:uFillTx/>
                <a:latin typeface="Arial"/>
                <a:ea typeface="Arial"/>
              </a:rPr>
              <a:t>15</a:t>
            </a:r>
            <a:endParaRPr lang="en-US" sz="750" b="0" u="none" strike="noStrike">
              <a:solidFill>
                <a:srgbClr val="000000"/>
              </a:solidFill>
              <a:effectLst/>
              <a:uFillTx/>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255</TotalTime>
  <Words>1938</Words>
  <Application>Microsoft Macintosh PowerPoint</Application>
  <PresentationFormat>Widescreen</PresentationFormat>
  <Paragraphs>272</Paragraphs>
  <Slides>15</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Comic Sans MS</vt:lpstr>
      <vt:lpstr>Helvetica Neue</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IBM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Monika Aggarwal</cp:lastModifiedBy>
  <cp:revision>5</cp:revision>
  <dcterms:modified xsi:type="dcterms:W3CDTF">2026-10-12T20:52:25Z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2026-10-12T16:31:31Z</dcterms:created>
  <dc:creator>Monika Aggarwal</dc:creator>
  <dc:description/>
  <dc:language>en-US</dc:language>
  <cp:lastModifiedBy>Monika Aggarwal</cp:lastModifiedBy>
  <dcterms:modified xsi:type="dcterms:W3CDTF">2026-10-12T16:31:31Z</dcterms:modified>
  <cp:revision>1</cp:revision>
  <dc:subject>Applied AI Summit 2026 healthcare agent presentation</dc:subject>
  <dc:title>When Physicians Cannot Connect the Dots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15</vt:r8>
  </property>
  <property fmtid="{D5CDD505-2E9C-101B-9397-08002B2CF9AE}" pid="3" name="PresentationFormat">
    <vt:lpwstr>On-screen Show (16:9)</vt:lpwstr>
  </property>
  <property fmtid="{D5CDD505-2E9C-101B-9397-08002B2CF9AE}" pid="4" name="Slides">
    <vt:r8>15</vt:r8>
  </property>
</Properties>
</file>