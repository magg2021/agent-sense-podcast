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877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personal context. The session is not about replacing physicians. It is about why agentic workflow design matters when patient information is fragmented across encounters, specialists, tests, and follow-ups.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early. This is the phrase attendees should remember. Activity is not correctness. Routing is not reasoning.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health story plainly. Avoid too much detail. The point is the friction caused by fragmented context, not the diagnosis.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only if you need a brief credibility bridge. It should not sound like a resume. Connect your experience to why this problem is worth discussing.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working prototype. Keep the framing practical. The important design choice is PCP as orchestrator, specialists as bounded support agents, and clinician review as the final safety 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screenshot to make the problem concrete. Do not over-medicalize the example. The failure is routing before adequate intake.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critique. It is also where your broader enterprise point becomes clear. Loose routing is not a healthcare-only issue.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 architecture slide. Explain MCP as the controlled integration layer. Avoid deep protocol detail unless asked.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MCP to business risk. The audience does not need a protocol tutorial. They need to understand why tool access, consent, and audit trails must be part of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converts your blog principles into an operating model. It should feel practical enough for an architecture team to use the next 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gives you a crisp recording plan. Keep the demo bounded. The strongest moment is showing the failure and then showing the design fix.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connect your case study to executives and architects. Production readiness means testability, governance, and improvement loops.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matches your follow-up answer to the summit. Keep it simple. This is the headline for the moderator and audience.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seeded moderator questions. Provide them to the event team if requested.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as a working appendix. It helps you remember how the deck was built.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502920" y="6510528"/>
            <a:ext cx="11201400" cy="0"/>
          </a:xfrm>
          <a:prstGeom prst="line">
            <a:avLst/>
          </a:prstGeom>
          <a:noFill/>
          <a:ln w="12700">
            <a:solidFill>
              <a:srgbClr val="D4E3DE">
                <a:alpha val="85000"/>
              </a:srgbClr>
            </a:solidFill>
            <a:prstDash val="solid"/>
          </a:ln>
        </p:spPr>
        <p:txBody>
          <a:bodyPr/>
          <a:lstStyle/>
          <a:p>
            <a:endParaRPr lang="en-US"/>
          </a:p>
        </p:txBody>
      </p:sp>
      <p:sp>
        <p:nvSpPr>
          <p:cNvPr id="3" name="Text 1"/>
          <p:cNvSpPr/>
          <p:nvPr/>
        </p:nvSpPr>
        <p:spPr>
          <a:xfrm>
            <a:off x="548640" y="6547104"/>
            <a:ext cx="4754880" cy="146304"/>
          </a:xfrm>
          <a:prstGeom prst="rect">
            <a:avLst/>
          </a:prstGeom>
          <a:noFill/>
          <a:ln/>
        </p:spPr>
        <p:txBody>
          <a:bodyPr wrap="square" lIns="0" tIns="0" rIns="0" bIns="0" rtlCol="0" anchor="ctr"/>
          <a:lstStyle/>
          <a:p>
            <a:pPr marL="0" indent="0">
              <a:buNone/>
            </a:pPr>
            <a:r>
              <a:rPr lang="en-US" sz="680" dirty="0">
                <a:solidFill>
                  <a:srgbClr val="66807A"/>
                </a:solidFill>
              </a:rPr>
              <a:t>Applied AI Summit 2026  |  Healthcare AI</a:t>
            </a:r>
            <a:endParaRPr lang="en-US" sz="680" dirty="0"/>
          </a:p>
        </p:txBody>
      </p:sp>
      <p:sp>
        <p:nvSpPr>
          <p:cNvPr id="4" name="Text 2"/>
          <p:cNvSpPr/>
          <p:nvPr/>
        </p:nvSpPr>
        <p:spPr>
          <a:xfrm>
            <a:off x="9326880" y="6547104"/>
            <a:ext cx="2331720" cy="146304"/>
          </a:xfrm>
          <a:prstGeom prst="rect">
            <a:avLst/>
          </a:prstGeom>
          <a:noFill/>
          <a:ln/>
        </p:spPr>
        <p:txBody>
          <a:bodyPr wrap="square" lIns="0" tIns="0" rIns="0" bIns="0" rtlCol="0" anchor="ctr"/>
          <a:lstStyle/>
          <a:p>
            <a:pPr marL="0" indent="0" algn="r">
              <a:buNone/>
            </a:pPr>
            <a:r>
              <a:rPr lang="en-US" sz="680" dirty="0">
                <a:solidFill>
                  <a:srgbClr val="66807A"/>
                </a:solidFill>
              </a:rPr>
              <a:t>Monika Aggarwal</a:t>
            </a:r>
            <a:endParaRPr lang="en-US" sz="6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AF8"/>
        </a:solidFill>
        <a:effectLst/>
      </p:bgPr>
    </p:bg>
    <p:spTree>
      <p:nvGrpSpPr>
        <p:cNvPr id="1" name=""/>
        <p:cNvGrpSpPr/>
        <p:nvPr/>
      </p:nvGrpSpPr>
      <p:grpSpPr>
        <a:xfrm>
          <a:off x="0" y="0"/>
          <a:ext cx="0" cy="0"/>
          <a:chOff x="0" y="0"/>
          <a:chExt cx="0" cy="0"/>
        </a:xfrm>
      </p:grpSpPr>
      <p:pic>
        <p:nvPicPr>
          <p:cNvPr id="2" name="Image 0" descr="/mnt/data/ConceptualArchitecture_MCP.jpeg"/>
          <p:cNvPicPr>
            <a:picLocks noChangeAspect="1"/>
          </p:cNvPicPr>
          <p:nvPr/>
        </p:nvPicPr>
        <p:blipFill>
          <a:blip r:embed="rId3"/>
          <a:srcRect l="2000" t="2000" r="1051" b="6000"/>
          <a:stretch/>
        </p:blipFill>
        <p:spPr>
          <a:xfrm>
            <a:off x="6446520" y="594360"/>
            <a:ext cx="5074920" cy="3611880"/>
          </a:xfrm>
          <a:prstGeom prst="rect">
            <a:avLst/>
          </a:prstGeom>
        </p:spPr>
      </p:pic>
      <p:sp>
        <p:nvSpPr>
          <p:cNvPr id="3" name="Text 0"/>
          <p:cNvSpPr/>
          <p:nvPr/>
        </p:nvSpPr>
        <p:spPr>
          <a:xfrm>
            <a:off x="658368" y="685800"/>
            <a:ext cx="2194560" cy="256032"/>
          </a:xfrm>
          <a:prstGeom prst="rect">
            <a:avLst/>
          </a:prstGeom>
          <a:solidFill>
            <a:srgbClr val="DDF1EB"/>
          </a:solidFill>
          <a:ln>
            <a:solidFill>
              <a:srgbClr val="DDF1EB"/>
            </a:solidFill>
          </a:ln>
        </p:spPr>
        <p:txBody>
          <a:bodyPr wrap="square" lIns="508" tIns="508" rIns="508" bIns="508" rtlCol="0" anchor="ctr">
            <a:normAutofit/>
          </a:bodyPr>
          <a:lstStyle/>
          <a:p>
            <a:pPr marL="0" indent="0" algn="ctr">
              <a:buNone/>
            </a:pPr>
            <a:r>
              <a:rPr lang="en-US" sz="950" b="1" dirty="0">
                <a:solidFill>
                  <a:srgbClr val="0C5E57"/>
                </a:solidFill>
              </a:rPr>
              <a:t>APPLIED AI SUMMIT 2026</a:t>
            </a:r>
            <a:endParaRPr lang="en-US" sz="950" dirty="0"/>
          </a:p>
        </p:txBody>
      </p:sp>
      <p:sp>
        <p:nvSpPr>
          <p:cNvPr id="4" name="Text 1"/>
          <p:cNvSpPr/>
          <p:nvPr/>
        </p:nvSpPr>
        <p:spPr>
          <a:xfrm>
            <a:off x="658368" y="1143000"/>
            <a:ext cx="5532120" cy="1417320"/>
          </a:xfrm>
          <a:prstGeom prst="rect">
            <a:avLst/>
          </a:prstGeom>
          <a:noFill/>
          <a:ln/>
        </p:spPr>
        <p:txBody>
          <a:bodyPr wrap="square" lIns="254" tIns="254" rIns="254" bIns="254" rtlCol="0" anchor="ctr">
            <a:normAutofit/>
          </a:bodyPr>
          <a:lstStyle/>
          <a:p>
            <a:pPr marL="0" indent="0">
              <a:buNone/>
            </a:pPr>
            <a:r>
              <a:rPr lang="en-US" sz="3900" b="1" dirty="0">
                <a:solidFill>
                  <a:srgbClr val="122421"/>
                </a:solidFill>
                <a:latin typeface="Aptos Display" pitchFamily="34" charset="0"/>
                <a:ea typeface="Aptos Display" pitchFamily="34" charset="-122"/>
                <a:cs typeface="Aptos Display" pitchFamily="34" charset="-120"/>
              </a:rPr>
              <a:t>When Physicians Cannot</a:t>
            </a:r>
            <a:endParaRPr lang="en-US" sz="3900" dirty="0"/>
          </a:p>
          <a:p>
            <a:pPr marL="0" indent="0">
              <a:buNone/>
            </a:pPr>
            <a:r>
              <a:rPr lang="en-US" sz="3900" b="1" dirty="0">
                <a:solidFill>
                  <a:srgbClr val="122421"/>
                </a:solidFill>
                <a:latin typeface="Aptos Display" pitchFamily="34" charset="0"/>
                <a:ea typeface="Aptos Display" pitchFamily="34" charset="-122"/>
                <a:cs typeface="Aptos Display" pitchFamily="34" charset="-120"/>
              </a:rPr>
              <a:t>Connect the Dots</a:t>
            </a:r>
            <a:endParaRPr lang="en-US" sz="3900" dirty="0"/>
          </a:p>
        </p:txBody>
      </p:sp>
      <p:sp>
        <p:nvSpPr>
          <p:cNvPr id="5" name="Text 2"/>
          <p:cNvSpPr/>
          <p:nvPr/>
        </p:nvSpPr>
        <p:spPr>
          <a:xfrm>
            <a:off x="694944" y="2788920"/>
            <a:ext cx="5394960" cy="411480"/>
          </a:xfrm>
          <a:prstGeom prst="rect">
            <a:avLst/>
          </a:prstGeom>
          <a:noFill/>
          <a:ln/>
        </p:spPr>
        <p:txBody>
          <a:bodyPr wrap="square" lIns="254" tIns="254" rIns="254" bIns="254" rtlCol="0" anchor="ctr">
            <a:normAutofit/>
          </a:bodyPr>
          <a:lstStyle/>
          <a:p>
            <a:pPr marL="0" indent="0">
              <a:buNone/>
            </a:pPr>
            <a:r>
              <a:rPr lang="en-US" sz="1800" b="1" dirty="0">
                <a:solidFill>
                  <a:srgbClr val="0C5E57"/>
                </a:solidFill>
              </a:rPr>
              <a:t>Building a Governed Healthcare Agent with IBM Bob</a:t>
            </a:r>
            <a:endParaRPr lang="en-US" sz="1800" dirty="0"/>
          </a:p>
        </p:txBody>
      </p:sp>
      <p:sp>
        <p:nvSpPr>
          <p:cNvPr id="6" name="Text 3"/>
          <p:cNvSpPr/>
          <p:nvPr/>
        </p:nvSpPr>
        <p:spPr>
          <a:xfrm>
            <a:off x="694944" y="3401568"/>
            <a:ext cx="5029200" cy="621792"/>
          </a:xfrm>
          <a:prstGeom prst="rect">
            <a:avLst/>
          </a:prstGeom>
          <a:noFill/>
          <a:ln/>
        </p:spPr>
        <p:txBody>
          <a:bodyPr wrap="square" lIns="254" tIns="254" rIns="254" bIns="254" rtlCol="0" anchor="ctr">
            <a:normAutofit/>
          </a:bodyPr>
          <a:lstStyle/>
          <a:p>
            <a:pPr marL="0" indent="0">
              <a:buNone/>
            </a:pPr>
            <a:r>
              <a:rPr lang="en-US" sz="1500" dirty="0">
                <a:solidFill>
                  <a:srgbClr val="52645F"/>
                </a:solidFill>
              </a:rPr>
              <a:t>A technical case study on multi-agent orchestration, clinical workflow boundaries, MCP integration, and human oversight.</a:t>
            </a:r>
            <a:endParaRPr lang="en-US" sz="1500" dirty="0"/>
          </a:p>
        </p:txBody>
      </p:sp>
      <p:sp>
        <p:nvSpPr>
          <p:cNvPr id="7" name="Text 4"/>
          <p:cNvSpPr/>
          <p:nvPr/>
        </p:nvSpPr>
        <p:spPr>
          <a:xfrm>
            <a:off x="694944" y="4956048"/>
            <a:ext cx="5669280" cy="566928"/>
          </a:xfrm>
          <a:prstGeom prst="rect">
            <a:avLst/>
          </a:prstGeom>
          <a:noFill/>
          <a:ln/>
        </p:spPr>
        <p:txBody>
          <a:bodyPr wrap="square" lIns="254" tIns="254" rIns="254" bIns="254" rtlCol="0" anchor="ctr">
            <a:normAutofit/>
          </a:bodyPr>
          <a:lstStyle/>
          <a:p>
            <a:pPr marL="0" indent="0">
              <a:buNone/>
            </a:pPr>
            <a:r>
              <a:rPr lang="en-US" sz="1280" dirty="0">
                <a:solidFill>
                  <a:srgbClr val="52645F"/>
                </a:solidFill>
              </a:rPr>
              <a:t>Monika Aggarwal</a:t>
            </a:r>
            <a:endParaRPr lang="en-US" sz="1280" dirty="0"/>
          </a:p>
          <a:p>
            <a:pPr marL="0" indent="0">
              <a:buNone/>
            </a:pPr>
            <a:r>
              <a:rPr lang="en-US" sz="1280" dirty="0">
                <a:solidFill>
                  <a:srgbClr val="52645F"/>
                </a:solidFill>
              </a:rPr>
              <a:t>Global GTM Leader, Ecosystem Partner Amplification, IBM</a:t>
            </a:r>
            <a:endParaRPr lang="en-US" sz="12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Core thesis</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A busy agent can still be wrong. Safe healthcare AI needs workflow, not loose autonomy.</a:t>
            </a:r>
            <a:endParaRPr lang="en-US" sz="1150" dirty="0"/>
          </a:p>
        </p:txBody>
      </p:sp>
      <p:sp>
        <p:nvSpPr>
          <p:cNvPr id="4" name="Text 2"/>
          <p:cNvSpPr/>
          <p:nvPr/>
        </p:nvSpPr>
        <p:spPr>
          <a:xfrm>
            <a:off x="713232" y="1417320"/>
            <a:ext cx="10698480" cy="640080"/>
          </a:xfrm>
          <a:prstGeom prst="rect">
            <a:avLst/>
          </a:prstGeom>
          <a:noFill/>
          <a:ln/>
        </p:spPr>
        <p:txBody>
          <a:bodyPr wrap="square" lIns="381" tIns="381" rIns="381" bIns="381" rtlCol="0" anchor="ctr">
            <a:normAutofit/>
          </a:bodyPr>
          <a:lstStyle/>
          <a:p>
            <a:pPr marL="0" indent="0">
              <a:buNone/>
            </a:pPr>
            <a:r>
              <a:rPr lang="en-US" sz="2800" b="1" dirty="0">
                <a:solidFill>
                  <a:srgbClr val="122421"/>
                </a:solidFill>
              </a:rPr>
              <a:t>A specialist handoff does not prove the orchestrator understood the context.</a:t>
            </a:r>
            <a:endParaRPr lang="en-US" sz="2800" dirty="0"/>
          </a:p>
        </p:txBody>
      </p:sp>
      <p:sp>
        <p:nvSpPr>
          <p:cNvPr id="5" name="Text 3"/>
          <p:cNvSpPr/>
          <p:nvPr/>
        </p:nvSpPr>
        <p:spPr>
          <a:xfrm>
            <a:off x="749808" y="2267712"/>
            <a:ext cx="8961120" cy="384048"/>
          </a:xfrm>
          <a:prstGeom prst="rect">
            <a:avLst/>
          </a:prstGeom>
          <a:noFill/>
          <a:ln/>
        </p:spPr>
        <p:txBody>
          <a:bodyPr wrap="square" lIns="254" tIns="254" rIns="254" bIns="254" rtlCol="0" anchor="ctr">
            <a:normAutofit/>
          </a:bodyPr>
          <a:lstStyle/>
          <a:p>
            <a:pPr marL="0" indent="0">
              <a:buNone/>
            </a:pPr>
            <a:r>
              <a:rPr lang="en-US" sz="1700" b="1" dirty="0">
                <a:solidFill>
                  <a:srgbClr val="0C5E57"/>
                </a:solidFill>
              </a:rPr>
              <a:t>The real test is the full path from patient intake to clinician-ready action.</a:t>
            </a:r>
            <a:endParaRPr lang="en-US" sz="1700" dirty="0"/>
          </a:p>
        </p:txBody>
      </p:sp>
      <p:sp>
        <p:nvSpPr>
          <p:cNvPr id="6" name="Text 4"/>
          <p:cNvSpPr/>
          <p:nvPr/>
        </p:nvSpPr>
        <p:spPr>
          <a:xfrm>
            <a:off x="749808" y="3063240"/>
            <a:ext cx="3337560" cy="1261872"/>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Loose autonomy</a:t>
            </a:r>
            <a:endParaRPr lang="en-US" sz="1320" dirty="0"/>
          </a:p>
          <a:p>
            <a:pPr marL="0" indent="0">
              <a:buNone/>
            </a:pPr>
            <a:r>
              <a:rPr lang="en-US" sz="1320" dirty="0">
                <a:solidFill>
                  <a:srgbClr val="52645F"/>
                </a:solidFill>
              </a:rPr>
              <a:t>Incorrect routing</a:t>
            </a:r>
            <a:endParaRPr lang="en-US" sz="1320" dirty="0"/>
          </a:p>
          <a:p>
            <a:pPr marL="0" indent="0">
              <a:buNone/>
            </a:pPr>
            <a:r>
              <a:rPr lang="en-US" sz="1320" dirty="0">
                <a:solidFill>
                  <a:srgbClr val="52645F"/>
                </a:solidFill>
              </a:rPr>
              <a:t>Weak handoffs</a:t>
            </a:r>
            <a:endParaRPr lang="en-US" sz="1320" dirty="0"/>
          </a:p>
          <a:p>
            <a:pPr marL="0" indent="0">
              <a:buNone/>
            </a:pPr>
            <a:r>
              <a:rPr lang="en-US" sz="1320" dirty="0">
                <a:solidFill>
                  <a:srgbClr val="52645F"/>
                </a:solidFill>
              </a:rPr>
              <a:t>Missed context</a:t>
            </a:r>
            <a:endParaRPr lang="en-US" sz="1320" dirty="0"/>
          </a:p>
        </p:txBody>
      </p:sp>
      <p:sp>
        <p:nvSpPr>
          <p:cNvPr id="7" name="Text 5"/>
          <p:cNvSpPr/>
          <p:nvPr/>
        </p:nvSpPr>
        <p:spPr>
          <a:xfrm>
            <a:off x="877824" y="317296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Loose autonomy</a:t>
            </a:r>
            <a:endParaRPr lang="en-US" sz="1230" dirty="0"/>
          </a:p>
        </p:txBody>
      </p:sp>
      <p:sp>
        <p:nvSpPr>
          <p:cNvPr id="8" name="Text 6"/>
          <p:cNvSpPr/>
          <p:nvPr/>
        </p:nvSpPr>
        <p:spPr>
          <a:xfrm>
            <a:off x="4434840" y="3063240"/>
            <a:ext cx="3337560" cy="1261872"/>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Governed workflow</a:t>
            </a:r>
            <a:endParaRPr lang="en-US" sz="1320" dirty="0"/>
          </a:p>
          <a:p>
            <a:pPr marL="0" indent="0">
              <a:buNone/>
            </a:pPr>
            <a:r>
              <a:rPr lang="en-US" sz="1320" dirty="0">
                <a:solidFill>
                  <a:srgbClr val="52645F"/>
                </a:solidFill>
              </a:rPr>
              <a:t>Deterministic checkpoints</a:t>
            </a:r>
            <a:endParaRPr lang="en-US" sz="1320" dirty="0"/>
          </a:p>
          <a:p>
            <a:pPr marL="0" indent="0">
              <a:buNone/>
            </a:pPr>
            <a:r>
              <a:rPr lang="en-US" sz="1320" dirty="0">
                <a:solidFill>
                  <a:srgbClr val="52645F"/>
                </a:solidFill>
              </a:rPr>
              <a:t>Traceable handoffs</a:t>
            </a:r>
            <a:endParaRPr lang="en-US" sz="1320" dirty="0"/>
          </a:p>
          <a:p>
            <a:pPr marL="0" indent="0">
              <a:buNone/>
            </a:pPr>
            <a:r>
              <a:rPr lang="en-US" sz="1320" dirty="0">
                <a:solidFill>
                  <a:srgbClr val="52645F"/>
                </a:solidFill>
              </a:rPr>
              <a:t>Human approval</a:t>
            </a:r>
            <a:endParaRPr lang="en-US" sz="1320" dirty="0"/>
          </a:p>
        </p:txBody>
      </p:sp>
      <p:sp>
        <p:nvSpPr>
          <p:cNvPr id="9" name="Text 7"/>
          <p:cNvSpPr/>
          <p:nvPr/>
        </p:nvSpPr>
        <p:spPr>
          <a:xfrm>
            <a:off x="4562856" y="317296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Governed workflow</a:t>
            </a:r>
            <a:endParaRPr lang="en-US" sz="1230" dirty="0"/>
          </a:p>
        </p:txBody>
      </p:sp>
      <p:sp>
        <p:nvSpPr>
          <p:cNvPr id="10" name="Text 8"/>
          <p:cNvSpPr/>
          <p:nvPr/>
        </p:nvSpPr>
        <p:spPr>
          <a:xfrm>
            <a:off x="8119872" y="3063240"/>
            <a:ext cx="3337560" cy="1261872"/>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Operational trust</a:t>
            </a:r>
            <a:endParaRPr lang="en-US" sz="1320" dirty="0"/>
          </a:p>
          <a:p>
            <a:pPr marL="0" indent="0">
              <a:buNone/>
            </a:pPr>
            <a:r>
              <a:rPr lang="en-US" sz="1320" dirty="0">
                <a:solidFill>
                  <a:srgbClr val="52645F"/>
                </a:solidFill>
              </a:rPr>
              <a:t>Testable behavior</a:t>
            </a:r>
            <a:endParaRPr lang="en-US" sz="1320" dirty="0"/>
          </a:p>
          <a:p>
            <a:pPr marL="0" indent="0">
              <a:buNone/>
            </a:pPr>
            <a:r>
              <a:rPr lang="en-US" sz="1320" dirty="0">
                <a:solidFill>
                  <a:srgbClr val="52645F"/>
                </a:solidFill>
              </a:rPr>
              <a:t>Policy-bound tool use</a:t>
            </a:r>
            <a:endParaRPr lang="en-US" sz="1320" dirty="0"/>
          </a:p>
          <a:p>
            <a:pPr marL="0" indent="0">
              <a:buNone/>
            </a:pPr>
            <a:r>
              <a:rPr lang="en-US" sz="1320" dirty="0">
                <a:solidFill>
                  <a:srgbClr val="52645F"/>
                </a:solidFill>
              </a:rPr>
              <a:t>Clinician review</a:t>
            </a:r>
            <a:endParaRPr lang="en-US" sz="1320" dirty="0"/>
          </a:p>
        </p:txBody>
      </p:sp>
      <p:sp>
        <p:nvSpPr>
          <p:cNvPr id="11" name="Text 9"/>
          <p:cNvSpPr/>
          <p:nvPr/>
        </p:nvSpPr>
        <p:spPr>
          <a:xfrm>
            <a:off x="8247888" y="317296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Operational trust</a:t>
            </a:r>
            <a:endParaRPr lang="en-US" sz="1230" dirty="0"/>
          </a:p>
        </p:txBody>
      </p:sp>
      <p:sp>
        <p:nvSpPr>
          <p:cNvPr id="12" name="Text 10"/>
          <p:cNvSpPr/>
          <p:nvPr/>
        </p:nvSpPr>
        <p:spPr>
          <a:xfrm>
            <a:off x="777240" y="4590288"/>
            <a:ext cx="1188720" cy="219456"/>
          </a:xfrm>
          <a:prstGeom prst="rect">
            <a:avLst/>
          </a:prstGeom>
          <a:noFill/>
          <a:ln/>
        </p:spPr>
        <p:txBody>
          <a:bodyPr wrap="square" lIns="0" tIns="0" rIns="0" bIns="0" rtlCol="0" anchor="ctr"/>
          <a:lstStyle/>
          <a:p>
            <a:pPr marL="0" indent="0">
              <a:buNone/>
            </a:pPr>
            <a:r>
              <a:rPr lang="en-US" sz="1100" b="1" dirty="0">
                <a:solidFill>
                  <a:srgbClr val="0C5E57"/>
                </a:solidFill>
              </a:rPr>
              <a:t>Takeaway</a:t>
            </a:r>
            <a:endParaRPr lang="en-US" sz="1100" dirty="0"/>
          </a:p>
        </p:txBody>
      </p:sp>
      <p:sp>
        <p:nvSpPr>
          <p:cNvPr id="13" name="Text 11"/>
          <p:cNvSpPr/>
          <p:nvPr/>
        </p:nvSpPr>
        <p:spPr>
          <a:xfrm>
            <a:off x="777240" y="4928616"/>
            <a:ext cx="9326880" cy="320040"/>
          </a:xfrm>
          <a:prstGeom prst="rect">
            <a:avLst/>
          </a:prstGeom>
          <a:noFill/>
          <a:ln/>
        </p:spPr>
        <p:txBody>
          <a:bodyPr wrap="square" lIns="254" tIns="254" rIns="254" bIns="254" rtlCol="0" anchor="ctr">
            <a:normAutofit/>
          </a:bodyPr>
          <a:lstStyle/>
          <a:p>
            <a:pPr marL="0" indent="0">
              <a:buNone/>
            </a:pPr>
            <a:r>
              <a:rPr lang="en-US" sz="1800" b="1" dirty="0">
                <a:solidFill>
                  <a:srgbClr val="122421"/>
                </a:solidFill>
              </a:rPr>
              <a:t>Agent reasoning is useful only inside a designed care-navigation path.</a:t>
            </a:r>
            <a:endParaRPr lang="en-US" sz="180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The personal starting point</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The patient often becomes the integration layer. Medicine somehow made that sound normal.</a:t>
            </a:r>
            <a:endParaRPr lang="en-US" sz="1150" dirty="0"/>
          </a:p>
        </p:txBody>
      </p:sp>
      <p:sp>
        <p:nvSpPr>
          <p:cNvPr id="4" name="Shape 2"/>
          <p:cNvSpPr/>
          <p:nvPr/>
        </p:nvSpPr>
        <p:spPr>
          <a:xfrm>
            <a:off x="685800" y="1325880"/>
            <a:ext cx="4754880" cy="4297680"/>
          </a:xfrm>
          <a:prstGeom prst="rect">
            <a:avLst/>
          </a:prstGeom>
          <a:solidFill>
            <a:srgbClr val="FFFFFF"/>
          </a:solidFill>
          <a:ln w="12700">
            <a:solidFill>
              <a:srgbClr val="BFD7D1"/>
            </a:solidFill>
            <a:prstDash val="solid"/>
          </a:ln>
        </p:spPr>
        <p:txBody>
          <a:bodyPr/>
          <a:lstStyle/>
          <a:p>
            <a:endParaRPr lang="en-US"/>
          </a:p>
        </p:txBody>
      </p:sp>
      <p:sp>
        <p:nvSpPr>
          <p:cNvPr id="5" name="Text 3"/>
          <p:cNvSpPr/>
          <p:nvPr/>
        </p:nvSpPr>
        <p:spPr>
          <a:xfrm>
            <a:off x="960120" y="1627632"/>
            <a:ext cx="2377440" cy="301752"/>
          </a:xfrm>
          <a:prstGeom prst="rect">
            <a:avLst/>
          </a:prstGeom>
          <a:noFill/>
          <a:ln/>
        </p:spPr>
        <p:txBody>
          <a:bodyPr wrap="square" lIns="0" tIns="0" rIns="0" bIns="0" rtlCol="0" anchor="ctr"/>
          <a:lstStyle/>
          <a:p>
            <a:pPr marL="0" indent="0">
              <a:buNone/>
            </a:pPr>
            <a:r>
              <a:rPr lang="en-US" sz="1600" b="1" dirty="0">
                <a:solidFill>
                  <a:srgbClr val="122421"/>
                </a:solidFill>
              </a:rPr>
              <a:t>Patient reality</a:t>
            </a:r>
            <a:endParaRPr lang="en-US" sz="1600" dirty="0"/>
          </a:p>
        </p:txBody>
      </p:sp>
      <p:sp>
        <p:nvSpPr>
          <p:cNvPr id="6" name="Text 4"/>
          <p:cNvSpPr/>
          <p:nvPr/>
        </p:nvSpPr>
        <p:spPr>
          <a:xfrm>
            <a:off x="960120" y="2148840"/>
            <a:ext cx="4160520" cy="2468880"/>
          </a:xfrm>
          <a:prstGeom prst="rect">
            <a:avLst/>
          </a:prstGeom>
          <a:noFill/>
          <a:ln/>
        </p:spPr>
        <p:txBody>
          <a:bodyPr wrap="square" lIns="1016" tIns="1016" rIns="1016" bIns="1016" rtlCol="0" anchor="ctr">
            <a:normAutofit/>
          </a:bodyPr>
          <a:lstStyle/>
          <a:p>
            <a:r>
              <a:rPr lang="en-US" sz="1450" dirty="0">
                <a:solidFill>
                  <a:srgbClr val="122421"/>
                </a:solidFill>
              </a:rPr>
              <a:t>Multiple specialists see different parts of the case</a:t>
            </a:r>
            <a:endParaRPr lang="en-US" sz="1450" dirty="0"/>
          </a:p>
          <a:p>
            <a:r>
              <a:rPr lang="en-US" sz="1450" dirty="0">
                <a:solidFill>
                  <a:srgbClr val="122421"/>
                </a:solidFill>
              </a:rPr>
              <a:t>Symptoms, tests, medications, and follow-ups spread across encounters</a:t>
            </a:r>
            <a:endParaRPr lang="en-US" sz="1450" dirty="0"/>
          </a:p>
          <a:p>
            <a:r>
              <a:rPr lang="en-US" sz="1450" dirty="0">
                <a:solidFill>
                  <a:srgbClr val="122421"/>
                </a:solidFill>
              </a:rPr>
              <a:t>The PCP role becomes the coordinator of context</a:t>
            </a:r>
            <a:endParaRPr lang="en-US" sz="1450" dirty="0"/>
          </a:p>
          <a:p>
            <a:r>
              <a:rPr lang="en-US" sz="1450" dirty="0">
                <a:solidFill>
                  <a:srgbClr val="122421"/>
                </a:solidFill>
              </a:rPr>
              <a:t>The patient still carries much of the burden</a:t>
            </a:r>
            <a:endParaRPr lang="en-US" sz="1450" dirty="0"/>
          </a:p>
        </p:txBody>
      </p:sp>
      <p:sp>
        <p:nvSpPr>
          <p:cNvPr id="7" name="Shape 5"/>
          <p:cNvSpPr/>
          <p:nvPr/>
        </p:nvSpPr>
        <p:spPr>
          <a:xfrm>
            <a:off x="5870448" y="1143000"/>
            <a:ext cx="0" cy="4617720"/>
          </a:xfrm>
          <a:prstGeom prst="line">
            <a:avLst/>
          </a:prstGeom>
          <a:noFill/>
          <a:ln w="13970">
            <a:solidFill>
              <a:srgbClr val="BFD7D1"/>
            </a:solidFill>
            <a:prstDash val="solid"/>
          </a:ln>
        </p:spPr>
        <p:txBody>
          <a:bodyPr/>
          <a:lstStyle/>
          <a:p>
            <a:endParaRPr lang="en-US"/>
          </a:p>
        </p:txBody>
      </p:sp>
      <p:sp>
        <p:nvSpPr>
          <p:cNvPr id="8" name="Text 6"/>
          <p:cNvSpPr/>
          <p:nvPr/>
        </p:nvSpPr>
        <p:spPr>
          <a:xfrm>
            <a:off x="6446520" y="1426464"/>
            <a:ext cx="4526280" cy="91440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Session lens</a:t>
            </a:r>
            <a:endParaRPr lang="en-US" sz="1320" dirty="0"/>
          </a:p>
          <a:p>
            <a:pPr marL="0" indent="0">
              <a:buNone/>
            </a:pPr>
            <a:r>
              <a:rPr lang="en-US" sz="1320" dirty="0">
                <a:solidFill>
                  <a:srgbClr val="52645F"/>
                </a:solidFill>
              </a:rPr>
              <a:t>Start with lived fragmentation. Then show how that became a governed agent design.</a:t>
            </a:r>
            <a:endParaRPr lang="en-US" sz="1320" dirty="0"/>
          </a:p>
        </p:txBody>
      </p:sp>
      <p:sp>
        <p:nvSpPr>
          <p:cNvPr id="9" name="Text 7"/>
          <p:cNvSpPr/>
          <p:nvPr/>
        </p:nvSpPr>
        <p:spPr>
          <a:xfrm>
            <a:off x="6574536" y="1536192"/>
            <a:ext cx="427024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Session lens</a:t>
            </a:r>
            <a:endParaRPr lang="en-US" sz="1230" dirty="0"/>
          </a:p>
        </p:txBody>
      </p:sp>
      <p:sp>
        <p:nvSpPr>
          <p:cNvPr id="10" name="Text 8"/>
          <p:cNvSpPr/>
          <p:nvPr/>
        </p:nvSpPr>
        <p:spPr>
          <a:xfrm>
            <a:off x="6446520" y="2651760"/>
            <a:ext cx="4526280" cy="91440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Healthcare lens</a:t>
            </a:r>
            <a:endParaRPr lang="en-US" sz="1320" dirty="0"/>
          </a:p>
          <a:p>
            <a:pPr marL="0" indent="0">
              <a:buNone/>
            </a:pPr>
            <a:r>
              <a:rPr lang="en-US" sz="1320" dirty="0">
                <a:solidFill>
                  <a:srgbClr val="52645F"/>
                </a:solidFill>
              </a:rPr>
              <a:t>The agent must support care navigation. It must not act like an autonomous physician.</a:t>
            </a:r>
            <a:endParaRPr lang="en-US" sz="1320" dirty="0"/>
          </a:p>
        </p:txBody>
      </p:sp>
      <p:sp>
        <p:nvSpPr>
          <p:cNvPr id="11" name="Text 9"/>
          <p:cNvSpPr/>
          <p:nvPr/>
        </p:nvSpPr>
        <p:spPr>
          <a:xfrm>
            <a:off x="6574536" y="2761488"/>
            <a:ext cx="427024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Healthcare lens</a:t>
            </a:r>
            <a:endParaRPr lang="en-US" sz="1230" dirty="0"/>
          </a:p>
        </p:txBody>
      </p:sp>
      <p:sp>
        <p:nvSpPr>
          <p:cNvPr id="12" name="Text 10"/>
          <p:cNvSpPr/>
          <p:nvPr/>
        </p:nvSpPr>
        <p:spPr>
          <a:xfrm>
            <a:off x="6446520" y="3877056"/>
            <a:ext cx="4526280" cy="91440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Enterprise lens</a:t>
            </a:r>
            <a:endParaRPr lang="en-US" sz="1320" dirty="0"/>
          </a:p>
          <a:p>
            <a:pPr marL="0" indent="0">
              <a:buNone/>
            </a:pPr>
            <a:r>
              <a:rPr lang="en-US" sz="1320" dirty="0">
                <a:solidFill>
                  <a:srgbClr val="52645F"/>
                </a:solidFill>
              </a:rPr>
              <a:t>The same failure pattern appears in HR, IT, finance, and other regulated workflows.</a:t>
            </a:r>
            <a:endParaRPr lang="en-US" sz="1320" dirty="0"/>
          </a:p>
        </p:txBody>
      </p:sp>
      <p:sp>
        <p:nvSpPr>
          <p:cNvPr id="13" name="Text 11"/>
          <p:cNvSpPr/>
          <p:nvPr/>
        </p:nvSpPr>
        <p:spPr>
          <a:xfrm>
            <a:off x="6574536" y="3986784"/>
            <a:ext cx="427024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Enterprise lens</a:t>
            </a:r>
            <a:endParaRPr lang="en-US" sz="123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Why I built this case study</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The talk combines patient experience, healthcare delivery, and enterprise AI architecture.</a:t>
            </a:r>
            <a:endParaRPr lang="en-US" sz="1150" dirty="0"/>
          </a:p>
        </p:txBody>
      </p:sp>
      <p:sp>
        <p:nvSpPr>
          <p:cNvPr id="4" name="Text 2"/>
          <p:cNvSpPr/>
          <p:nvPr/>
        </p:nvSpPr>
        <p:spPr>
          <a:xfrm>
            <a:off x="713232" y="1325880"/>
            <a:ext cx="3840480" cy="320040"/>
          </a:xfrm>
          <a:prstGeom prst="rect">
            <a:avLst/>
          </a:prstGeom>
          <a:noFill/>
          <a:ln/>
        </p:spPr>
        <p:txBody>
          <a:bodyPr wrap="square" lIns="0" tIns="0" rIns="0" bIns="0" rtlCol="0" anchor="ctr"/>
          <a:lstStyle/>
          <a:p>
            <a:pPr marL="0" indent="0">
              <a:buNone/>
            </a:pPr>
            <a:r>
              <a:rPr lang="en-US" sz="1900" b="1" dirty="0">
                <a:solidFill>
                  <a:srgbClr val="122421"/>
                </a:solidFill>
              </a:rPr>
              <a:t>Practitioner credibility</a:t>
            </a:r>
            <a:endParaRPr lang="en-US" sz="1900" dirty="0"/>
          </a:p>
        </p:txBody>
      </p:sp>
      <p:sp>
        <p:nvSpPr>
          <p:cNvPr id="5" name="Text 3"/>
          <p:cNvSpPr/>
          <p:nvPr/>
        </p:nvSpPr>
        <p:spPr>
          <a:xfrm>
            <a:off x="713232" y="1828800"/>
            <a:ext cx="3337560" cy="123444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Healthcare delivery</a:t>
            </a:r>
            <a:endParaRPr lang="en-US" sz="1320" dirty="0"/>
          </a:p>
          <a:p>
            <a:pPr marL="0" indent="0">
              <a:buNone/>
            </a:pPr>
            <a:r>
              <a:rPr lang="en-US" sz="1320" dirty="0">
                <a:solidFill>
                  <a:srgbClr val="52645F"/>
                </a:solidFill>
              </a:rPr>
              <a:t>Designed AI-enabled clinical workflow and remote patient monitoring solutions at KP.</a:t>
            </a:r>
            <a:endParaRPr lang="en-US" sz="1320" dirty="0"/>
          </a:p>
        </p:txBody>
      </p:sp>
      <p:sp>
        <p:nvSpPr>
          <p:cNvPr id="6" name="Text 4"/>
          <p:cNvSpPr/>
          <p:nvPr/>
        </p:nvSpPr>
        <p:spPr>
          <a:xfrm>
            <a:off x="841248" y="193852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Healthcare delivery</a:t>
            </a:r>
            <a:endParaRPr lang="en-US" sz="1230" dirty="0"/>
          </a:p>
        </p:txBody>
      </p:sp>
      <p:sp>
        <p:nvSpPr>
          <p:cNvPr id="7" name="Text 5"/>
          <p:cNvSpPr/>
          <p:nvPr/>
        </p:nvSpPr>
        <p:spPr>
          <a:xfrm>
            <a:off x="4407408" y="1828800"/>
            <a:ext cx="3337560" cy="123444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Enterprise AI</a:t>
            </a:r>
            <a:endParaRPr lang="en-US" sz="1320" dirty="0"/>
          </a:p>
          <a:p>
            <a:pPr marL="0" indent="0">
              <a:buNone/>
            </a:pPr>
            <a:r>
              <a:rPr lang="en-US" sz="1320" dirty="0">
                <a:solidFill>
                  <a:srgbClr val="52645F"/>
                </a:solidFill>
              </a:rPr>
              <a:t>Builds agentic AI strategies, reusable architectures, and production-focused use cases at IBM.</a:t>
            </a:r>
            <a:endParaRPr lang="en-US" sz="1320" dirty="0"/>
          </a:p>
        </p:txBody>
      </p:sp>
      <p:sp>
        <p:nvSpPr>
          <p:cNvPr id="8" name="Text 6"/>
          <p:cNvSpPr/>
          <p:nvPr/>
        </p:nvSpPr>
        <p:spPr>
          <a:xfrm>
            <a:off x="4535424" y="193852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Enterprise AI</a:t>
            </a:r>
            <a:endParaRPr lang="en-US" sz="1230" dirty="0"/>
          </a:p>
        </p:txBody>
      </p:sp>
      <p:sp>
        <p:nvSpPr>
          <p:cNvPr id="9" name="Text 7"/>
          <p:cNvSpPr/>
          <p:nvPr/>
        </p:nvSpPr>
        <p:spPr>
          <a:xfrm>
            <a:off x="8101584" y="1828800"/>
            <a:ext cx="3337560" cy="123444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Eminence</a:t>
            </a:r>
            <a:endParaRPr lang="en-US" sz="1320" dirty="0"/>
          </a:p>
          <a:p>
            <a:pPr marL="0" indent="0">
              <a:buNone/>
            </a:pPr>
            <a:r>
              <a:rPr lang="en-US" sz="1320" dirty="0">
                <a:solidFill>
                  <a:srgbClr val="52645F"/>
                </a:solidFill>
              </a:rPr>
              <a:t>Co-host of Agent Sense and creator of 60 Seconds of Enterprise AI.</a:t>
            </a:r>
            <a:endParaRPr lang="en-US" sz="1320" dirty="0"/>
          </a:p>
        </p:txBody>
      </p:sp>
      <p:sp>
        <p:nvSpPr>
          <p:cNvPr id="10" name="Text 8"/>
          <p:cNvSpPr/>
          <p:nvPr/>
        </p:nvSpPr>
        <p:spPr>
          <a:xfrm>
            <a:off x="8229600" y="193852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Eminence</a:t>
            </a:r>
            <a:endParaRPr lang="en-US" sz="1230" dirty="0"/>
          </a:p>
        </p:txBody>
      </p:sp>
      <p:sp>
        <p:nvSpPr>
          <p:cNvPr id="11" name="Shape 9"/>
          <p:cNvSpPr/>
          <p:nvPr/>
        </p:nvSpPr>
        <p:spPr>
          <a:xfrm>
            <a:off x="713232" y="3822192"/>
            <a:ext cx="10744200" cy="1078992"/>
          </a:xfrm>
          <a:prstGeom prst="rect">
            <a:avLst/>
          </a:prstGeom>
          <a:solidFill>
            <a:srgbClr val="DDF1EB">
              <a:alpha val="92000"/>
            </a:srgbClr>
          </a:solidFill>
          <a:ln w="12700">
            <a:solidFill>
              <a:srgbClr val="DDF1EB"/>
            </a:solidFill>
            <a:prstDash val="solid"/>
          </a:ln>
        </p:spPr>
        <p:txBody>
          <a:bodyPr/>
          <a:lstStyle/>
          <a:p>
            <a:endParaRPr lang="en-US"/>
          </a:p>
        </p:txBody>
      </p:sp>
      <p:sp>
        <p:nvSpPr>
          <p:cNvPr id="12" name="Text 10"/>
          <p:cNvSpPr/>
          <p:nvPr/>
        </p:nvSpPr>
        <p:spPr>
          <a:xfrm>
            <a:off x="1005840" y="4123944"/>
            <a:ext cx="10149840" cy="329184"/>
          </a:xfrm>
          <a:prstGeom prst="rect">
            <a:avLst/>
          </a:prstGeom>
          <a:noFill/>
          <a:ln/>
        </p:spPr>
        <p:txBody>
          <a:bodyPr wrap="square" lIns="254" tIns="254" rIns="254" bIns="254" rtlCol="0" anchor="ctr">
            <a:normAutofit/>
          </a:bodyPr>
          <a:lstStyle/>
          <a:p>
            <a:pPr marL="0" indent="0" algn="ctr">
              <a:buNone/>
            </a:pPr>
            <a:r>
              <a:rPr lang="en-US" sz="1800" b="1" dirty="0">
                <a:solidFill>
                  <a:srgbClr val="0C5E57"/>
                </a:solidFill>
              </a:rPr>
              <a:t>The speaking value is not only the conference logo. It is the fit between topic, healthcare track, real prototype, and production governance story.</a:t>
            </a:r>
            <a:endParaRPr lang="en-US" sz="180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The prototype</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A PCP coordinator agent orchestrates specialist support agents.</a:t>
            </a:r>
            <a:endParaRPr lang="en-US" sz="1150" dirty="0"/>
          </a:p>
        </p:txBody>
      </p:sp>
      <p:pic>
        <p:nvPicPr>
          <p:cNvPr id="4" name="Image 0" descr="/mnt/data/PCPAgent.jpg"/>
          <p:cNvPicPr>
            <a:picLocks noChangeAspect="1"/>
          </p:cNvPicPr>
          <p:nvPr/>
        </p:nvPicPr>
        <p:blipFill>
          <a:blip r:embed="rId3"/>
          <a:srcRect l="2000" r="-18571" b="28000"/>
          <a:stretch/>
        </p:blipFill>
        <p:spPr>
          <a:xfrm>
            <a:off x="685800" y="1207008"/>
            <a:ext cx="3886200" cy="4800600"/>
          </a:xfrm>
          <a:prstGeom prst="rect">
            <a:avLst/>
          </a:prstGeom>
        </p:spPr>
      </p:pic>
      <p:sp>
        <p:nvSpPr>
          <p:cNvPr id="5" name="Text 2"/>
          <p:cNvSpPr/>
          <p:nvPr/>
        </p:nvSpPr>
        <p:spPr>
          <a:xfrm>
            <a:off x="5074920" y="1298448"/>
            <a:ext cx="3474720" cy="301752"/>
          </a:xfrm>
          <a:prstGeom prst="rect">
            <a:avLst/>
          </a:prstGeom>
          <a:noFill/>
          <a:ln/>
        </p:spPr>
        <p:txBody>
          <a:bodyPr wrap="square" lIns="0" tIns="0" rIns="0" bIns="0" rtlCol="0" anchor="ctr"/>
          <a:lstStyle/>
          <a:p>
            <a:pPr marL="0" indent="0">
              <a:buNone/>
            </a:pPr>
            <a:r>
              <a:rPr lang="en-US" sz="1900" b="1" dirty="0">
                <a:solidFill>
                  <a:srgbClr val="122421"/>
                </a:solidFill>
              </a:rPr>
              <a:t>Built functions</a:t>
            </a:r>
            <a:endParaRPr lang="en-US" sz="1900" dirty="0"/>
          </a:p>
        </p:txBody>
      </p:sp>
      <p:sp>
        <p:nvSpPr>
          <p:cNvPr id="6" name="Text 3"/>
          <p:cNvSpPr/>
          <p:nvPr/>
        </p:nvSpPr>
        <p:spPr>
          <a:xfrm>
            <a:off x="5074920" y="1847088"/>
            <a:ext cx="6126480" cy="2423160"/>
          </a:xfrm>
          <a:prstGeom prst="rect">
            <a:avLst/>
          </a:prstGeom>
          <a:noFill/>
          <a:ln/>
        </p:spPr>
        <p:txBody>
          <a:bodyPr wrap="square" lIns="1016" tIns="1016" rIns="1016" bIns="1016" rtlCol="0" anchor="ctr">
            <a:normAutofit/>
          </a:bodyPr>
          <a:lstStyle/>
          <a:p>
            <a:r>
              <a:rPr lang="en-US" sz="1500" dirty="0">
                <a:solidFill>
                  <a:srgbClr val="122421"/>
                </a:solidFill>
              </a:rPr>
              <a:t>Reviews patient concerns and symptoms</a:t>
            </a:r>
            <a:endParaRPr lang="en-US" sz="1500" dirty="0"/>
          </a:p>
          <a:p>
            <a:r>
              <a:rPr lang="en-US" sz="1500" dirty="0">
                <a:solidFill>
                  <a:srgbClr val="122421"/>
                </a:solidFill>
              </a:rPr>
              <a:t>Detects emergency warning phrases before normal routing</a:t>
            </a:r>
            <a:endParaRPr lang="en-US" sz="1500" dirty="0"/>
          </a:p>
          <a:p>
            <a:r>
              <a:rPr lang="en-US" sz="1500" dirty="0">
                <a:solidFill>
                  <a:srgbClr val="122421"/>
                </a:solidFill>
              </a:rPr>
              <a:t>Coordinates specialty support agents</a:t>
            </a:r>
            <a:endParaRPr lang="en-US" sz="1500" dirty="0"/>
          </a:p>
          <a:p>
            <a:r>
              <a:rPr lang="en-US" sz="1500" dirty="0">
                <a:solidFill>
                  <a:srgbClr val="122421"/>
                </a:solidFill>
              </a:rPr>
              <a:t>Produces clinician-ready summaries</a:t>
            </a:r>
            <a:endParaRPr lang="en-US" sz="1500" dirty="0"/>
          </a:p>
          <a:p>
            <a:r>
              <a:rPr lang="en-US" sz="1500" dirty="0">
                <a:solidFill>
                  <a:srgbClr val="122421"/>
                </a:solidFill>
              </a:rPr>
              <a:t>Requires patient approval before sending messages</a:t>
            </a:r>
            <a:endParaRPr lang="en-US" sz="1500" dirty="0"/>
          </a:p>
        </p:txBody>
      </p:sp>
      <p:sp>
        <p:nvSpPr>
          <p:cNvPr id="7" name="Text 4"/>
          <p:cNvSpPr/>
          <p:nvPr/>
        </p:nvSpPr>
        <p:spPr>
          <a:xfrm>
            <a:off x="5102352" y="4800600"/>
            <a:ext cx="5303520" cy="868680"/>
          </a:xfrm>
          <a:prstGeom prst="rect">
            <a:avLst/>
          </a:prstGeom>
          <a:solidFill>
            <a:srgbClr val="F6FBFA"/>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Boundary</a:t>
            </a:r>
            <a:endParaRPr lang="en-US" sz="1320" dirty="0"/>
          </a:p>
          <a:p>
            <a:pPr marL="0" indent="0">
              <a:buNone/>
            </a:pPr>
            <a:r>
              <a:rPr lang="en-US" sz="1320" dirty="0">
                <a:solidFill>
                  <a:srgbClr val="52645F"/>
                </a:solidFill>
              </a:rPr>
              <a:t>Care-navigation assistant, not autonomous diagnosis, prescription, medication change, or replacement for licensed clinicians.</a:t>
            </a:r>
            <a:endParaRPr lang="en-US" sz="1320" dirty="0"/>
          </a:p>
        </p:txBody>
      </p:sp>
      <p:sp>
        <p:nvSpPr>
          <p:cNvPr id="8" name="Text 5"/>
          <p:cNvSpPr/>
          <p:nvPr/>
        </p:nvSpPr>
        <p:spPr>
          <a:xfrm>
            <a:off x="5230368" y="4910328"/>
            <a:ext cx="504748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Boundary</a:t>
            </a:r>
            <a:endParaRPr lang="en-US" sz="123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The Day 3 / Day 4 test</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The demo worked. The workflow behavior exposed the risk.</a:t>
            </a:r>
            <a:endParaRPr lang="en-US" sz="1150" dirty="0"/>
          </a:p>
        </p:txBody>
      </p:sp>
      <p:pic>
        <p:nvPicPr>
          <p:cNvPr id="4" name="Image 0" descr="/mnt/data/PCPConvo.jpg"/>
          <p:cNvPicPr>
            <a:picLocks noChangeAspect="1"/>
          </p:cNvPicPr>
          <p:nvPr/>
        </p:nvPicPr>
        <p:blipFill>
          <a:blip r:embed="rId3"/>
          <a:srcRect l="4000" t="2000" r="27712" b="28000"/>
          <a:stretch/>
        </p:blipFill>
        <p:spPr>
          <a:xfrm>
            <a:off x="658368" y="1170432"/>
            <a:ext cx="4160520" cy="4919472"/>
          </a:xfrm>
          <a:prstGeom prst="rect">
            <a:avLst/>
          </a:prstGeom>
        </p:spPr>
      </p:pic>
      <p:sp>
        <p:nvSpPr>
          <p:cNvPr id="5" name="Text 2"/>
          <p:cNvSpPr/>
          <p:nvPr/>
        </p:nvSpPr>
        <p:spPr>
          <a:xfrm>
            <a:off x="5257800" y="1353312"/>
            <a:ext cx="1828800" cy="219456"/>
          </a:xfrm>
          <a:prstGeom prst="rect">
            <a:avLst/>
          </a:prstGeom>
          <a:noFill/>
          <a:ln/>
        </p:spPr>
        <p:txBody>
          <a:bodyPr wrap="square" lIns="0" tIns="0" rIns="0" bIns="0" rtlCol="0" anchor="ctr"/>
          <a:lstStyle/>
          <a:p>
            <a:pPr marL="0" indent="0">
              <a:buNone/>
            </a:pPr>
            <a:r>
              <a:rPr lang="en-US" sz="1200" b="1" dirty="0">
                <a:solidFill>
                  <a:srgbClr val="0C5E57"/>
                </a:solidFill>
              </a:rPr>
              <a:t>Test input</a:t>
            </a:r>
            <a:endParaRPr lang="en-US" sz="1200" dirty="0"/>
          </a:p>
        </p:txBody>
      </p:sp>
      <p:sp>
        <p:nvSpPr>
          <p:cNvPr id="6" name="Text 3"/>
          <p:cNvSpPr/>
          <p:nvPr/>
        </p:nvSpPr>
        <p:spPr>
          <a:xfrm>
            <a:off x="5257800" y="1719072"/>
            <a:ext cx="5669280" cy="502920"/>
          </a:xfrm>
          <a:prstGeom prst="rect">
            <a:avLst/>
          </a:prstGeom>
          <a:noFill/>
          <a:ln/>
        </p:spPr>
        <p:txBody>
          <a:bodyPr wrap="square" lIns="254" tIns="254" rIns="254" bIns="254" rtlCol="0" anchor="ctr">
            <a:normAutofit/>
          </a:bodyPr>
          <a:lstStyle/>
          <a:p>
            <a:pPr marL="0" indent="0">
              <a:buNone/>
            </a:pPr>
            <a:r>
              <a:rPr lang="en-US" sz="2400" b="1" dirty="0">
                <a:solidFill>
                  <a:srgbClr val="122421"/>
                </a:solidFill>
              </a:rPr>
              <a:t>“I have a headache and feel nauseous.”</a:t>
            </a:r>
            <a:endParaRPr lang="en-US" sz="2400" dirty="0"/>
          </a:p>
        </p:txBody>
      </p:sp>
      <p:sp>
        <p:nvSpPr>
          <p:cNvPr id="7" name="Text 4"/>
          <p:cNvSpPr/>
          <p:nvPr/>
        </p:nvSpPr>
        <p:spPr>
          <a:xfrm>
            <a:off x="5257800" y="2606040"/>
            <a:ext cx="2788920" cy="123444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What happened</a:t>
            </a:r>
            <a:endParaRPr lang="en-US" sz="1320" dirty="0"/>
          </a:p>
          <a:p>
            <a:pPr marL="0" indent="0">
              <a:buNone/>
            </a:pPr>
            <a:r>
              <a:rPr lang="en-US" sz="1320" dirty="0">
                <a:solidFill>
                  <a:srgbClr val="52645F"/>
                </a:solidFill>
              </a:rPr>
              <a:t>The PCP agent repeatedly announced Gastroenterology and Neurology support.</a:t>
            </a:r>
            <a:endParaRPr lang="en-US" sz="1320" dirty="0"/>
          </a:p>
        </p:txBody>
      </p:sp>
      <p:sp>
        <p:nvSpPr>
          <p:cNvPr id="8" name="Text 5"/>
          <p:cNvSpPr/>
          <p:nvPr/>
        </p:nvSpPr>
        <p:spPr>
          <a:xfrm>
            <a:off x="5385816" y="2715768"/>
            <a:ext cx="253288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What happened</a:t>
            </a:r>
            <a:endParaRPr lang="en-US" sz="1230" dirty="0"/>
          </a:p>
        </p:txBody>
      </p:sp>
      <p:sp>
        <p:nvSpPr>
          <p:cNvPr id="9" name="Text 6"/>
          <p:cNvSpPr/>
          <p:nvPr/>
        </p:nvSpPr>
        <p:spPr>
          <a:xfrm>
            <a:off x="8366760" y="2606040"/>
            <a:ext cx="2788920" cy="123444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What was missing</a:t>
            </a:r>
            <a:endParaRPr lang="en-US" sz="1320" dirty="0"/>
          </a:p>
          <a:p>
            <a:pPr marL="0" indent="0">
              <a:buNone/>
            </a:pPr>
            <a:r>
              <a:rPr lang="en-US" sz="1320" dirty="0">
                <a:solidFill>
                  <a:srgbClr val="52645F"/>
                </a:solidFill>
              </a:rPr>
              <a:t>Structured intake before routing and clear context transfer.</a:t>
            </a:r>
            <a:endParaRPr lang="en-US" sz="1320" dirty="0"/>
          </a:p>
        </p:txBody>
      </p:sp>
      <p:sp>
        <p:nvSpPr>
          <p:cNvPr id="10" name="Text 7"/>
          <p:cNvSpPr/>
          <p:nvPr/>
        </p:nvSpPr>
        <p:spPr>
          <a:xfrm>
            <a:off x="8494776" y="2715768"/>
            <a:ext cx="253288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What was missing</a:t>
            </a:r>
            <a:endParaRPr lang="en-US" sz="1230" dirty="0"/>
          </a:p>
        </p:txBody>
      </p:sp>
      <p:sp>
        <p:nvSpPr>
          <p:cNvPr id="11" name="Shape 8"/>
          <p:cNvSpPr/>
          <p:nvPr/>
        </p:nvSpPr>
        <p:spPr>
          <a:xfrm>
            <a:off x="5257800" y="4480560"/>
            <a:ext cx="5897880" cy="676656"/>
          </a:xfrm>
          <a:prstGeom prst="rect">
            <a:avLst/>
          </a:prstGeom>
          <a:solidFill>
            <a:srgbClr val="FBEDEA"/>
          </a:solidFill>
          <a:ln w="12700">
            <a:solidFill>
              <a:srgbClr val="F4C6BF"/>
            </a:solidFill>
            <a:prstDash val="solid"/>
          </a:ln>
        </p:spPr>
        <p:txBody>
          <a:bodyPr/>
          <a:lstStyle/>
          <a:p>
            <a:endParaRPr lang="en-US"/>
          </a:p>
        </p:txBody>
      </p:sp>
      <p:sp>
        <p:nvSpPr>
          <p:cNvPr id="12" name="Text 9"/>
          <p:cNvSpPr/>
          <p:nvPr/>
        </p:nvSpPr>
        <p:spPr>
          <a:xfrm>
            <a:off x="5532120" y="4672584"/>
            <a:ext cx="5394960" cy="274320"/>
          </a:xfrm>
          <a:prstGeom prst="rect">
            <a:avLst/>
          </a:prstGeom>
          <a:noFill/>
          <a:ln/>
        </p:spPr>
        <p:txBody>
          <a:bodyPr wrap="square" lIns="254" tIns="254" rIns="254" bIns="254" rtlCol="0" anchor="ctr">
            <a:normAutofit/>
          </a:bodyPr>
          <a:lstStyle/>
          <a:p>
            <a:pPr marL="0" indent="0">
              <a:buNone/>
            </a:pPr>
            <a:r>
              <a:rPr lang="en-US" sz="1600" b="1" dirty="0">
                <a:solidFill>
                  <a:srgbClr val="A13B38"/>
                </a:solidFill>
              </a:rPr>
              <a:t>The safety disclaimer was correct. The workflow behavior was wrong.</a:t>
            </a:r>
            <a:endParaRPr lang="en-US" sz="160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The gap between routing and reasoning</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The agent looked coordinated, but the workflow did not prove understanding.</a:t>
            </a:r>
            <a:endParaRPr lang="en-US" sz="1150" dirty="0"/>
          </a:p>
        </p:txBody>
      </p:sp>
      <p:sp>
        <p:nvSpPr>
          <p:cNvPr id="4" name="Text 2"/>
          <p:cNvSpPr/>
          <p:nvPr/>
        </p:nvSpPr>
        <p:spPr>
          <a:xfrm>
            <a:off x="777240" y="1417320"/>
            <a:ext cx="3063240" cy="1298448"/>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1. Routing was too loose</a:t>
            </a:r>
            <a:endParaRPr lang="en-US" sz="1320" dirty="0"/>
          </a:p>
          <a:p>
            <a:pPr marL="0" indent="0">
              <a:buNone/>
            </a:pPr>
            <a:r>
              <a:rPr lang="en-US" sz="1320" dirty="0">
                <a:solidFill>
                  <a:srgbClr val="52645F"/>
                </a:solidFill>
              </a:rPr>
              <a:t>Specialists were involved before enough context was gathered.</a:t>
            </a:r>
            <a:endParaRPr lang="en-US" sz="1320" dirty="0"/>
          </a:p>
        </p:txBody>
      </p:sp>
      <p:sp>
        <p:nvSpPr>
          <p:cNvPr id="5" name="Text 3"/>
          <p:cNvSpPr/>
          <p:nvPr/>
        </p:nvSpPr>
        <p:spPr>
          <a:xfrm>
            <a:off x="905256" y="1527048"/>
            <a:ext cx="280720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1. Routing was too loose</a:t>
            </a:r>
            <a:endParaRPr lang="en-US" sz="1230" dirty="0"/>
          </a:p>
        </p:txBody>
      </p:sp>
      <p:sp>
        <p:nvSpPr>
          <p:cNvPr id="6" name="Text 4"/>
          <p:cNvSpPr/>
          <p:nvPr/>
        </p:nvSpPr>
        <p:spPr>
          <a:xfrm>
            <a:off x="4526280" y="1417320"/>
            <a:ext cx="3063240" cy="1298448"/>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2. Handoff was not controlled</a:t>
            </a:r>
            <a:endParaRPr lang="en-US" sz="1320" dirty="0"/>
          </a:p>
          <a:p>
            <a:pPr marL="0" indent="0">
              <a:buNone/>
            </a:pPr>
            <a:r>
              <a:rPr lang="en-US" sz="1320" dirty="0">
                <a:solidFill>
                  <a:srgbClr val="52645F"/>
                </a:solidFill>
              </a:rPr>
              <a:t>The workflow did not show what was passed to each domain agent.</a:t>
            </a:r>
            <a:endParaRPr lang="en-US" sz="1320" dirty="0"/>
          </a:p>
        </p:txBody>
      </p:sp>
      <p:sp>
        <p:nvSpPr>
          <p:cNvPr id="7" name="Text 5"/>
          <p:cNvSpPr/>
          <p:nvPr/>
        </p:nvSpPr>
        <p:spPr>
          <a:xfrm>
            <a:off x="4654296" y="1527048"/>
            <a:ext cx="280720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2. Handoff was not controlled</a:t>
            </a:r>
            <a:endParaRPr lang="en-US" sz="1230" dirty="0"/>
          </a:p>
        </p:txBody>
      </p:sp>
      <p:sp>
        <p:nvSpPr>
          <p:cNvPr id="8" name="Text 6"/>
          <p:cNvSpPr/>
          <p:nvPr/>
        </p:nvSpPr>
        <p:spPr>
          <a:xfrm>
            <a:off x="8275320" y="1417320"/>
            <a:ext cx="3063240" cy="1298448"/>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3. Next step drifted</a:t>
            </a:r>
            <a:endParaRPr lang="en-US" sz="1320" dirty="0"/>
          </a:p>
          <a:p>
            <a:pPr marL="0" indent="0">
              <a:buNone/>
            </a:pPr>
            <a:r>
              <a:rPr lang="en-US" sz="1320" dirty="0">
                <a:solidFill>
                  <a:srgbClr val="52645F"/>
                </a:solidFill>
              </a:rPr>
              <a:t>The path from intake to follow-up to summary was not deterministic.</a:t>
            </a:r>
            <a:endParaRPr lang="en-US" sz="1320" dirty="0"/>
          </a:p>
        </p:txBody>
      </p:sp>
      <p:sp>
        <p:nvSpPr>
          <p:cNvPr id="9" name="Text 7"/>
          <p:cNvSpPr/>
          <p:nvPr/>
        </p:nvSpPr>
        <p:spPr>
          <a:xfrm>
            <a:off x="8403336" y="1527048"/>
            <a:ext cx="280720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3. Next step drifted</a:t>
            </a:r>
            <a:endParaRPr lang="en-US" sz="1230" dirty="0"/>
          </a:p>
        </p:txBody>
      </p:sp>
      <p:sp>
        <p:nvSpPr>
          <p:cNvPr id="10" name="Text 8"/>
          <p:cNvSpPr/>
          <p:nvPr/>
        </p:nvSpPr>
        <p:spPr>
          <a:xfrm>
            <a:off x="777240" y="3639312"/>
            <a:ext cx="3931920" cy="301752"/>
          </a:xfrm>
          <a:prstGeom prst="rect">
            <a:avLst/>
          </a:prstGeom>
          <a:noFill/>
          <a:ln/>
        </p:spPr>
        <p:txBody>
          <a:bodyPr wrap="square" lIns="0" tIns="0" rIns="0" bIns="0" rtlCol="0" anchor="ctr"/>
          <a:lstStyle/>
          <a:p>
            <a:pPr marL="0" indent="0">
              <a:buNone/>
            </a:pPr>
            <a:r>
              <a:rPr lang="en-US" sz="1900" b="1" dirty="0">
                <a:solidFill>
                  <a:srgbClr val="122421"/>
                </a:solidFill>
              </a:rPr>
              <a:t>What should have happened first</a:t>
            </a:r>
            <a:endParaRPr lang="en-US" sz="1900" dirty="0"/>
          </a:p>
        </p:txBody>
      </p:sp>
      <p:sp>
        <p:nvSpPr>
          <p:cNvPr id="11" name="Text 9"/>
          <p:cNvSpPr/>
          <p:nvPr/>
        </p:nvSpPr>
        <p:spPr>
          <a:xfrm>
            <a:off x="868680" y="4133088"/>
            <a:ext cx="4937760" cy="1234440"/>
          </a:xfrm>
          <a:prstGeom prst="rect">
            <a:avLst/>
          </a:prstGeom>
          <a:noFill/>
          <a:ln/>
        </p:spPr>
        <p:txBody>
          <a:bodyPr wrap="square" lIns="1016" tIns="1016" rIns="1016" bIns="1016" rtlCol="0" anchor="ctr">
            <a:normAutofit/>
          </a:bodyPr>
          <a:lstStyle/>
          <a:p>
            <a:r>
              <a:rPr lang="en-US" sz="1420" dirty="0">
                <a:solidFill>
                  <a:srgbClr val="122421"/>
                </a:solidFill>
              </a:rPr>
              <a:t>When did symptoms begin?</a:t>
            </a:r>
            <a:endParaRPr lang="en-US" sz="1420" dirty="0"/>
          </a:p>
          <a:p>
            <a:r>
              <a:rPr lang="en-US" sz="1420" dirty="0">
                <a:solidFill>
                  <a:srgbClr val="122421"/>
                </a:solidFill>
              </a:rPr>
              <a:t>How severe are they?</a:t>
            </a:r>
            <a:endParaRPr lang="en-US" sz="1420" dirty="0"/>
          </a:p>
          <a:p>
            <a:r>
              <a:rPr lang="en-US" sz="1420" dirty="0">
                <a:solidFill>
                  <a:srgbClr val="122421"/>
                </a:solidFill>
              </a:rPr>
              <a:t>What changed?</a:t>
            </a:r>
            <a:endParaRPr lang="en-US" sz="1420" dirty="0"/>
          </a:p>
          <a:p>
            <a:r>
              <a:rPr lang="en-US" sz="1420" dirty="0">
                <a:solidFill>
                  <a:srgbClr val="122421"/>
                </a:solidFill>
              </a:rPr>
              <a:t>What warning signs need escalation?</a:t>
            </a:r>
            <a:endParaRPr lang="en-US" sz="1420" dirty="0"/>
          </a:p>
          <a:p>
            <a:r>
              <a:rPr lang="en-US" sz="1420" dirty="0">
                <a:solidFill>
                  <a:srgbClr val="122421"/>
                </a:solidFill>
              </a:rPr>
              <a:t>What context is required before routing?</a:t>
            </a:r>
            <a:endParaRPr lang="en-US" sz="1420" dirty="0"/>
          </a:p>
        </p:txBody>
      </p:sp>
      <p:sp>
        <p:nvSpPr>
          <p:cNvPr id="12" name="Text 10"/>
          <p:cNvSpPr/>
          <p:nvPr/>
        </p:nvSpPr>
        <p:spPr>
          <a:xfrm>
            <a:off x="6400800" y="3767328"/>
            <a:ext cx="1828800" cy="219456"/>
          </a:xfrm>
          <a:prstGeom prst="rect">
            <a:avLst/>
          </a:prstGeom>
          <a:noFill/>
          <a:ln/>
        </p:spPr>
        <p:txBody>
          <a:bodyPr wrap="square" lIns="0" tIns="0" rIns="0" bIns="0" rtlCol="0" anchor="ctr"/>
          <a:lstStyle/>
          <a:p>
            <a:pPr marL="0" indent="0">
              <a:buNone/>
            </a:pPr>
            <a:r>
              <a:rPr lang="en-US" sz="1200" b="1" dirty="0">
                <a:solidFill>
                  <a:srgbClr val="0C5E57"/>
                </a:solidFill>
              </a:rPr>
              <a:t>Design lesson</a:t>
            </a:r>
            <a:endParaRPr lang="en-US" sz="1200" dirty="0"/>
          </a:p>
        </p:txBody>
      </p:sp>
      <p:sp>
        <p:nvSpPr>
          <p:cNvPr id="13" name="Text 11"/>
          <p:cNvSpPr/>
          <p:nvPr/>
        </p:nvSpPr>
        <p:spPr>
          <a:xfrm>
            <a:off x="6400800" y="4133088"/>
            <a:ext cx="4800600" cy="640080"/>
          </a:xfrm>
          <a:prstGeom prst="rect">
            <a:avLst/>
          </a:prstGeom>
          <a:noFill/>
          <a:ln/>
        </p:spPr>
        <p:txBody>
          <a:bodyPr wrap="square" lIns="254" tIns="254" rIns="254" bIns="254" rtlCol="0" anchor="ctr">
            <a:normAutofit/>
          </a:bodyPr>
          <a:lstStyle/>
          <a:p>
            <a:pPr marL="0" indent="0">
              <a:buNone/>
            </a:pPr>
            <a:r>
              <a:rPr lang="en-US" sz="2100" b="1" dirty="0">
                <a:solidFill>
                  <a:srgbClr val="122421"/>
                </a:solidFill>
              </a:rPr>
              <a:t>Observability tells us what happened. Governance must define what should happen.</a:t>
            </a:r>
            <a:endParaRPr lang="en-US" sz="210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Reference architecture</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PCP orchestrator, bounded specialist agents, MCP gateway, systems of record, and clinician review.</a:t>
            </a:r>
            <a:endParaRPr lang="en-US" sz="1150" dirty="0"/>
          </a:p>
        </p:txBody>
      </p:sp>
      <p:sp>
        <p:nvSpPr>
          <p:cNvPr id="4" name="Shape 2"/>
          <p:cNvSpPr/>
          <p:nvPr/>
        </p:nvSpPr>
        <p:spPr>
          <a:xfrm>
            <a:off x="1444752" y="3017520"/>
            <a:ext cx="475488" cy="0"/>
          </a:xfrm>
          <a:prstGeom prst="line">
            <a:avLst/>
          </a:prstGeom>
          <a:noFill/>
          <a:ln w="15240">
            <a:solidFill>
              <a:srgbClr val="66807A"/>
            </a:solidFill>
            <a:prstDash val="solid"/>
            <a:headEnd type="none"/>
            <a:tailEnd type="triangle"/>
          </a:ln>
        </p:spPr>
        <p:txBody>
          <a:bodyPr/>
          <a:lstStyle/>
          <a:p>
            <a:endParaRPr lang="en-US"/>
          </a:p>
        </p:txBody>
      </p:sp>
      <p:sp>
        <p:nvSpPr>
          <p:cNvPr id="5" name="Shape 3"/>
          <p:cNvSpPr/>
          <p:nvPr/>
        </p:nvSpPr>
        <p:spPr>
          <a:xfrm>
            <a:off x="3108960" y="3017520"/>
            <a:ext cx="438912" cy="0"/>
          </a:xfrm>
          <a:prstGeom prst="line">
            <a:avLst/>
          </a:prstGeom>
          <a:noFill/>
          <a:ln w="15240">
            <a:solidFill>
              <a:srgbClr val="66807A"/>
            </a:solidFill>
            <a:prstDash val="solid"/>
            <a:headEnd type="none"/>
            <a:tailEnd type="triangle"/>
          </a:ln>
        </p:spPr>
        <p:txBody>
          <a:bodyPr/>
          <a:lstStyle/>
          <a:p>
            <a:endParaRPr lang="en-US"/>
          </a:p>
        </p:txBody>
      </p:sp>
      <p:sp>
        <p:nvSpPr>
          <p:cNvPr id="6" name="Shape 4"/>
          <p:cNvSpPr/>
          <p:nvPr/>
        </p:nvSpPr>
        <p:spPr>
          <a:xfrm>
            <a:off x="4919472" y="2176272"/>
            <a:ext cx="429768" cy="0"/>
          </a:xfrm>
          <a:prstGeom prst="line">
            <a:avLst/>
          </a:prstGeom>
          <a:noFill/>
          <a:ln w="15240">
            <a:solidFill>
              <a:srgbClr val="66807A"/>
            </a:solidFill>
            <a:prstDash val="solid"/>
            <a:headEnd type="none"/>
            <a:tailEnd type="triangle"/>
          </a:ln>
        </p:spPr>
        <p:txBody>
          <a:bodyPr/>
          <a:lstStyle/>
          <a:p>
            <a:endParaRPr lang="en-US"/>
          </a:p>
        </p:txBody>
      </p:sp>
      <p:sp>
        <p:nvSpPr>
          <p:cNvPr id="7" name="Shape 5"/>
          <p:cNvSpPr/>
          <p:nvPr/>
        </p:nvSpPr>
        <p:spPr>
          <a:xfrm>
            <a:off x="4919472" y="3017520"/>
            <a:ext cx="429768" cy="0"/>
          </a:xfrm>
          <a:prstGeom prst="line">
            <a:avLst/>
          </a:prstGeom>
          <a:noFill/>
          <a:ln w="15240">
            <a:solidFill>
              <a:srgbClr val="66807A"/>
            </a:solidFill>
            <a:prstDash val="solid"/>
            <a:headEnd type="none"/>
            <a:tailEnd type="triangle"/>
          </a:ln>
        </p:spPr>
        <p:txBody>
          <a:bodyPr/>
          <a:lstStyle/>
          <a:p>
            <a:endParaRPr lang="en-US"/>
          </a:p>
        </p:txBody>
      </p:sp>
      <p:sp>
        <p:nvSpPr>
          <p:cNvPr id="8" name="Shape 6"/>
          <p:cNvSpPr/>
          <p:nvPr/>
        </p:nvSpPr>
        <p:spPr>
          <a:xfrm>
            <a:off x="4919472" y="3858768"/>
            <a:ext cx="429768" cy="603504"/>
          </a:xfrm>
          <a:prstGeom prst="line">
            <a:avLst/>
          </a:prstGeom>
          <a:noFill/>
          <a:ln w="15240">
            <a:solidFill>
              <a:srgbClr val="66807A"/>
            </a:solidFill>
            <a:prstDash val="solid"/>
            <a:headEnd type="none"/>
            <a:tailEnd type="triangle"/>
          </a:ln>
        </p:spPr>
        <p:txBody>
          <a:bodyPr/>
          <a:lstStyle/>
          <a:p>
            <a:endParaRPr lang="en-US"/>
          </a:p>
        </p:txBody>
      </p:sp>
      <p:sp>
        <p:nvSpPr>
          <p:cNvPr id="9" name="Shape 7"/>
          <p:cNvSpPr/>
          <p:nvPr/>
        </p:nvSpPr>
        <p:spPr>
          <a:xfrm>
            <a:off x="6537960" y="1572768"/>
            <a:ext cx="502920" cy="1005840"/>
          </a:xfrm>
          <a:prstGeom prst="line">
            <a:avLst/>
          </a:prstGeom>
          <a:noFill/>
          <a:ln w="15240">
            <a:solidFill>
              <a:srgbClr val="66807A"/>
            </a:solidFill>
            <a:prstDash val="solid"/>
            <a:headEnd type="none"/>
            <a:tailEnd type="triangle"/>
          </a:ln>
        </p:spPr>
        <p:txBody>
          <a:bodyPr/>
          <a:lstStyle/>
          <a:p>
            <a:endParaRPr lang="en-US"/>
          </a:p>
        </p:txBody>
      </p:sp>
      <p:sp>
        <p:nvSpPr>
          <p:cNvPr id="10" name="Shape 8"/>
          <p:cNvSpPr/>
          <p:nvPr/>
        </p:nvSpPr>
        <p:spPr>
          <a:xfrm>
            <a:off x="6537960" y="3017520"/>
            <a:ext cx="502920" cy="0"/>
          </a:xfrm>
          <a:prstGeom prst="line">
            <a:avLst/>
          </a:prstGeom>
          <a:noFill/>
          <a:ln w="15240">
            <a:solidFill>
              <a:srgbClr val="66807A"/>
            </a:solidFill>
            <a:prstDash val="solid"/>
            <a:headEnd type="none"/>
            <a:tailEnd type="triangle"/>
          </a:ln>
        </p:spPr>
        <p:txBody>
          <a:bodyPr/>
          <a:lstStyle/>
          <a:p>
            <a:endParaRPr lang="en-US"/>
          </a:p>
        </p:txBody>
      </p:sp>
      <p:sp>
        <p:nvSpPr>
          <p:cNvPr id="11" name="Shape 9"/>
          <p:cNvSpPr/>
          <p:nvPr/>
        </p:nvSpPr>
        <p:spPr>
          <a:xfrm>
            <a:off x="6537960" y="4462272"/>
            <a:ext cx="502920" cy="0"/>
          </a:xfrm>
          <a:prstGeom prst="line">
            <a:avLst/>
          </a:prstGeom>
          <a:noFill/>
          <a:ln w="15240">
            <a:solidFill>
              <a:srgbClr val="66807A"/>
            </a:solidFill>
            <a:prstDash val="solid"/>
            <a:headEnd type="none"/>
            <a:tailEnd type="triangle"/>
          </a:ln>
        </p:spPr>
        <p:txBody>
          <a:bodyPr/>
          <a:lstStyle/>
          <a:p>
            <a:endParaRPr lang="en-US"/>
          </a:p>
        </p:txBody>
      </p:sp>
      <p:sp>
        <p:nvSpPr>
          <p:cNvPr id="12" name="Shape 10"/>
          <p:cNvSpPr/>
          <p:nvPr/>
        </p:nvSpPr>
        <p:spPr>
          <a:xfrm>
            <a:off x="8458200" y="3017520"/>
            <a:ext cx="521208" cy="0"/>
          </a:xfrm>
          <a:prstGeom prst="line">
            <a:avLst/>
          </a:prstGeom>
          <a:noFill/>
          <a:ln w="15240">
            <a:solidFill>
              <a:srgbClr val="66807A"/>
            </a:solidFill>
            <a:prstDash val="solid"/>
            <a:headEnd type="none"/>
            <a:tailEnd type="triangle"/>
          </a:ln>
        </p:spPr>
        <p:txBody>
          <a:bodyPr/>
          <a:lstStyle/>
          <a:p>
            <a:endParaRPr lang="en-US"/>
          </a:p>
        </p:txBody>
      </p:sp>
      <p:sp>
        <p:nvSpPr>
          <p:cNvPr id="13" name="Shape 11"/>
          <p:cNvSpPr/>
          <p:nvPr/>
        </p:nvSpPr>
        <p:spPr>
          <a:xfrm>
            <a:off x="8458200" y="3017520"/>
            <a:ext cx="521208" cy="0"/>
          </a:xfrm>
          <a:prstGeom prst="line">
            <a:avLst/>
          </a:prstGeom>
          <a:noFill/>
          <a:ln w="15240">
            <a:solidFill>
              <a:srgbClr val="66807A"/>
            </a:solidFill>
            <a:prstDash val="solid"/>
            <a:headEnd type="none"/>
            <a:tailEnd type="triangle"/>
          </a:ln>
        </p:spPr>
        <p:txBody>
          <a:bodyPr/>
          <a:lstStyle/>
          <a:p>
            <a:endParaRPr lang="en-US"/>
          </a:p>
        </p:txBody>
      </p:sp>
      <p:sp>
        <p:nvSpPr>
          <p:cNvPr id="14" name="Shape 12"/>
          <p:cNvSpPr/>
          <p:nvPr/>
        </p:nvSpPr>
        <p:spPr>
          <a:xfrm>
            <a:off x="8458200" y="3017520"/>
            <a:ext cx="521208" cy="1097280"/>
          </a:xfrm>
          <a:prstGeom prst="line">
            <a:avLst/>
          </a:prstGeom>
          <a:noFill/>
          <a:ln w="15240">
            <a:solidFill>
              <a:srgbClr val="66807A"/>
            </a:solidFill>
            <a:prstDash val="solid"/>
            <a:headEnd type="none"/>
            <a:tailEnd type="triangle"/>
          </a:ln>
        </p:spPr>
        <p:txBody>
          <a:bodyPr/>
          <a:lstStyle/>
          <a:p>
            <a:endParaRPr lang="en-US"/>
          </a:p>
        </p:txBody>
      </p:sp>
      <p:sp>
        <p:nvSpPr>
          <p:cNvPr id="15" name="Text 13"/>
          <p:cNvSpPr/>
          <p:nvPr/>
        </p:nvSpPr>
        <p:spPr>
          <a:xfrm>
            <a:off x="502920" y="2670048"/>
            <a:ext cx="941832" cy="566928"/>
          </a:xfrm>
          <a:prstGeom prst="rect">
            <a:avLst/>
          </a:prstGeom>
          <a:solidFill>
            <a:srgbClr val="FFFFFF"/>
          </a:solidFill>
          <a:ln>
            <a:solidFill>
              <a:srgbClr val="BFD7D1"/>
            </a:solidFill>
          </a:ln>
        </p:spPr>
        <p:txBody>
          <a:bodyPr wrap="square" lIns="254" tIns="254" rIns="254" bIns="254" rtlCol="0" anchor="ctr">
            <a:normAutofit/>
          </a:bodyPr>
          <a:lstStyle/>
          <a:p>
            <a:pPr marL="0" indent="0" algn="ctr">
              <a:buNone/>
            </a:pPr>
            <a:r>
              <a:rPr lang="en-US" sz="1220" b="1" dirty="0">
                <a:solidFill>
                  <a:srgbClr val="122421"/>
                </a:solidFill>
              </a:rPr>
              <a:t>Patient</a:t>
            </a:r>
            <a:endParaRPr lang="en-US" sz="1220" dirty="0"/>
          </a:p>
          <a:p>
            <a:pPr marL="0" indent="0" algn="ctr">
              <a:buNone/>
            </a:pPr>
            <a:r>
              <a:rPr lang="en-US" sz="1220" b="1" dirty="0">
                <a:solidFill>
                  <a:srgbClr val="122421"/>
                </a:solidFill>
              </a:rPr>
              <a:t>concern</a:t>
            </a:r>
            <a:endParaRPr lang="en-US" sz="1220" dirty="0"/>
          </a:p>
        </p:txBody>
      </p:sp>
      <p:sp>
        <p:nvSpPr>
          <p:cNvPr id="16" name="Text 14"/>
          <p:cNvSpPr/>
          <p:nvPr/>
        </p:nvSpPr>
        <p:spPr>
          <a:xfrm>
            <a:off x="1920240" y="2651760"/>
            <a:ext cx="1170432" cy="621792"/>
          </a:xfrm>
          <a:prstGeom prst="rect">
            <a:avLst/>
          </a:prstGeom>
          <a:solidFill>
            <a:srgbClr val="FFFFFF"/>
          </a:solidFill>
          <a:ln>
            <a:solidFill>
              <a:srgbClr val="BFD7D1"/>
            </a:solidFill>
          </a:ln>
        </p:spPr>
        <p:txBody>
          <a:bodyPr wrap="square" lIns="254" tIns="254" rIns="254" bIns="254" rtlCol="0" anchor="ctr">
            <a:normAutofit/>
          </a:bodyPr>
          <a:lstStyle/>
          <a:p>
            <a:pPr marL="0" indent="0" algn="ctr">
              <a:buNone/>
            </a:pPr>
            <a:r>
              <a:rPr lang="en-US" sz="1230" b="1" dirty="0">
                <a:solidFill>
                  <a:srgbClr val="122421"/>
                </a:solidFill>
              </a:rPr>
              <a:t>Care Navigation</a:t>
            </a:r>
            <a:endParaRPr lang="en-US" sz="1230" dirty="0"/>
          </a:p>
          <a:p>
            <a:pPr marL="0" indent="0" algn="ctr">
              <a:buNone/>
            </a:pPr>
            <a:r>
              <a:rPr lang="en-US" sz="1230" b="1" dirty="0">
                <a:solidFill>
                  <a:srgbClr val="122421"/>
                </a:solidFill>
              </a:rPr>
              <a:t>Chat</a:t>
            </a:r>
            <a:endParaRPr lang="en-US" sz="1230" dirty="0"/>
          </a:p>
        </p:txBody>
      </p:sp>
      <p:sp>
        <p:nvSpPr>
          <p:cNvPr id="17" name="Text 15"/>
          <p:cNvSpPr/>
          <p:nvPr/>
        </p:nvSpPr>
        <p:spPr>
          <a:xfrm>
            <a:off x="3547872" y="1938528"/>
            <a:ext cx="1353312" cy="2148840"/>
          </a:xfrm>
          <a:prstGeom prst="rect">
            <a:avLst/>
          </a:prstGeom>
          <a:solidFill>
            <a:srgbClr val="F0F7F4"/>
          </a:solidFill>
          <a:ln>
            <a:solidFill>
              <a:srgbClr val="08796D"/>
            </a:solidFill>
          </a:ln>
        </p:spPr>
        <p:txBody>
          <a:bodyPr wrap="square" lIns="508" tIns="508" rIns="508" bIns="508" rtlCol="0" anchor="ctr">
            <a:normAutofit/>
          </a:bodyPr>
          <a:lstStyle/>
          <a:p>
            <a:pPr marL="0" indent="0" algn="ctr">
              <a:buNone/>
            </a:pPr>
            <a:r>
              <a:rPr lang="en-US" sz="1120" b="1" dirty="0">
                <a:solidFill>
                  <a:srgbClr val="122421"/>
                </a:solidFill>
              </a:rPr>
              <a:t>PCP Agent</a:t>
            </a:r>
            <a:endParaRPr lang="en-US" sz="1120" dirty="0"/>
          </a:p>
          <a:p>
            <a:pPr marL="0" indent="0" algn="ctr">
              <a:buNone/>
            </a:pPr>
            <a:r>
              <a:rPr lang="en-US" sz="1120" b="1" dirty="0">
                <a:solidFill>
                  <a:srgbClr val="122421"/>
                </a:solidFill>
              </a:rPr>
              <a:t>Orchestrator</a:t>
            </a:r>
            <a:endParaRPr lang="en-US" sz="1120" dirty="0"/>
          </a:p>
          <a:p>
            <a:pPr marL="0" indent="0" algn="ctr">
              <a:buNone/>
            </a:pPr>
            <a:endParaRPr lang="en-US" sz="1120" dirty="0"/>
          </a:p>
          <a:p>
            <a:pPr marL="0" indent="0" algn="ctr">
              <a:buNone/>
            </a:pPr>
            <a:r>
              <a:rPr lang="en-US" sz="1120" b="1" dirty="0">
                <a:solidFill>
                  <a:srgbClr val="122421"/>
                </a:solidFill>
              </a:rPr>
              <a:t>Intake</a:t>
            </a:r>
            <a:endParaRPr lang="en-US" sz="1120" dirty="0"/>
          </a:p>
          <a:p>
            <a:pPr marL="0" indent="0" algn="ctr">
              <a:buNone/>
            </a:pPr>
            <a:r>
              <a:rPr lang="en-US" sz="1120" b="1" dirty="0">
                <a:solidFill>
                  <a:srgbClr val="122421"/>
                </a:solidFill>
              </a:rPr>
              <a:t>Context</a:t>
            </a:r>
            <a:endParaRPr lang="en-US" sz="1120" dirty="0"/>
          </a:p>
          <a:p>
            <a:pPr marL="0" indent="0" algn="ctr">
              <a:buNone/>
            </a:pPr>
            <a:r>
              <a:rPr lang="en-US" sz="1120" b="1" dirty="0">
                <a:solidFill>
                  <a:srgbClr val="122421"/>
                </a:solidFill>
              </a:rPr>
              <a:t>Routing</a:t>
            </a:r>
            <a:endParaRPr lang="en-US" sz="1120" dirty="0"/>
          </a:p>
          <a:p>
            <a:pPr marL="0" indent="0" algn="ctr">
              <a:buNone/>
            </a:pPr>
            <a:r>
              <a:rPr lang="en-US" sz="1120" b="1" dirty="0">
                <a:solidFill>
                  <a:srgbClr val="122421"/>
                </a:solidFill>
              </a:rPr>
              <a:t>Summary</a:t>
            </a:r>
            <a:endParaRPr lang="en-US" sz="1120" dirty="0"/>
          </a:p>
        </p:txBody>
      </p:sp>
      <p:sp>
        <p:nvSpPr>
          <p:cNvPr id="18" name="Text 16"/>
          <p:cNvSpPr/>
          <p:nvPr/>
        </p:nvSpPr>
        <p:spPr>
          <a:xfrm>
            <a:off x="5349240" y="1234440"/>
            <a:ext cx="1188720" cy="658368"/>
          </a:xfrm>
          <a:prstGeom prst="rect">
            <a:avLst/>
          </a:prstGeom>
          <a:solidFill>
            <a:srgbClr val="FFFFFF"/>
          </a:solidFill>
          <a:ln>
            <a:solidFill>
              <a:srgbClr val="08796D"/>
            </a:solidFill>
          </a:ln>
        </p:spPr>
        <p:txBody>
          <a:bodyPr wrap="square" lIns="508" tIns="508" rIns="508" bIns="508" rtlCol="0" anchor="ctr"/>
          <a:lstStyle/>
          <a:p>
            <a:pPr marL="0" indent="0" algn="ctr">
              <a:buNone/>
            </a:pPr>
            <a:r>
              <a:rPr lang="en-US" sz="1220" b="1" dirty="0">
                <a:solidFill>
                  <a:srgbClr val="122421"/>
                </a:solidFill>
              </a:rPr>
              <a:t>Neurology</a:t>
            </a:r>
            <a:endParaRPr lang="en-US" sz="1220" dirty="0"/>
          </a:p>
          <a:p>
            <a:pPr marL="0" indent="0" algn="ctr">
              <a:buNone/>
            </a:pPr>
            <a:r>
              <a:rPr lang="en-US" sz="1220" b="1" dirty="0">
                <a:solidFill>
                  <a:srgbClr val="122421"/>
                </a:solidFill>
              </a:rPr>
              <a:t>Agent</a:t>
            </a:r>
            <a:endParaRPr lang="en-US" sz="1220" dirty="0"/>
          </a:p>
        </p:txBody>
      </p:sp>
      <p:sp>
        <p:nvSpPr>
          <p:cNvPr id="19" name="Text 17"/>
          <p:cNvSpPr/>
          <p:nvPr/>
        </p:nvSpPr>
        <p:spPr>
          <a:xfrm>
            <a:off x="5349240" y="2688336"/>
            <a:ext cx="1188720" cy="658368"/>
          </a:xfrm>
          <a:prstGeom prst="rect">
            <a:avLst/>
          </a:prstGeom>
          <a:solidFill>
            <a:srgbClr val="FFFFFF"/>
          </a:solidFill>
          <a:ln>
            <a:solidFill>
              <a:srgbClr val="08796D"/>
            </a:solidFill>
          </a:ln>
        </p:spPr>
        <p:txBody>
          <a:bodyPr wrap="square" lIns="508" tIns="508" rIns="508" bIns="508" rtlCol="0" anchor="ctr"/>
          <a:lstStyle/>
          <a:p>
            <a:pPr marL="0" indent="0" algn="ctr">
              <a:buNone/>
            </a:pPr>
            <a:r>
              <a:rPr lang="en-US" sz="1220" b="1" dirty="0">
                <a:solidFill>
                  <a:srgbClr val="122421"/>
                </a:solidFill>
              </a:rPr>
              <a:t>GI</a:t>
            </a:r>
            <a:endParaRPr lang="en-US" sz="1220" dirty="0"/>
          </a:p>
          <a:p>
            <a:pPr marL="0" indent="0" algn="ctr">
              <a:buNone/>
            </a:pPr>
            <a:r>
              <a:rPr lang="en-US" sz="1220" b="1" dirty="0">
                <a:solidFill>
                  <a:srgbClr val="122421"/>
                </a:solidFill>
              </a:rPr>
              <a:t>Agent</a:t>
            </a:r>
            <a:endParaRPr lang="en-US" sz="1220" dirty="0"/>
          </a:p>
        </p:txBody>
      </p:sp>
      <p:sp>
        <p:nvSpPr>
          <p:cNvPr id="20" name="Text 18"/>
          <p:cNvSpPr/>
          <p:nvPr/>
        </p:nvSpPr>
        <p:spPr>
          <a:xfrm>
            <a:off x="5349240" y="4142232"/>
            <a:ext cx="1188720" cy="658368"/>
          </a:xfrm>
          <a:prstGeom prst="rect">
            <a:avLst/>
          </a:prstGeom>
          <a:solidFill>
            <a:srgbClr val="FFFFFF"/>
          </a:solidFill>
          <a:ln>
            <a:solidFill>
              <a:srgbClr val="08796D"/>
            </a:solidFill>
          </a:ln>
        </p:spPr>
        <p:txBody>
          <a:bodyPr wrap="square" lIns="508" tIns="508" rIns="508" bIns="508" rtlCol="0" anchor="ctr"/>
          <a:lstStyle/>
          <a:p>
            <a:pPr marL="0" indent="0" algn="ctr">
              <a:buNone/>
            </a:pPr>
            <a:r>
              <a:rPr lang="en-US" sz="1220" b="1" dirty="0">
                <a:solidFill>
                  <a:srgbClr val="122421"/>
                </a:solidFill>
              </a:rPr>
              <a:t>Other</a:t>
            </a:r>
            <a:endParaRPr lang="en-US" sz="1220" dirty="0"/>
          </a:p>
          <a:p>
            <a:pPr marL="0" indent="0" algn="ctr">
              <a:buNone/>
            </a:pPr>
            <a:r>
              <a:rPr lang="en-US" sz="1220" b="1" dirty="0">
                <a:solidFill>
                  <a:srgbClr val="122421"/>
                </a:solidFill>
              </a:rPr>
              <a:t>Specialists</a:t>
            </a:r>
            <a:endParaRPr lang="en-US" sz="1220" dirty="0"/>
          </a:p>
        </p:txBody>
      </p:sp>
      <p:sp>
        <p:nvSpPr>
          <p:cNvPr id="21" name="Text 19"/>
          <p:cNvSpPr/>
          <p:nvPr/>
        </p:nvSpPr>
        <p:spPr>
          <a:xfrm>
            <a:off x="7040880" y="2194560"/>
            <a:ext cx="1417320" cy="1627632"/>
          </a:xfrm>
          <a:prstGeom prst="rect">
            <a:avLst/>
          </a:prstGeom>
          <a:solidFill>
            <a:srgbClr val="F6FBFA"/>
          </a:solidFill>
          <a:ln>
            <a:solidFill>
              <a:srgbClr val="08796D"/>
            </a:solidFill>
          </a:ln>
        </p:spPr>
        <p:txBody>
          <a:bodyPr wrap="square" lIns="508" tIns="508" rIns="508" bIns="508" rtlCol="0" anchor="ctr">
            <a:normAutofit/>
          </a:bodyPr>
          <a:lstStyle/>
          <a:p>
            <a:pPr marL="0" indent="0" algn="ctr">
              <a:buNone/>
            </a:pPr>
            <a:r>
              <a:rPr lang="en-US" sz="1220" b="1" dirty="0">
                <a:solidFill>
                  <a:srgbClr val="122421"/>
                </a:solidFill>
              </a:rPr>
              <a:t>MCP</a:t>
            </a:r>
            <a:endParaRPr lang="en-US" sz="1220" dirty="0"/>
          </a:p>
          <a:p>
            <a:pPr marL="0" indent="0" algn="ctr">
              <a:buNone/>
            </a:pPr>
            <a:r>
              <a:rPr lang="en-US" sz="1220" b="1" dirty="0">
                <a:solidFill>
                  <a:srgbClr val="122421"/>
                </a:solidFill>
              </a:rPr>
              <a:t>Gateway</a:t>
            </a:r>
            <a:endParaRPr lang="en-US" sz="1220" dirty="0"/>
          </a:p>
          <a:p>
            <a:pPr marL="0" indent="0" algn="ctr">
              <a:buNone/>
            </a:pPr>
            <a:endParaRPr lang="en-US" sz="1220" dirty="0"/>
          </a:p>
          <a:p>
            <a:pPr marL="0" indent="0" algn="ctr">
              <a:buNone/>
            </a:pPr>
            <a:r>
              <a:rPr lang="en-US" sz="1220" b="1" dirty="0">
                <a:solidFill>
                  <a:srgbClr val="122421"/>
                </a:solidFill>
              </a:rPr>
              <a:t>Auth</a:t>
            </a:r>
            <a:endParaRPr lang="en-US" sz="1220" dirty="0"/>
          </a:p>
          <a:p>
            <a:pPr marL="0" indent="0" algn="ctr">
              <a:buNone/>
            </a:pPr>
            <a:r>
              <a:rPr lang="en-US" sz="1220" b="1" dirty="0">
                <a:solidFill>
                  <a:srgbClr val="122421"/>
                </a:solidFill>
              </a:rPr>
              <a:t>Policy</a:t>
            </a:r>
            <a:endParaRPr lang="en-US" sz="1220" dirty="0"/>
          </a:p>
          <a:p>
            <a:pPr marL="0" indent="0" algn="ctr">
              <a:buNone/>
            </a:pPr>
            <a:r>
              <a:rPr lang="en-US" sz="1220" b="1" dirty="0">
                <a:solidFill>
                  <a:srgbClr val="122421"/>
                </a:solidFill>
              </a:rPr>
              <a:t>Routing</a:t>
            </a:r>
            <a:endParaRPr lang="en-US" sz="1220" dirty="0"/>
          </a:p>
          <a:p>
            <a:pPr marL="0" indent="0" algn="ctr">
              <a:buNone/>
            </a:pPr>
            <a:r>
              <a:rPr lang="en-US" sz="1220" b="1" dirty="0">
                <a:solidFill>
                  <a:srgbClr val="122421"/>
                </a:solidFill>
              </a:rPr>
              <a:t>Audit</a:t>
            </a:r>
            <a:endParaRPr lang="en-US" sz="1220" dirty="0"/>
          </a:p>
        </p:txBody>
      </p:sp>
      <p:sp>
        <p:nvSpPr>
          <p:cNvPr id="22" name="Text 20"/>
          <p:cNvSpPr/>
          <p:nvPr/>
        </p:nvSpPr>
        <p:spPr>
          <a:xfrm>
            <a:off x="8979408" y="1325880"/>
            <a:ext cx="1481328" cy="3401568"/>
          </a:xfrm>
          <a:prstGeom prst="rect">
            <a:avLst/>
          </a:prstGeom>
          <a:solidFill>
            <a:srgbClr val="FFFFFF"/>
          </a:solidFill>
          <a:ln>
            <a:solidFill>
              <a:srgbClr val="BFD7D1"/>
            </a:solidFill>
          </a:ln>
        </p:spPr>
        <p:txBody>
          <a:bodyPr wrap="square" lIns="635" tIns="635" rIns="635" bIns="635" rtlCol="0" anchor="ctr">
            <a:normAutofit/>
          </a:bodyPr>
          <a:lstStyle/>
          <a:p>
            <a:pPr marL="0" indent="0" algn="ctr">
              <a:buNone/>
            </a:pPr>
            <a:r>
              <a:rPr lang="en-US" sz="1180" b="1" dirty="0">
                <a:solidFill>
                  <a:srgbClr val="122421"/>
                </a:solidFill>
              </a:rPr>
              <a:t>Systems of record</a:t>
            </a:r>
            <a:endParaRPr lang="en-US" sz="1180" dirty="0"/>
          </a:p>
          <a:p>
            <a:pPr marL="0" indent="0" algn="ctr">
              <a:buNone/>
            </a:pPr>
            <a:endParaRPr lang="en-US" sz="1180" dirty="0"/>
          </a:p>
          <a:p>
            <a:pPr marL="0" indent="0" algn="ctr">
              <a:buNone/>
            </a:pPr>
            <a:r>
              <a:rPr lang="en-US" sz="1180" b="1" dirty="0">
                <a:solidFill>
                  <a:srgbClr val="122421"/>
                </a:solidFill>
              </a:rPr>
              <a:t>EHR</a:t>
            </a:r>
            <a:endParaRPr lang="en-US" sz="1180" dirty="0"/>
          </a:p>
          <a:p>
            <a:pPr marL="0" indent="0" algn="ctr">
              <a:buNone/>
            </a:pPr>
            <a:r>
              <a:rPr lang="en-US" sz="1180" b="1" dirty="0">
                <a:solidFill>
                  <a:srgbClr val="122421"/>
                </a:solidFill>
              </a:rPr>
              <a:t>Labs</a:t>
            </a:r>
            <a:endParaRPr lang="en-US" sz="1180" dirty="0"/>
          </a:p>
          <a:p>
            <a:pPr marL="0" indent="0" algn="ctr">
              <a:buNone/>
            </a:pPr>
            <a:r>
              <a:rPr lang="en-US" sz="1180" b="1" dirty="0">
                <a:solidFill>
                  <a:srgbClr val="122421"/>
                </a:solidFill>
              </a:rPr>
              <a:t>Imaging</a:t>
            </a:r>
            <a:endParaRPr lang="en-US" sz="1180" dirty="0"/>
          </a:p>
          <a:p>
            <a:pPr marL="0" indent="0" algn="ctr">
              <a:buNone/>
            </a:pPr>
            <a:r>
              <a:rPr lang="en-US" sz="1180" b="1" dirty="0">
                <a:solidFill>
                  <a:srgbClr val="122421"/>
                </a:solidFill>
              </a:rPr>
              <a:t>Care Plan</a:t>
            </a:r>
            <a:endParaRPr lang="en-US" sz="1180" dirty="0"/>
          </a:p>
        </p:txBody>
      </p:sp>
      <p:sp>
        <p:nvSpPr>
          <p:cNvPr id="23" name="Text 21"/>
          <p:cNvSpPr/>
          <p:nvPr/>
        </p:nvSpPr>
        <p:spPr>
          <a:xfrm>
            <a:off x="10652760" y="2724912"/>
            <a:ext cx="987552" cy="676656"/>
          </a:xfrm>
          <a:prstGeom prst="rect">
            <a:avLst/>
          </a:prstGeom>
          <a:solidFill>
            <a:srgbClr val="FFFFFF"/>
          </a:solidFill>
          <a:ln>
            <a:solidFill>
              <a:srgbClr val="BFD7D1"/>
            </a:solidFill>
          </a:ln>
        </p:spPr>
        <p:txBody>
          <a:bodyPr wrap="square" lIns="508" tIns="508" rIns="508" bIns="508" rtlCol="0" anchor="ctr"/>
          <a:lstStyle/>
          <a:p>
            <a:pPr marL="0" indent="0" algn="ctr">
              <a:buNone/>
            </a:pPr>
            <a:r>
              <a:rPr lang="en-US" sz="1130" b="1" dirty="0">
                <a:solidFill>
                  <a:srgbClr val="122421"/>
                </a:solidFill>
              </a:rPr>
              <a:t>Clinician</a:t>
            </a:r>
            <a:endParaRPr lang="en-US" sz="1130" dirty="0"/>
          </a:p>
          <a:p>
            <a:pPr marL="0" indent="0" algn="ctr">
              <a:buNone/>
            </a:pPr>
            <a:r>
              <a:rPr lang="en-US" sz="1130" b="1" dirty="0">
                <a:solidFill>
                  <a:srgbClr val="122421"/>
                </a:solidFill>
              </a:rPr>
              <a:t>Review</a:t>
            </a:r>
            <a:endParaRPr lang="en-US" sz="1130" dirty="0"/>
          </a:p>
        </p:txBody>
      </p:sp>
      <p:sp>
        <p:nvSpPr>
          <p:cNvPr id="24" name="Shape 22"/>
          <p:cNvSpPr/>
          <p:nvPr/>
        </p:nvSpPr>
        <p:spPr>
          <a:xfrm>
            <a:off x="10460736" y="3063240"/>
            <a:ext cx="192024" cy="0"/>
          </a:xfrm>
          <a:prstGeom prst="line">
            <a:avLst/>
          </a:prstGeom>
          <a:noFill/>
          <a:ln w="15240">
            <a:solidFill>
              <a:srgbClr val="0C5E57"/>
            </a:solidFill>
            <a:prstDash val="solid"/>
            <a:headEnd type="none"/>
            <a:tailEnd type="triangle"/>
          </a:ln>
        </p:spPr>
        <p:txBody>
          <a:bodyPr/>
          <a:lstStyle/>
          <a:p>
            <a:endParaRPr lang="en-US"/>
          </a:p>
        </p:txBody>
      </p:sp>
      <p:sp>
        <p:nvSpPr>
          <p:cNvPr id="25" name="Text 23"/>
          <p:cNvSpPr/>
          <p:nvPr/>
        </p:nvSpPr>
        <p:spPr>
          <a:xfrm>
            <a:off x="4160520" y="5358384"/>
            <a:ext cx="5303520" cy="274320"/>
          </a:xfrm>
          <a:prstGeom prst="rect">
            <a:avLst/>
          </a:prstGeom>
          <a:noFill/>
          <a:ln/>
        </p:spPr>
        <p:txBody>
          <a:bodyPr wrap="square" lIns="254" tIns="254" rIns="254" bIns="254" rtlCol="0" anchor="ctr">
            <a:normAutofit/>
          </a:bodyPr>
          <a:lstStyle/>
          <a:p>
            <a:pPr marL="0" indent="0" algn="ctr">
              <a:buNone/>
            </a:pPr>
            <a:r>
              <a:rPr lang="en-US" sz="1550" b="1" dirty="0">
                <a:solidFill>
                  <a:srgbClr val="0C5E57"/>
                </a:solidFill>
              </a:rPr>
              <a:t>Approved tools only. Human review before high-impact action.</a:t>
            </a:r>
            <a:endParaRPr lang="en-US" sz="1550" dirty="0"/>
          </a:p>
        </p:txBody>
      </p:sp>
      <p:sp>
        <p:nvSpPr>
          <p:cNvPr id="26"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Why MCP belongs in the story</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MCP turns tool access into an explicit contract that can be reviewed, authorized, logged, and limited.</a:t>
            </a:r>
            <a:endParaRPr lang="en-US" sz="1150" dirty="0"/>
          </a:p>
        </p:txBody>
      </p:sp>
      <p:sp>
        <p:nvSpPr>
          <p:cNvPr id="4" name="Text 2"/>
          <p:cNvSpPr/>
          <p:nvPr/>
        </p:nvSpPr>
        <p:spPr>
          <a:xfrm>
            <a:off x="731520" y="1298448"/>
            <a:ext cx="5943600" cy="320040"/>
          </a:xfrm>
          <a:prstGeom prst="rect">
            <a:avLst/>
          </a:prstGeom>
          <a:noFill/>
          <a:ln/>
        </p:spPr>
        <p:txBody>
          <a:bodyPr wrap="square" lIns="0" tIns="0" rIns="0" bIns="0" rtlCol="0" anchor="ctr"/>
          <a:lstStyle/>
          <a:p>
            <a:pPr marL="0" indent="0">
              <a:buNone/>
            </a:pPr>
            <a:r>
              <a:rPr lang="en-US" sz="1900" b="1" dirty="0">
                <a:solidFill>
                  <a:srgbClr val="122421"/>
                </a:solidFill>
              </a:rPr>
              <a:t>Agent power increases risk unless access is constrained.</a:t>
            </a:r>
            <a:endParaRPr lang="en-US" sz="1900" dirty="0"/>
          </a:p>
        </p:txBody>
      </p:sp>
      <p:sp>
        <p:nvSpPr>
          <p:cNvPr id="5" name="Text 3"/>
          <p:cNvSpPr/>
          <p:nvPr/>
        </p:nvSpPr>
        <p:spPr>
          <a:xfrm>
            <a:off x="822960" y="1874520"/>
            <a:ext cx="2651760" cy="10972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Expose</a:t>
            </a:r>
            <a:endParaRPr lang="en-US" sz="1320" dirty="0"/>
          </a:p>
          <a:p>
            <a:pPr marL="0" indent="0">
              <a:buNone/>
            </a:pPr>
            <a:r>
              <a:rPr lang="en-US" sz="1320" dirty="0">
                <a:solidFill>
                  <a:srgbClr val="52645F"/>
                </a:solidFill>
              </a:rPr>
              <a:t>Approved tools and resources only</a:t>
            </a:r>
            <a:endParaRPr lang="en-US" sz="1320" dirty="0"/>
          </a:p>
        </p:txBody>
      </p:sp>
      <p:sp>
        <p:nvSpPr>
          <p:cNvPr id="6" name="Text 4"/>
          <p:cNvSpPr/>
          <p:nvPr/>
        </p:nvSpPr>
        <p:spPr>
          <a:xfrm>
            <a:off x="950976" y="1984248"/>
            <a:ext cx="23957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Expose</a:t>
            </a:r>
            <a:endParaRPr lang="en-US" sz="1230" dirty="0"/>
          </a:p>
        </p:txBody>
      </p:sp>
      <p:sp>
        <p:nvSpPr>
          <p:cNvPr id="7" name="Text 5"/>
          <p:cNvSpPr/>
          <p:nvPr/>
        </p:nvSpPr>
        <p:spPr>
          <a:xfrm>
            <a:off x="3794760" y="1874520"/>
            <a:ext cx="2651760" cy="10972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Authorize</a:t>
            </a:r>
            <a:endParaRPr lang="en-US" sz="1320" dirty="0"/>
          </a:p>
          <a:p>
            <a:pPr marL="0" indent="0">
              <a:buNone/>
            </a:pPr>
            <a:r>
              <a:rPr lang="en-US" sz="1320" dirty="0">
                <a:solidFill>
                  <a:srgbClr val="52645F"/>
                </a:solidFill>
              </a:rPr>
              <a:t>Consent, identity, scopes, and role controls</a:t>
            </a:r>
            <a:endParaRPr lang="en-US" sz="1320" dirty="0"/>
          </a:p>
        </p:txBody>
      </p:sp>
      <p:sp>
        <p:nvSpPr>
          <p:cNvPr id="8" name="Text 6"/>
          <p:cNvSpPr/>
          <p:nvPr/>
        </p:nvSpPr>
        <p:spPr>
          <a:xfrm>
            <a:off x="3922776" y="1984248"/>
            <a:ext cx="23957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Authorize</a:t>
            </a:r>
            <a:endParaRPr lang="en-US" sz="1230" dirty="0"/>
          </a:p>
        </p:txBody>
      </p:sp>
      <p:sp>
        <p:nvSpPr>
          <p:cNvPr id="9" name="Text 7"/>
          <p:cNvSpPr/>
          <p:nvPr/>
        </p:nvSpPr>
        <p:spPr>
          <a:xfrm>
            <a:off x="6766560" y="1874520"/>
            <a:ext cx="2651760" cy="10972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Observe</a:t>
            </a:r>
            <a:endParaRPr lang="en-US" sz="1320" dirty="0"/>
          </a:p>
          <a:p>
            <a:pPr marL="0" indent="0">
              <a:buNone/>
            </a:pPr>
            <a:r>
              <a:rPr lang="en-US" sz="1320" dirty="0">
                <a:solidFill>
                  <a:srgbClr val="52645F"/>
                </a:solidFill>
              </a:rPr>
              <a:t>Tool calls, parameters, responses, and failures</a:t>
            </a:r>
            <a:endParaRPr lang="en-US" sz="1320" dirty="0"/>
          </a:p>
        </p:txBody>
      </p:sp>
      <p:sp>
        <p:nvSpPr>
          <p:cNvPr id="10" name="Text 8"/>
          <p:cNvSpPr/>
          <p:nvPr/>
        </p:nvSpPr>
        <p:spPr>
          <a:xfrm>
            <a:off x="6894576" y="1984248"/>
            <a:ext cx="23957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Observe</a:t>
            </a:r>
            <a:endParaRPr lang="en-US" sz="1230" dirty="0"/>
          </a:p>
        </p:txBody>
      </p:sp>
      <p:sp>
        <p:nvSpPr>
          <p:cNvPr id="11" name="Text 9"/>
          <p:cNvSpPr/>
          <p:nvPr/>
        </p:nvSpPr>
        <p:spPr>
          <a:xfrm>
            <a:off x="9738360" y="1874520"/>
            <a:ext cx="1600200" cy="10972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Block</a:t>
            </a:r>
            <a:endParaRPr lang="en-US" sz="1320" dirty="0"/>
          </a:p>
          <a:p>
            <a:pPr marL="0" indent="0">
              <a:buNone/>
            </a:pPr>
            <a:r>
              <a:rPr lang="en-US" sz="1320" dirty="0">
                <a:solidFill>
                  <a:srgbClr val="52645F"/>
                </a:solidFill>
              </a:rPr>
              <a:t>Unsafe or out-of-scope actions</a:t>
            </a:r>
            <a:endParaRPr lang="en-US" sz="1320" dirty="0"/>
          </a:p>
        </p:txBody>
      </p:sp>
      <p:sp>
        <p:nvSpPr>
          <p:cNvPr id="12" name="Text 10"/>
          <p:cNvSpPr/>
          <p:nvPr/>
        </p:nvSpPr>
        <p:spPr>
          <a:xfrm>
            <a:off x="9866376" y="1984248"/>
            <a:ext cx="134416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Block</a:t>
            </a:r>
            <a:endParaRPr lang="en-US" sz="1230" dirty="0"/>
          </a:p>
        </p:txBody>
      </p:sp>
      <p:sp>
        <p:nvSpPr>
          <p:cNvPr id="13" name="Shape 11"/>
          <p:cNvSpPr/>
          <p:nvPr/>
        </p:nvSpPr>
        <p:spPr>
          <a:xfrm>
            <a:off x="822960" y="3840480"/>
            <a:ext cx="10561320" cy="1005840"/>
          </a:xfrm>
          <a:prstGeom prst="rect">
            <a:avLst/>
          </a:prstGeom>
          <a:solidFill>
            <a:srgbClr val="FFFFFF"/>
          </a:solidFill>
          <a:ln w="12700">
            <a:solidFill>
              <a:srgbClr val="BFD7D1"/>
            </a:solidFill>
            <a:prstDash val="solid"/>
          </a:ln>
        </p:spPr>
        <p:txBody>
          <a:bodyPr/>
          <a:lstStyle/>
          <a:p>
            <a:endParaRPr lang="en-US"/>
          </a:p>
        </p:txBody>
      </p:sp>
      <p:sp>
        <p:nvSpPr>
          <p:cNvPr id="14" name="Text 12"/>
          <p:cNvSpPr/>
          <p:nvPr/>
        </p:nvSpPr>
        <p:spPr>
          <a:xfrm>
            <a:off x="1097280" y="4142232"/>
            <a:ext cx="9966960" cy="310896"/>
          </a:xfrm>
          <a:prstGeom prst="rect">
            <a:avLst/>
          </a:prstGeom>
          <a:noFill/>
          <a:ln/>
        </p:spPr>
        <p:txBody>
          <a:bodyPr wrap="square" lIns="254" tIns="254" rIns="254" bIns="254" rtlCol="0" anchor="ctr">
            <a:normAutofit/>
          </a:bodyPr>
          <a:lstStyle/>
          <a:p>
            <a:pPr marL="0" indent="0" algn="ctr">
              <a:buNone/>
            </a:pPr>
            <a:r>
              <a:rPr lang="en-US" sz="2000" b="1" dirty="0">
                <a:solidFill>
                  <a:srgbClr val="0C5E57"/>
                </a:solidFill>
              </a:rPr>
              <a:t>In healthcare, the gateway is not decoration. It is where policy becomes runtime behavior.</a:t>
            </a:r>
            <a:endParaRPr lang="en-US" sz="2000" dirty="0"/>
          </a:p>
        </p:txBody>
      </p:sp>
      <p:sp>
        <p:nvSpPr>
          <p:cNvPr id="15" name="Text 13"/>
          <p:cNvSpPr/>
          <p:nvPr/>
        </p:nvSpPr>
        <p:spPr>
          <a:xfrm>
            <a:off x="868680" y="5596128"/>
            <a:ext cx="10058400" cy="182880"/>
          </a:xfrm>
          <a:prstGeom prst="rect">
            <a:avLst/>
          </a:prstGeom>
          <a:noFill/>
          <a:ln/>
        </p:spPr>
        <p:txBody>
          <a:bodyPr wrap="square" lIns="0" tIns="0" rIns="0" bIns="0" rtlCol="0" anchor="ctr"/>
          <a:lstStyle/>
          <a:p>
            <a:pPr marL="0" indent="0">
              <a:buNone/>
            </a:pPr>
            <a:r>
              <a:rPr lang="en-US" sz="780" dirty="0">
                <a:solidFill>
                  <a:srgbClr val="7D8E89"/>
                </a:solidFill>
              </a:rPr>
              <a:t>Public MCP references: modelcontextprotocol.io/specification and modelcontextprotocol.info/specification</a:t>
            </a:r>
            <a:endParaRPr lang="en-US" sz="78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Control points that make the workflow testable</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Define where the agent may reason and where the workflow must follow fixed rules.</a:t>
            </a:r>
            <a:endParaRPr lang="en-US" sz="1150" dirty="0"/>
          </a:p>
        </p:txBody>
      </p:sp>
      <p:sp>
        <p:nvSpPr>
          <p:cNvPr id="4" name="Text 2"/>
          <p:cNvSpPr/>
          <p:nvPr/>
        </p:nvSpPr>
        <p:spPr>
          <a:xfrm>
            <a:off x="713232" y="1417320"/>
            <a:ext cx="384048" cy="384048"/>
          </a:xfrm>
          <a:prstGeom prst="rect">
            <a:avLst/>
          </a:prstGeom>
          <a:solidFill>
            <a:srgbClr val="08796D"/>
          </a:solidFill>
          <a:ln>
            <a:solidFill>
              <a:srgbClr val="08796D"/>
            </a:solidFill>
          </a:ln>
        </p:spPr>
        <p:txBody>
          <a:bodyPr wrap="square" lIns="0" tIns="0" rIns="0" bIns="0" rtlCol="0" anchor="ctr"/>
          <a:lstStyle/>
          <a:p>
            <a:pPr marL="0" indent="0" algn="ctr">
              <a:buNone/>
            </a:pPr>
            <a:r>
              <a:rPr lang="en-US" sz="1700" b="1" dirty="0">
                <a:solidFill>
                  <a:srgbClr val="FFFFFF"/>
                </a:solidFill>
              </a:rPr>
              <a:t>1</a:t>
            </a:r>
            <a:endParaRPr lang="en-US" sz="1700" dirty="0"/>
          </a:p>
        </p:txBody>
      </p:sp>
      <p:sp>
        <p:nvSpPr>
          <p:cNvPr id="5" name="Text 3"/>
          <p:cNvSpPr/>
          <p:nvPr/>
        </p:nvSpPr>
        <p:spPr>
          <a:xfrm>
            <a:off x="713232" y="1993392"/>
            <a:ext cx="1783080" cy="13258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060" dirty="0">
                <a:solidFill>
                  <a:srgbClr val="52645F"/>
                </a:solidFill>
              </a:rPr>
              <a:t>Required intake</a:t>
            </a:r>
            <a:endParaRPr lang="en-US" sz="1060" dirty="0"/>
          </a:p>
          <a:p>
            <a:pPr marL="0" indent="0">
              <a:buNone/>
            </a:pPr>
            <a:r>
              <a:rPr lang="en-US" sz="1060" dirty="0">
                <a:solidFill>
                  <a:srgbClr val="52645F"/>
                </a:solidFill>
              </a:rPr>
              <a:t>symptom onset, severity, change, warning signs</a:t>
            </a:r>
            <a:endParaRPr lang="en-US" sz="1060" dirty="0"/>
          </a:p>
        </p:txBody>
      </p:sp>
      <p:sp>
        <p:nvSpPr>
          <p:cNvPr id="6" name="Text 4"/>
          <p:cNvSpPr/>
          <p:nvPr/>
        </p:nvSpPr>
        <p:spPr>
          <a:xfrm>
            <a:off x="841248" y="2103120"/>
            <a:ext cx="1527048" cy="219456"/>
          </a:xfrm>
          <a:prstGeom prst="rect">
            <a:avLst/>
          </a:prstGeom>
          <a:noFill/>
          <a:ln/>
        </p:spPr>
        <p:txBody>
          <a:bodyPr wrap="square" lIns="0" tIns="0" rIns="0" bIns="0" rtlCol="0" anchor="ctr">
            <a:normAutofit/>
          </a:bodyPr>
          <a:lstStyle/>
          <a:p>
            <a:pPr marL="0" indent="0">
              <a:buNone/>
            </a:pPr>
            <a:r>
              <a:rPr lang="en-US" sz="1160" b="1" dirty="0">
                <a:solidFill>
                  <a:srgbClr val="122421"/>
                </a:solidFill>
              </a:rPr>
              <a:t>Required intake</a:t>
            </a:r>
            <a:endParaRPr lang="en-US" sz="1160" dirty="0"/>
          </a:p>
        </p:txBody>
      </p:sp>
      <p:sp>
        <p:nvSpPr>
          <p:cNvPr id="7" name="Shape 5"/>
          <p:cNvSpPr/>
          <p:nvPr/>
        </p:nvSpPr>
        <p:spPr>
          <a:xfrm>
            <a:off x="2523744" y="2651760"/>
            <a:ext cx="283464" cy="0"/>
          </a:xfrm>
          <a:prstGeom prst="line">
            <a:avLst/>
          </a:prstGeom>
          <a:noFill/>
          <a:ln w="15240">
            <a:solidFill>
              <a:srgbClr val="BFD7D1"/>
            </a:solidFill>
            <a:prstDash val="solid"/>
            <a:headEnd type="none"/>
            <a:tailEnd type="triangle"/>
          </a:ln>
        </p:spPr>
        <p:txBody>
          <a:bodyPr/>
          <a:lstStyle/>
          <a:p>
            <a:endParaRPr lang="en-US"/>
          </a:p>
        </p:txBody>
      </p:sp>
      <p:sp>
        <p:nvSpPr>
          <p:cNvPr id="8" name="Text 6"/>
          <p:cNvSpPr/>
          <p:nvPr/>
        </p:nvSpPr>
        <p:spPr>
          <a:xfrm>
            <a:off x="2944368" y="1417320"/>
            <a:ext cx="384048" cy="384048"/>
          </a:xfrm>
          <a:prstGeom prst="rect">
            <a:avLst/>
          </a:prstGeom>
          <a:solidFill>
            <a:srgbClr val="08796D"/>
          </a:solidFill>
          <a:ln>
            <a:solidFill>
              <a:srgbClr val="08796D"/>
            </a:solidFill>
          </a:ln>
        </p:spPr>
        <p:txBody>
          <a:bodyPr wrap="square" lIns="0" tIns="0" rIns="0" bIns="0" rtlCol="0" anchor="ctr"/>
          <a:lstStyle/>
          <a:p>
            <a:pPr marL="0" indent="0" algn="ctr">
              <a:buNone/>
            </a:pPr>
            <a:r>
              <a:rPr lang="en-US" sz="1700" b="1" dirty="0">
                <a:solidFill>
                  <a:srgbClr val="FFFFFF"/>
                </a:solidFill>
              </a:rPr>
              <a:t>2</a:t>
            </a:r>
            <a:endParaRPr lang="en-US" sz="1700" dirty="0"/>
          </a:p>
        </p:txBody>
      </p:sp>
      <p:sp>
        <p:nvSpPr>
          <p:cNvPr id="9" name="Text 7"/>
          <p:cNvSpPr/>
          <p:nvPr/>
        </p:nvSpPr>
        <p:spPr>
          <a:xfrm>
            <a:off x="2944368" y="1993392"/>
            <a:ext cx="1783080" cy="13258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060" dirty="0">
                <a:solidFill>
                  <a:srgbClr val="52645F"/>
                </a:solidFill>
              </a:rPr>
              <a:t>Routing rules</a:t>
            </a:r>
            <a:endParaRPr lang="en-US" sz="1060" dirty="0"/>
          </a:p>
          <a:p>
            <a:pPr marL="0" indent="0">
              <a:buNone/>
            </a:pPr>
            <a:r>
              <a:rPr lang="en-US" sz="1060" dirty="0">
                <a:solidFill>
                  <a:srgbClr val="52645F"/>
                </a:solidFill>
              </a:rPr>
              <a:t>specialist only after required context</a:t>
            </a:r>
            <a:endParaRPr lang="en-US" sz="1060" dirty="0"/>
          </a:p>
        </p:txBody>
      </p:sp>
      <p:sp>
        <p:nvSpPr>
          <p:cNvPr id="10" name="Text 8"/>
          <p:cNvSpPr/>
          <p:nvPr/>
        </p:nvSpPr>
        <p:spPr>
          <a:xfrm>
            <a:off x="3072384" y="2103120"/>
            <a:ext cx="1527048" cy="219456"/>
          </a:xfrm>
          <a:prstGeom prst="rect">
            <a:avLst/>
          </a:prstGeom>
          <a:noFill/>
          <a:ln/>
        </p:spPr>
        <p:txBody>
          <a:bodyPr wrap="square" lIns="0" tIns="0" rIns="0" bIns="0" rtlCol="0" anchor="ctr">
            <a:normAutofit/>
          </a:bodyPr>
          <a:lstStyle/>
          <a:p>
            <a:pPr marL="0" indent="0">
              <a:buNone/>
            </a:pPr>
            <a:r>
              <a:rPr lang="en-US" sz="1160" b="1" dirty="0">
                <a:solidFill>
                  <a:srgbClr val="122421"/>
                </a:solidFill>
              </a:rPr>
              <a:t>Routing rules</a:t>
            </a:r>
            <a:endParaRPr lang="en-US" sz="1160" dirty="0"/>
          </a:p>
        </p:txBody>
      </p:sp>
      <p:sp>
        <p:nvSpPr>
          <p:cNvPr id="11" name="Shape 9"/>
          <p:cNvSpPr/>
          <p:nvPr/>
        </p:nvSpPr>
        <p:spPr>
          <a:xfrm>
            <a:off x="4754880" y="2651760"/>
            <a:ext cx="283464" cy="0"/>
          </a:xfrm>
          <a:prstGeom prst="line">
            <a:avLst/>
          </a:prstGeom>
          <a:noFill/>
          <a:ln w="15240">
            <a:solidFill>
              <a:srgbClr val="BFD7D1"/>
            </a:solidFill>
            <a:prstDash val="solid"/>
            <a:headEnd type="none"/>
            <a:tailEnd type="triangle"/>
          </a:ln>
        </p:spPr>
        <p:txBody>
          <a:bodyPr/>
          <a:lstStyle/>
          <a:p>
            <a:endParaRPr lang="en-US"/>
          </a:p>
        </p:txBody>
      </p:sp>
      <p:sp>
        <p:nvSpPr>
          <p:cNvPr id="12" name="Text 10"/>
          <p:cNvSpPr/>
          <p:nvPr/>
        </p:nvSpPr>
        <p:spPr>
          <a:xfrm>
            <a:off x="5175504" y="1417320"/>
            <a:ext cx="384048" cy="384048"/>
          </a:xfrm>
          <a:prstGeom prst="rect">
            <a:avLst/>
          </a:prstGeom>
          <a:solidFill>
            <a:srgbClr val="08796D"/>
          </a:solidFill>
          <a:ln>
            <a:solidFill>
              <a:srgbClr val="08796D"/>
            </a:solidFill>
          </a:ln>
        </p:spPr>
        <p:txBody>
          <a:bodyPr wrap="square" lIns="0" tIns="0" rIns="0" bIns="0" rtlCol="0" anchor="ctr"/>
          <a:lstStyle/>
          <a:p>
            <a:pPr marL="0" indent="0" algn="ctr">
              <a:buNone/>
            </a:pPr>
            <a:r>
              <a:rPr lang="en-US" sz="1700" b="1" dirty="0">
                <a:solidFill>
                  <a:srgbClr val="FFFFFF"/>
                </a:solidFill>
              </a:rPr>
              <a:t>3</a:t>
            </a:r>
            <a:endParaRPr lang="en-US" sz="1700" dirty="0"/>
          </a:p>
        </p:txBody>
      </p:sp>
      <p:sp>
        <p:nvSpPr>
          <p:cNvPr id="13" name="Text 11"/>
          <p:cNvSpPr/>
          <p:nvPr/>
        </p:nvSpPr>
        <p:spPr>
          <a:xfrm>
            <a:off x="5175504" y="1993392"/>
            <a:ext cx="1783080" cy="13258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060" dirty="0">
                <a:solidFill>
                  <a:srgbClr val="52645F"/>
                </a:solidFill>
              </a:rPr>
              <a:t>Handoff context</a:t>
            </a:r>
            <a:endParaRPr lang="en-US" sz="1060" dirty="0"/>
          </a:p>
          <a:p>
            <a:pPr marL="0" indent="0">
              <a:buNone/>
            </a:pPr>
            <a:r>
              <a:rPr lang="en-US" sz="1060" dirty="0">
                <a:solidFill>
                  <a:srgbClr val="52645F"/>
                </a:solidFill>
              </a:rPr>
              <a:t>what moved, why, and to whom</a:t>
            </a:r>
            <a:endParaRPr lang="en-US" sz="1060" dirty="0"/>
          </a:p>
        </p:txBody>
      </p:sp>
      <p:sp>
        <p:nvSpPr>
          <p:cNvPr id="14" name="Text 12"/>
          <p:cNvSpPr/>
          <p:nvPr/>
        </p:nvSpPr>
        <p:spPr>
          <a:xfrm>
            <a:off x="5303520" y="2103120"/>
            <a:ext cx="1527048" cy="219456"/>
          </a:xfrm>
          <a:prstGeom prst="rect">
            <a:avLst/>
          </a:prstGeom>
          <a:noFill/>
          <a:ln/>
        </p:spPr>
        <p:txBody>
          <a:bodyPr wrap="square" lIns="0" tIns="0" rIns="0" bIns="0" rtlCol="0" anchor="ctr">
            <a:normAutofit/>
          </a:bodyPr>
          <a:lstStyle/>
          <a:p>
            <a:pPr marL="0" indent="0">
              <a:buNone/>
            </a:pPr>
            <a:r>
              <a:rPr lang="en-US" sz="1160" b="1" dirty="0">
                <a:solidFill>
                  <a:srgbClr val="122421"/>
                </a:solidFill>
              </a:rPr>
              <a:t>Handoff context</a:t>
            </a:r>
            <a:endParaRPr lang="en-US" sz="1160" dirty="0"/>
          </a:p>
        </p:txBody>
      </p:sp>
      <p:sp>
        <p:nvSpPr>
          <p:cNvPr id="15" name="Shape 13"/>
          <p:cNvSpPr/>
          <p:nvPr/>
        </p:nvSpPr>
        <p:spPr>
          <a:xfrm>
            <a:off x="6986016" y="2651760"/>
            <a:ext cx="283464" cy="0"/>
          </a:xfrm>
          <a:prstGeom prst="line">
            <a:avLst/>
          </a:prstGeom>
          <a:noFill/>
          <a:ln w="15240">
            <a:solidFill>
              <a:srgbClr val="BFD7D1"/>
            </a:solidFill>
            <a:prstDash val="solid"/>
            <a:headEnd type="none"/>
            <a:tailEnd type="triangle"/>
          </a:ln>
        </p:spPr>
        <p:txBody>
          <a:bodyPr/>
          <a:lstStyle/>
          <a:p>
            <a:endParaRPr lang="en-US"/>
          </a:p>
        </p:txBody>
      </p:sp>
      <p:sp>
        <p:nvSpPr>
          <p:cNvPr id="16" name="Text 14"/>
          <p:cNvSpPr/>
          <p:nvPr/>
        </p:nvSpPr>
        <p:spPr>
          <a:xfrm>
            <a:off x="7406640" y="1417320"/>
            <a:ext cx="384048" cy="384048"/>
          </a:xfrm>
          <a:prstGeom prst="rect">
            <a:avLst/>
          </a:prstGeom>
          <a:solidFill>
            <a:srgbClr val="08796D"/>
          </a:solidFill>
          <a:ln>
            <a:solidFill>
              <a:srgbClr val="08796D"/>
            </a:solidFill>
          </a:ln>
        </p:spPr>
        <p:txBody>
          <a:bodyPr wrap="square" lIns="0" tIns="0" rIns="0" bIns="0" rtlCol="0" anchor="ctr"/>
          <a:lstStyle/>
          <a:p>
            <a:pPr marL="0" indent="0" algn="ctr">
              <a:buNone/>
            </a:pPr>
            <a:r>
              <a:rPr lang="en-US" sz="1700" b="1" dirty="0">
                <a:solidFill>
                  <a:srgbClr val="FFFFFF"/>
                </a:solidFill>
              </a:rPr>
              <a:t>4</a:t>
            </a:r>
            <a:endParaRPr lang="en-US" sz="1700" dirty="0"/>
          </a:p>
        </p:txBody>
      </p:sp>
      <p:sp>
        <p:nvSpPr>
          <p:cNvPr id="17" name="Text 15"/>
          <p:cNvSpPr/>
          <p:nvPr/>
        </p:nvSpPr>
        <p:spPr>
          <a:xfrm>
            <a:off x="7406640" y="1993392"/>
            <a:ext cx="1783080" cy="13258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060" dirty="0">
                <a:solidFill>
                  <a:srgbClr val="52645F"/>
                </a:solidFill>
              </a:rPr>
              <a:t>Tool checks</a:t>
            </a:r>
            <a:endParaRPr lang="en-US" sz="1060" dirty="0"/>
          </a:p>
          <a:p>
            <a:pPr marL="0" indent="0">
              <a:buNone/>
            </a:pPr>
            <a:r>
              <a:rPr lang="en-US" sz="1060" dirty="0">
                <a:solidFill>
                  <a:srgbClr val="52645F"/>
                </a:solidFill>
              </a:rPr>
              <a:t>right tool, fields, permissions</a:t>
            </a:r>
            <a:endParaRPr lang="en-US" sz="1060" dirty="0"/>
          </a:p>
        </p:txBody>
      </p:sp>
      <p:sp>
        <p:nvSpPr>
          <p:cNvPr id="18" name="Text 16"/>
          <p:cNvSpPr/>
          <p:nvPr/>
        </p:nvSpPr>
        <p:spPr>
          <a:xfrm>
            <a:off x="7534656" y="2103120"/>
            <a:ext cx="1527048" cy="219456"/>
          </a:xfrm>
          <a:prstGeom prst="rect">
            <a:avLst/>
          </a:prstGeom>
          <a:noFill/>
          <a:ln/>
        </p:spPr>
        <p:txBody>
          <a:bodyPr wrap="square" lIns="0" tIns="0" rIns="0" bIns="0" rtlCol="0" anchor="ctr">
            <a:normAutofit/>
          </a:bodyPr>
          <a:lstStyle/>
          <a:p>
            <a:pPr marL="0" indent="0">
              <a:buNone/>
            </a:pPr>
            <a:r>
              <a:rPr lang="en-US" sz="1160" b="1" dirty="0">
                <a:solidFill>
                  <a:srgbClr val="122421"/>
                </a:solidFill>
              </a:rPr>
              <a:t>Tool checks</a:t>
            </a:r>
            <a:endParaRPr lang="en-US" sz="1160" dirty="0"/>
          </a:p>
        </p:txBody>
      </p:sp>
      <p:sp>
        <p:nvSpPr>
          <p:cNvPr id="19" name="Shape 17"/>
          <p:cNvSpPr/>
          <p:nvPr/>
        </p:nvSpPr>
        <p:spPr>
          <a:xfrm>
            <a:off x="9217152" y="2651760"/>
            <a:ext cx="283464" cy="0"/>
          </a:xfrm>
          <a:prstGeom prst="line">
            <a:avLst/>
          </a:prstGeom>
          <a:noFill/>
          <a:ln w="15240">
            <a:solidFill>
              <a:srgbClr val="BFD7D1"/>
            </a:solidFill>
            <a:prstDash val="solid"/>
            <a:headEnd type="none"/>
            <a:tailEnd type="triangle"/>
          </a:ln>
        </p:spPr>
        <p:txBody>
          <a:bodyPr/>
          <a:lstStyle/>
          <a:p>
            <a:endParaRPr lang="en-US"/>
          </a:p>
        </p:txBody>
      </p:sp>
      <p:sp>
        <p:nvSpPr>
          <p:cNvPr id="20" name="Text 18"/>
          <p:cNvSpPr/>
          <p:nvPr/>
        </p:nvSpPr>
        <p:spPr>
          <a:xfrm>
            <a:off x="9637776" y="1417320"/>
            <a:ext cx="384048" cy="384048"/>
          </a:xfrm>
          <a:prstGeom prst="rect">
            <a:avLst/>
          </a:prstGeom>
          <a:solidFill>
            <a:srgbClr val="08796D"/>
          </a:solidFill>
          <a:ln>
            <a:solidFill>
              <a:srgbClr val="08796D"/>
            </a:solidFill>
          </a:ln>
        </p:spPr>
        <p:txBody>
          <a:bodyPr wrap="square" lIns="0" tIns="0" rIns="0" bIns="0" rtlCol="0" anchor="ctr"/>
          <a:lstStyle/>
          <a:p>
            <a:pPr marL="0" indent="0" algn="ctr">
              <a:buNone/>
            </a:pPr>
            <a:r>
              <a:rPr lang="en-US" sz="1700" b="1" dirty="0">
                <a:solidFill>
                  <a:srgbClr val="FFFFFF"/>
                </a:solidFill>
              </a:rPr>
              <a:t>5</a:t>
            </a:r>
            <a:endParaRPr lang="en-US" sz="1700" dirty="0"/>
          </a:p>
        </p:txBody>
      </p:sp>
      <p:sp>
        <p:nvSpPr>
          <p:cNvPr id="21" name="Text 19"/>
          <p:cNvSpPr/>
          <p:nvPr/>
        </p:nvSpPr>
        <p:spPr>
          <a:xfrm>
            <a:off x="9637776" y="1993392"/>
            <a:ext cx="1783080" cy="13258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060" dirty="0">
                <a:solidFill>
                  <a:srgbClr val="52645F"/>
                </a:solidFill>
              </a:rPr>
              <a:t>Clinician approval</a:t>
            </a:r>
            <a:endParaRPr lang="en-US" sz="1060" dirty="0"/>
          </a:p>
          <a:p>
            <a:pPr marL="0" indent="0">
              <a:buNone/>
            </a:pPr>
            <a:r>
              <a:rPr lang="en-US" sz="1060" dirty="0">
                <a:solidFill>
                  <a:srgbClr val="52645F"/>
                </a:solidFill>
              </a:rPr>
              <a:t>review before high-impact action</a:t>
            </a:r>
            <a:endParaRPr lang="en-US" sz="1060" dirty="0"/>
          </a:p>
        </p:txBody>
      </p:sp>
      <p:sp>
        <p:nvSpPr>
          <p:cNvPr id="22" name="Text 20"/>
          <p:cNvSpPr/>
          <p:nvPr/>
        </p:nvSpPr>
        <p:spPr>
          <a:xfrm>
            <a:off x="9765792" y="2103120"/>
            <a:ext cx="1527048" cy="219456"/>
          </a:xfrm>
          <a:prstGeom prst="rect">
            <a:avLst/>
          </a:prstGeom>
          <a:noFill/>
          <a:ln/>
        </p:spPr>
        <p:txBody>
          <a:bodyPr wrap="square" lIns="0" tIns="0" rIns="0" bIns="0" rtlCol="0" anchor="ctr">
            <a:normAutofit/>
          </a:bodyPr>
          <a:lstStyle/>
          <a:p>
            <a:pPr marL="0" indent="0">
              <a:buNone/>
            </a:pPr>
            <a:r>
              <a:rPr lang="en-US" sz="1160" b="1" dirty="0">
                <a:solidFill>
                  <a:srgbClr val="122421"/>
                </a:solidFill>
              </a:rPr>
              <a:t>Clinician approval</a:t>
            </a:r>
            <a:endParaRPr lang="en-US" sz="1160" dirty="0"/>
          </a:p>
        </p:txBody>
      </p:sp>
      <p:sp>
        <p:nvSpPr>
          <p:cNvPr id="23" name="Text 21"/>
          <p:cNvSpPr/>
          <p:nvPr/>
        </p:nvSpPr>
        <p:spPr>
          <a:xfrm>
            <a:off x="822960" y="4315968"/>
            <a:ext cx="2286000" cy="292608"/>
          </a:xfrm>
          <a:prstGeom prst="rect">
            <a:avLst/>
          </a:prstGeom>
          <a:noFill/>
          <a:ln/>
        </p:spPr>
        <p:txBody>
          <a:bodyPr wrap="square" lIns="0" tIns="0" rIns="0" bIns="0" rtlCol="0" anchor="ctr"/>
          <a:lstStyle/>
          <a:p>
            <a:pPr marL="0" indent="0">
              <a:buNone/>
            </a:pPr>
            <a:r>
              <a:rPr lang="en-US" sz="1800" b="1" dirty="0">
                <a:solidFill>
                  <a:srgbClr val="122421"/>
                </a:solidFill>
              </a:rPr>
              <a:t>Regression suite</a:t>
            </a:r>
            <a:endParaRPr lang="en-US" sz="1800" dirty="0"/>
          </a:p>
        </p:txBody>
      </p:sp>
      <p:sp>
        <p:nvSpPr>
          <p:cNvPr id="24" name="Text 22"/>
          <p:cNvSpPr/>
          <p:nvPr/>
        </p:nvSpPr>
        <p:spPr>
          <a:xfrm>
            <a:off x="914400" y="4754880"/>
            <a:ext cx="9921240" cy="777240"/>
          </a:xfrm>
          <a:prstGeom prst="rect">
            <a:avLst/>
          </a:prstGeom>
          <a:noFill/>
          <a:ln/>
        </p:spPr>
        <p:txBody>
          <a:bodyPr wrap="square" lIns="1016" tIns="1016" rIns="1016" bIns="1016" rtlCol="0" anchor="ctr">
            <a:normAutofit/>
          </a:bodyPr>
          <a:lstStyle/>
          <a:p>
            <a:r>
              <a:rPr lang="en-US" sz="1420" dirty="0">
                <a:solidFill>
                  <a:srgbClr val="122421"/>
                </a:solidFill>
              </a:rPr>
              <a:t>Every prompt, model, policy, tool, and agent change can alter behavior</a:t>
            </a:r>
            <a:endParaRPr lang="en-US" sz="1420" dirty="0"/>
          </a:p>
          <a:p>
            <a:r>
              <a:rPr lang="en-US" sz="1420" dirty="0">
                <a:solidFill>
                  <a:srgbClr val="122421"/>
                </a:solidFill>
              </a:rPr>
              <a:t>Test the trajectory, not only the final answer</a:t>
            </a:r>
            <a:endParaRPr lang="en-US" sz="1420" dirty="0"/>
          </a:p>
          <a:p>
            <a:r>
              <a:rPr lang="en-US" sz="1420" dirty="0">
                <a:solidFill>
                  <a:srgbClr val="122421"/>
                </a:solidFill>
              </a:rPr>
              <a:t>Capture traces for failures, latency, cost, drift, and user feedback</a:t>
            </a:r>
            <a:endParaRPr lang="en-US" sz="142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Suggested live demo arc</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Show the audience the difference between a demo that responds and a workflow that behaves correctly.</a:t>
            </a:r>
            <a:endParaRPr lang="en-US" sz="1150" dirty="0"/>
          </a:p>
        </p:txBody>
      </p:sp>
      <p:sp>
        <p:nvSpPr>
          <p:cNvPr id="4" name="Text 2"/>
          <p:cNvSpPr/>
          <p:nvPr/>
        </p:nvSpPr>
        <p:spPr>
          <a:xfrm>
            <a:off x="777240" y="1417320"/>
            <a:ext cx="3337560" cy="10972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Act 1: Base prototype</a:t>
            </a:r>
            <a:endParaRPr lang="en-US" sz="1320" dirty="0"/>
          </a:p>
          <a:p>
            <a:pPr marL="0" indent="0">
              <a:buNone/>
            </a:pPr>
            <a:r>
              <a:rPr lang="en-US" sz="1320" dirty="0">
                <a:solidFill>
                  <a:srgbClr val="52645F"/>
                </a:solidFill>
              </a:rPr>
              <a:t>Show natural-language intake and PCP orchestration.</a:t>
            </a:r>
            <a:endParaRPr lang="en-US" sz="1320" dirty="0"/>
          </a:p>
        </p:txBody>
      </p:sp>
      <p:sp>
        <p:nvSpPr>
          <p:cNvPr id="5" name="Text 3"/>
          <p:cNvSpPr/>
          <p:nvPr/>
        </p:nvSpPr>
        <p:spPr>
          <a:xfrm>
            <a:off x="905256" y="152704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Act 1: Base prototype</a:t>
            </a:r>
            <a:endParaRPr lang="en-US" sz="1230" dirty="0"/>
          </a:p>
        </p:txBody>
      </p:sp>
      <p:sp>
        <p:nvSpPr>
          <p:cNvPr id="6" name="Text 4"/>
          <p:cNvSpPr/>
          <p:nvPr/>
        </p:nvSpPr>
        <p:spPr>
          <a:xfrm>
            <a:off x="4434840" y="1417320"/>
            <a:ext cx="3337560" cy="10972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Act 2: Failure test</a:t>
            </a:r>
            <a:endParaRPr lang="en-US" sz="1320" dirty="0"/>
          </a:p>
          <a:p>
            <a:pPr marL="0" indent="0">
              <a:buNone/>
            </a:pPr>
            <a:r>
              <a:rPr lang="en-US" sz="1320" dirty="0">
                <a:solidFill>
                  <a:srgbClr val="52645F"/>
                </a:solidFill>
              </a:rPr>
              <a:t>Run “headache and nausea” and show loose routing.</a:t>
            </a:r>
            <a:endParaRPr lang="en-US" sz="1320" dirty="0"/>
          </a:p>
        </p:txBody>
      </p:sp>
      <p:sp>
        <p:nvSpPr>
          <p:cNvPr id="7" name="Text 5"/>
          <p:cNvSpPr/>
          <p:nvPr/>
        </p:nvSpPr>
        <p:spPr>
          <a:xfrm>
            <a:off x="4562856" y="152704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Act 2: Failure test</a:t>
            </a:r>
            <a:endParaRPr lang="en-US" sz="1230" dirty="0"/>
          </a:p>
        </p:txBody>
      </p:sp>
      <p:sp>
        <p:nvSpPr>
          <p:cNvPr id="8" name="Text 6"/>
          <p:cNvSpPr/>
          <p:nvPr/>
        </p:nvSpPr>
        <p:spPr>
          <a:xfrm>
            <a:off x="8092440" y="1417320"/>
            <a:ext cx="3337560" cy="109728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Act 3: Controlled design</a:t>
            </a:r>
            <a:endParaRPr lang="en-US" sz="1320" dirty="0"/>
          </a:p>
          <a:p>
            <a:pPr marL="0" indent="0">
              <a:buNone/>
            </a:pPr>
            <a:r>
              <a:rPr lang="en-US" sz="1320" dirty="0">
                <a:solidFill>
                  <a:srgbClr val="52645F"/>
                </a:solidFill>
              </a:rPr>
              <a:t>Add required intake and routing boundaries.</a:t>
            </a:r>
            <a:endParaRPr lang="en-US" sz="1320" dirty="0"/>
          </a:p>
        </p:txBody>
      </p:sp>
      <p:sp>
        <p:nvSpPr>
          <p:cNvPr id="9" name="Text 7"/>
          <p:cNvSpPr/>
          <p:nvPr/>
        </p:nvSpPr>
        <p:spPr>
          <a:xfrm>
            <a:off x="8220456" y="1527048"/>
            <a:ext cx="308152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Act 3: Controlled design</a:t>
            </a:r>
            <a:endParaRPr lang="en-US" sz="1230" dirty="0"/>
          </a:p>
        </p:txBody>
      </p:sp>
      <p:sp>
        <p:nvSpPr>
          <p:cNvPr id="10" name="Text 8"/>
          <p:cNvSpPr/>
          <p:nvPr/>
        </p:nvSpPr>
        <p:spPr>
          <a:xfrm>
            <a:off x="1005840" y="3520440"/>
            <a:ext cx="2971800" cy="1170432"/>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What to narrate</a:t>
            </a:r>
            <a:endParaRPr lang="en-US" sz="1320" dirty="0"/>
          </a:p>
          <a:p>
            <a:pPr marL="0" indent="0">
              <a:buNone/>
            </a:pPr>
            <a:r>
              <a:rPr lang="en-US" sz="1320" dirty="0">
                <a:solidFill>
                  <a:srgbClr val="52645F"/>
                </a:solidFill>
              </a:rPr>
              <a:t>“The agent is active. That is not the same as being correct.”</a:t>
            </a:r>
            <a:endParaRPr lang="en-US" sz="1320" dirty="0"/>
          </a:p>
        </p:txBody>
      </p:sp>
      <p:sp>
        <p:nvSpPr>
          <p:cNvPr id="11" name="Text 9"/>
          <p:cNvSpPr/>
          <p:nvPr/>
        </p:nvSpPr>
        <p:spPr>
          <a:xfrm>
            <a:off x="1133856" y="3630168"/>
            <a:ext cx="271576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What to narrate</a:t>
            </a:r>
            <a:endParaRPr lang="en-US" sz="1230" dirty="0"/>
          </a:p>
        </p:txBody>
      </p:sp>
      <p:sp>
        <p:nvSpPr>
          <p:cNvPr id="12" name="Text 10"/>
          <p:cNvSpPr/>
          <p:nvPr/>
        </p:nvSpPr>
        <p:spPr>
          <a:xfrm>
            <a:off x="4617720" y="3520440"/>
            <a:ext cx="2971800" cy="1170432"/>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What to show</a:t>
            </a:r>
            <a:endParaRPr lang="en-US" sz="1320" dirty="0"/>
          </a:p>
          <a:p>
            <a:pPr marL="0" indent="0">
              <a:buNone/>
            </a:pPr>
            <a:r>
              <a:rPr lang="en-US" sz="1320" dirty="0">
                <a:solidFill>
                  <a:srgbClr val="52645F"/>
                </a:solidFill>
              </a:rPr>
              <a:t>Trace: intake fields, routing decision, handoff context, tool call, approval.</a:t>
            </a:r>
            <a:endParaRPr lang="en-US" sz="1320" dirty="0"/>
          </a:p>
        </p:txBody>
      </p:sp>
      <p:sp>
        <p:nvSpPr>
          <p:cNvPr id="13" name="Text 11"/>
          <p:cNvSpPr/>
          <p:nvPr/>
        </p:nvSpPr>
        <p:spPr>
          <a:xfrm>
            <a:off x="4745736" y="3630168"/>
            <a:ext cx="271576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What to show</a:t>
            </a:r>
            <a:endParaRPr lang="en-US" sz="1230" dirty="0"/>
          </a:p>
        </p:txBody>
      </p:sp>
      <p:sp>
        <p:nvSpPr>
          <p:cNvPr id="14" name="Text 12"/>
          <p:cNvSpPr/>
          <p:nvPr/>
        </p:nvSpPr>
        <p:spPr>
          <a:xfrm>
            <a:off x="8229600" y="3520440"/>
            <a:ext cx="2971800" cy="1170432"/>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What to avoid</a:t>
            </a:r>
            <a:endParaRPr lang="en-US" sz="1320" dirty="0"/>
          </a:p>
          <a:p>
            <a:pPr marL="0" indent="0">
              <a:buNone/>
            </a:pPr>
            <a:r>
              <a:rPr lang="en-US" sz="1320" dirty="0">
                <a:solidFill>
                  <a:srgbClr val="52645F"/>
                </a:solidFill>
              </a:rPr>
              <a:t>Do not let the demo imply diagnosis, treatment, or autonomous clinical action.</a:t>
            </a:r>
            <a:endParaRPr lang="en-US" sz="1320" dirty="0"/>
          </a:p>
        </p:txBody>
      </p:sp>
      <p:sp>
        <p:nvSpPr>
          <p:cNvPr id="15" name="Text 13"/>
          <p:cNvSpPr/>
          <p:nvPr/>
        </p:nvSpPr>
        <p:spPr>
          <a:xfrm>
            <a:off x="8357616" y="3630168"/>
            <a:ext cx="271576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What to avoid</a:t>
            </a:r>
            <a:endParaRPr lang="en-US" sz="123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From prototype to production readiness</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Day 3 and Day 4 work is where agentic AI earns trust. Yes, the boring part saves the patient.</a:t>
            </a:r>
            <a:endParaRPr lang="en-US" sz="1150" dirty="0"/>
          </a:p>
        </p:txBody>
      </p:sp>
      <p:sp>
        <p:nvSpPr>
          <p:cNvPr id="4" name="Text 2"/>
          <p:cNvSpPr/>
          <p:nvPr/>
        </p:nvSpPr>
        <p:spPr>
          <a:xfrm>
            <a:off x="777240" y="1325880"/>
            <a:ext cx="2468880" cy="1024128"/>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150" dirty="0">
                <a:solidFill>
                  <a:srgbClr val="52645F"/>
                </a:solidFill>
              </a:rPr>
              <a:t>Demo works</a:t>
            </a:r>
            <a:endParaRPr lang="en-US" sz="1150" dirty="0"/>
          </a:p>
          <a:p>
            <a:pPr marL="0" indent="0">
              <a:buNone/>
            </a:pPr>
            <a:r>
              <a:rPr lang="en-US" sz="1150" dirty="0">
                <a:solidFill>
                  <a:srgbClr val="52645F"/>
                </a:solidFill>
              </a:rPr>
              <a:t>Agents answer and tools connect. Useful, but not enough.</a:t>
            </a:r>
            <a:endParaRPr lang="en-US" sz="1150" dirty="0"/>
          </a:p>
        </p:txBody>
      </p:sp>
      <p:sp>
        <p:nvSpPr>
          <p:cNvPr id="5" name="Text 3"/>
          <p:cNvSpPr/>
          <p:nvPr/>
        </p:nvSpPr>
        <p:spPr>
          <a:xfrm>
            <a:off x="905256" y="1435608"/>
            <a:ext cx="221284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Demo works</a:t>
            </a:r>
            <a:endParaRPr lang="en-US" sz="1230" dirty="0"/>
          </a:p>
        </p:txBody>
      </p:sp>
      <p:sp>
        <p:nvSpPr>
          <p:cNvPr id="6" name="Shape 4"/>
          <p:cNvSpPr/>
          <p:nvPr/>
        </p:nvSpPr>
        <p:spPr>
          <a:xfrm>
            <a:off x="3337560" y="1847088"/>
            <a:ext cx="411480" cy="0"/>
          </a:xfrm>
          <a:prstGeom prst="line">
            <a:avLst/>
          </a:prstGeom>
          <a:noFill/>
          <a:ln w="15240">
            <a:solidFill>
              <a:srgbClr val="66807A"/>
            </a:solidFill>
            <a:prstDash val="solid"/>
            <a:headEnd type="none"/>
            <a:tailEnd type="triangle"/>
          </a:ln>
        </p:spPr>
        <p:txBody>
          <a:bodyPr/>
          <a:lstStyle/>
          <a:p>
            <a:endParaRPr lang="en-US"/>
          </a:p>
        </p:txBody>
      </p:sp>
      <p:sp>
        <p:nvSpPr>
          <p:cNvPr id="7" name="Text 5"/>
          <p:cNvSpPr/>
          <p:nvPr/>
        </p:nvSpPr>
        <p:spPr>
          <a:xfrm>
            <a:off x="3749040" y="1325880"/>
            <a:ext cx="2468880" cy="1024128"/>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150" dirty="0">
                <a:solidFill>
                  <a:srgbClr val="52645F"/>
                </a:solidFill>
              </a:rPr>
              <a:t>Workflow is testable</a:t>
            </a:r>
            <a:endParaRPr lang="en-US" sz="1150" dirty="0"/>
          </a:p>
          <a:p>
            <a:pPr marL="0" indent="0">
              <a:buNone/>
            </a:pPr>
            <a:r>
              <a:rPr lang="en-US" sz="1150" dirty="0">
                <a:solidFill>
                  <a:srgbClr val="52645F"/>
                </a:solidFill>
              </a:rPr>
              <a:t>Expected paths and control points are defined.</a:t>
            </a:r>
            <a:endParaRPr lang="en-US" sz="1150" dirty="0"/>
          </a:p>
        </p:txBody>
      </p:sp>
      <p:sp>
        <p:nvSpPr>
          <p:cNvPr id="8" name="Text 6"/>
          <p:cNvSpPr/>
          <p:nvPr/>
        </p:nvSpPr>
        <p:spPr>
          <a:xfrm>
            <a:off x="3877056" y="1435608"/>
            <a:ext cx="221284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Workflow is testable</a:t>
            </a:r>
            <a:endParaRPr lang="en-US" sz="1230" dirty="0"/>
          </a:p>
        </p:txBody>
      </p:sp>
      <p:sp>
        <p:nvSpPr>
          <p:cNvPr id="9" name="Shape 7"/>
          <p:cNvSpPr/>
          <p:nvPr/>
        </p:nvSpPr>
        <p:spPr>
          <a:xfrm>
            <a:off x="6309360" y="1847088"/>
            <a:ext cx="411480" cy="0"/>
          </a:xfrm>
          <a:prstGeom prst="line">
            <a:avLst/>
          </a:prstGeom>
          <a:noFill/>
          <a:ln w="15240">
            <a:solidFill>
              <a:srgbClr val="66807A"/>
            </a:solidFill>
            <a:prstDash val="solid"/>
            <a:headEnd type="none"/>
            <a:tailEnd type="triangle"/>
          </a:ln>
        </p:spPr>
        <p:txBody>
          <a:bodyPr/>
          <a:lstStyle/>
          <a:p>
            <a:endParaRPr lang="en-US"/>
          </a:p>
        </p:txBody>
      </p:sp>
      <p:sp>
        <p:nvSpPr>
          <p:cNvPr id="10" name="Text 8"/>
          <p:cNvSpPr/>
          <p:nvPr/>
        </p:nvSpPr>
        <p:spPr>
          <a:xfrm>
            <a:off x="6720840" y="1325880"/>
            <a:ext cx="2468880" cy="1024128"/>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150" dirty="0">
                <a:solidFill>
                  <a:srgbClr val="52645F"/>
                </a:solidFill>
              </a:rPr>
              <a:t>Workflow is governable</a:t>
            </a:r>
            <a:endParaRPr lang="en-US" sz="1150" dirty="0"/>
          </a:p>
          <a:p>
            <a:pPr marL="0" indent="0">
              <a:buNone/>
            </a:pPr>
            <a:r>
              <a:rPr lang="en-US" sz="1150" dirty="0">
                <a:solidFill>
                  <a:srgbClr val="52645F"/>
                </a:solidFill>
              </a:rPr>
              <a:t>Policy, access, approval, and traceability are built in.</a:t>
            </a:r>
            <a:endParaRPr lang="en-US" sz="1150" dirty="0"/>
          </a:p>
        </p:txBody>
      </p:sp>
      <p:sp>
        <p:nvSpPr>
          <p:cNvPr id="11" name="Text 9"/>
          <p:cNvSpPr/>
          <p:nvPr/>
        </p:nvSpPr>
        <p:spPr>
          <a:xfrm>
            <a:off x="6848856" y="1435608"/>
            <a:ext cx="221284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Workflow is governable</a:t>
            </a:r>
            <a:endParaRPr lang="en-US" sz="1230" dirty="0"/>
          </a:p>
        </p:txBody>
      </p:sp>
      <p:sp>
        <p:nvSpPr>
          <p:cNvPr id="12" name="Shape 10"/>
          <p:cNvSpPr/>
          <p:nvPr/>
        </p:nvSpPr>
        <p:spPr>
          <a:xfrm>
            <a:off x="9281160" y="1847088"/>
            <a:ext cx="411480" cy="0"/>
          </a:xfrm>
          <a:prstGeom prst="line">
            <a:avLst/>
          </a:prstGeom>
          <a:noFill/>
          <a:ln w="15240">
            <a:solidFill>
              <a:srgbClr val="66807A"/>
            </a:solidFill>
            <a:prstDash val="solid"/>
            <a:headEnd type="none"/>
            <a:tailEnd type="triangle"/>
          </a:ln>
        </p:spPr>
        <p:txBody>
          <a:bodyPr/>
          <a:lstStyle/>
          <a:p>
            <a:endParaRPr lang="en-US"/>
          </a:p>
        </p:txBody>
      </p:sp>
      <p:sp>
        <p:nvSpPr>
          <p:cNvPr id="13" name="Text 11"/>
          <p:cNvSpPr/>
          <p:nvPr/>
        </p:nvSpPr>
        <p:spPr>
          <a:xfrm>
            <a:off x="9692640" y="1325880"/>
            <a:ext cx="1691640" cy="1024128"/>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030" dirty="0">
                <a:solidFill>
                  <a:srgbClr val="52645F"/>
                </a:solidFill>
              </a:rPr>
              <a:t>Workflow improves</a:t>
            </a:r>
            <a:endParaRPr lang="en-US" sz="1030" dirty="0"/>
          </a:p>
          <a:p>
            <a:pPr marL="0" indent="0">
              <a:buNone/>
            </a:pPr>
            <a:r>
              <a:rPr lang="en-US" sz="1030" dirty="0">
                <a:solidFill>
                  <a:srgbClr val="52645F"/>
                </a:solidFill>
              </a:rPr>
              <a:t>Monitoring and regression tests run after change.</a:t>
            </a:r>
            <a:endParaRPr lang="en-US" sz="1030" dirty="0"/>
          </a:p>
        </p:txBody>
      </p:sp>
      <p:sp>
        <p:nvSpPr>
          <p:cNvPr id="14" name="Text 12"/>
          <p:cNvSpPr/>
          <p:nvPr/>
        </p:nvSpPr>
        <p:spPr>
          <a:xfrm>
            <a:off x="9820656" y="1435608"/>
            <a:ext cx="143560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Workflow improves</a:t>
            </a:r>
            <a:endParaRPr lang="en-US" sz="1230" dirty="0"/>
          </a:p>
        </p:txBody>
      </p:sp>
      <p:sp>
        <p:nvSpPr>
          <p:cNvPr id="15" name="Shape 13"/>
          <p:cNvSpPr/>
          <p:nvPr/>
        </p:nvSpPr>
        <p:spPr>
          <a:xfrm>
            <a:off x="868680" y="3429000"/>
            <a:ext cx="10424160" cy="1143000"/>
          </a:xfrm>
          <a:prstGeom prst="rect">
            <a:avLst/>
          </a:prstGeom>
          <a:solidFill>
            <a:srgbClr val="DDF1EB">
              <a:alpha val="92000"/>
            </a:srgbClr>
          </a:solidFill>
          <a:ln w="12700">
            <a:solidFill>
              <a:srgbClr val="DDF1EB"/>
            </a:solidFill>
            <a:prstDash val="solid"/>
          </a:ln>
        </p:spPr>
        <p:txBody>
          <a:bodyPr/>
          <a:lstStyle/>
          <a:p>
            <a:endParaRPr lang="en-US"/>
          </a:p>
        </p:txBody>
      </p:sp>
      <p:sp>
        <p:nvSpPr>
          <p:cNvPr id="16" name="Text 14"/>
          <p:cNvSpPr/>
          <p:nvPr/>
        </p:nvSpPr>
        <p:spPr>
          <a:xfrm>
            <a:off x="1115568" y="3767328"/>
            <a:ext cx="9921240" cy="384048"/>
          </a:xfrm>
          <a:prstGeom prst="rect">
            <a:avLst/>
          </a:prstGeom>
          <a:noFill/>
          <a:ln/>
        </p:spPr>
        <p:txBody>
          <a:bodyPr wrap="square" lIns="254" tIns="254" rIns="254" bIns="254" rtlCol="0" anchor="ctr">
            <a:normAutofit/>
          </a:bodyPr>
          <a:lstStyle/>
          <a:p>
            <a:pPr marL="0" indent="0" algn="ctr">
              <a:buNone/>
            </a:pPr>
            <a:r>
              <a:rPr lang="en-US" sz="2100" b="1" dirty="0">
                <a:solidFill>
                  <a:srgbClr val="0C5E57"/>
                </a:solidFill>
              </a:rPr>
              <a:t>Production readiness means teams can prove the workflow behaved safely, not merely that the model produced a plausible response.</a:t>
            </a:r>
            <a:endParaRPr lang="en-US" sz="2100" dirty="0"/>
          </a:p>
        </p:txBody>
      </p:sp>
      <p:sp>
        <p:nvSpPr>
          <p:cNvPr id="17" name="Text 15"/>
          <p:cNvSpPr/>
          <p:nvPr/>
        </p:nvSpPr>
        <p:spPr>
          <a:xfrm>
            <a:off x="868680" y="5074920"/>
            <a:ext cx="1554480" cy="219456"/>
          </a:xfrm>
          <a:prstGeom prst="rect">
            <a:avLst/>
          </a:prstGeom>
          <a:noFill/>
          <a:ln/>
        </p:spPr>
        <p:txBody>
          <a:bodyPr wrap="square" lIns="0" tIns="0" rIns="0" bIns="0" rtlCol="0" anchor="ctr"/>
          <a:lstStyle/>
          <a:p>
            <a:pPr marL="0" indent="0">
              <a:buNone/>
            </a:pPr>
            <a:r>
              <a:rPr lang="en-US" sz="1150" b="1" dirty="0">
                <a:solidFill>
                  <a:srgbClr val="0C5E57"/>
                </a:solidFill>
              </a:rPr>
              <a:t>Session promise</a:t>
            </a:r>
            <a:endParaRPr lang="en-US" sz="1150" dirty="0"/>
          </a:p>
        </p:txBody>
      </p:sp>
      <p:sp>
        <p:nvSpPr>
          <p:cNvPr id="18" name="Text 16"/>
          <p:cNvSpPr/>
          <p:nvPr/>
        </p:nvSpPr>
        <p:spPr>
          <a:xfrm>
            <a:off x="868680" y="5440680"/>
            <a:ext cx="9326880" cy="310896"/>
          </a:xfrm>
          <a:prstGeom prst="rect">
            <a:avLst/>
          </a:prstGeom>
          <a:noFill/>
          <a:ln/>
        </p:spPr>
        <p:txBody>
          <a:bodyPr wrap="square" lIns="254" tIns="254" rIns="254" bIns="254" rtlCol="0" anchor="ctr">
            <a:normAutofit/>
          </a:bodyPr>
          <a:lstStyle/>
          <a:p>
            <a:pPr marL="0" indent="0">
              <a:buNone/>
            </a:pPr>
            <a:r>
              <a:rPr lang="en-US" sz="1750" b="1" dirty="0">
                <a:solidFill>
                  <a:srgbClr val="122421"/>
                </a:solidFill>
              </a:rPr>
              <a:t>Move from “look, an agent answered” to “we can prove the workflow behaved safely.”</a:t>
            </a:r>
            <a:endParaRPr lang="en-US" sz="175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What attendees should take away</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A reusable pattern for healthcare agents and other high-impact enterprise workflows.</a:t>
            </a:r>
            <a:endParaRPr lang="en-US" sz="1150" dirty="0"/>
          </a:p>
        </p:txBody>
      </p:sp>
      <p:sp>
        <p:nvSpPr>
          <p:cNvPr id="4" name="Text 2"/>
          <p:cNvSpPr/>
          <p:nvPr/>
        </p:nvSpPr>
        <p:spPr>
          <a:xfrm>
            <a:off x="822960" y="1344168"/>
            <a:ext cx="2194560" cy="256032"/>
          </a:xfrm>
          <a:prstGeom prst="rect">
            <a:avLst/>
          </a:prstGeom>
          <a:noFill/>
          <a:ln/>
        </p:spPr>
        <p:txBody>
          <a:bodyPr wrap="square" lIns="0" tIns="0" rIns="0" bIns="0" rtlCol="0" anchor="ctr"/>
          <a:lstStyle/>
          <a:p>
            <a:pPr marL="0" indent="0">
              <a:buNone/>
            </a:pPr>
            <a:r>
              <a:rPr lang="en-US" sz="1200" b="1" dirty="0">
                <a:solidFill>
                  <a:srgbClr val="0C5E57"/>
                </a:solidFill>
              </a:rPr>
              <a:t>One key takeaway</a:t>
            </a:r>
            <a:endParaRPr lang="en-US" sz="1200" dirty="0"/>
          </a:p>
        </p:txBody>
      </p:sp>
      <p:sp>
        <p:nvSpPr>
          <p:cNvPr id="5" name="Text 3"/>
          <p:cNvSpPr/>
          <p:nvPr/>
        </p:nvSpPr>
        <p:spPr>
          <a:xfrm>
            <a:off x="822960" y="1737360"/>
            <a:ext cx="10607040" cy="841248"/>
          </a:xfrm>
          <a:prstGeom prst="rect">
            <a:avLst/>
          </a:prstGeom>
          <a:noFill/>
          <a:ln/>
        </p:spPr>
        <p:txBody>
          <a:bodyPr wrap="square" lIns="254" tIns="254" rIns="254" bIns="254" rtlCol="0" anchor="ctr">
            <a:normAutofit/>
          </a:bodyPr>
          <a:lstStyle/>
          <a:p>
            <a:pPr marL="0" indent="0">
              <a:buNone/>
            </a:pPr>
            <a:r>
              <a:rPr lang="en-US" sz="2400" b="1" dirty="0">
                <a:solidFill>
                  <a:srgbClr val="122421"/>
                </a:solidFill>
              </a:rPr>
              <a:t>A healthcare agent becomes useful when it connects fragmented patient information into a longitudinal view, identifies what needs attention, and supports the right next action with clear human oversight.</a:t>
            </a:r>
            <a:endParaRPr lang="en-US" sz="2400" dirty="0"/>
          </a:p>
        </p:txBody>
      </p:sp>
      <p:sp>
        <p:nvSpPr>
          <p:cNvPr id="6" name="Text 4"/>
          <p:cNvSpPr/>
          <p:nvPr/>
        </p:nvSpPr>
        <p:spPr>
          <a:xfrm>
            <a:off x="932688" y="3474720"/>
            <a:ext cx="2971800" cy="96012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Design</a:t>
            </a:r>
            <a:endParaRPr lang="en-US" sz="1320" dirty="0"/>
          </a:p>
          <a:p>
            <a:pPr marL="0" indent="0">
              <a:buNone/>
            </a:pPr>
            <a:r>
              <a:rPr lang="en-US" sz="1320" dirty="0">
                <a:solidFill>
                  <a:srgbClr val="52645F"/>
                </a:solidFill>
              </a:rPr>
              <a:t>Start with the process and expected clinical workflow outcome.</a:t>
            </a:r>
            <a:endParaRPr lang="en-US" sz="1320" dirty="0"/>
          </a:p>
        </p:txBody>
      </p:sp>
      <p:sp>
        <p:nvSpPr>
          <p:cNvPr id="7" name="Text 5"/>
          <p:cNvSpPr/>
          <p:nvPr/>
        </p:nvSpPr>
        <p:spPr>
          <a:xfrm>
            <a:off x="1060704" y="3584448"/>
            <a:ext cx="271576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Design</a:t>
            </a:r>
            <a:endParaRPr lang="en-US" sz="1230" dirty="0"/>
          </a:p>
        </p:txBody>
      </p:sp>
      <p:sp>
        <p:nvSpPr>
          <p:cNvPr id="8" name="Text 6"/>
          <p:cNvSpPr/>
          <p:nvPr/>
        </p:nvSpPr>
        <p:spPr>
          <a:xfrm>
            <a:off x="4590288" y="3474720"/>
            <a:ext cx="2971800" cy="96012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Govern</a:t>
            </a:r>
            <a:endParaRPr lang="en-US" sz="1320" dirty="0"/>
          </a:p>
          <a:p>
            <a:pPr marL="0" indent="0">
              <a:buNone/>
            </a:pPr>
            <a:r>
              <a:rPr lang="en-US" sz="1320" dirty="0">
                <a:solidFill>
                  <a:srgbClr val="52645F"/>
                </a:solidFill>
              </a:rPr>
              <a:t>Define boundaries, approvals, routing rules, and tool access.</a:t>
            </a:r>
            <a:endParaRPr lang="en-US" sz="1320" dirty="0"/>
          </a:p>
        </p:txBody>
      </p:sp>
      <p:sp>
        <p:nvSpPr>
          <p:cNvPr id="9" name="Text 7"/>
          <p:cNvSpPr/>
          <p:nvPr/>
        </p:nvSpPr>
        <p:spPr>
          <a:xfrm>
            <a:off x="4718304" y="3584448"/>
            <a:ext cx="271576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Govern</a:t>
            </a:r>
            <a:endParaRPr lang="en-US" sz="1230" dirty="0"/>
          </a:p>
        </p:txBody>
      </p:sp>
      <p:sp>
        <p:nvSpPr>
          <p:cNvPr id="10" name="Text 8"/>
          <p:cNvSpPr/>
          <p:nvPr/>
        </p:nvSpPr>
        <p:spPr>
          <a:xfrm>
            <a:off x="8247888" y="3474720"/>
            <a:ext cx="2971800" cy="960120"/>
          </a:xfrm>
          <a:prstGeom prst="rect">
            <a:avLst/>
          </a:prstGeom>
          <a:solidFill>
            <a:srgbClr val="FFFFFF"/>
          </a:solidFill>
          <a:ln w="12700">
            <a:solidFill>
              <a:srgbClr val="BFD7D1">
                <a:alpha val="90000"/>
              </a:srgbClr>
            </a:solidFill>
          </a:ln>
        </p:spPr>
        <p:txBody>
          <a:bodyPr wrap="square" lIns="1778" tIns="1778" rIns="1778" bIns="1778" rtlCol="0" anchor="ctr">
            <a:normAutofit/>
          </a:bodyPr>
          <a:lstStyle/>
          <a:p>
            <a:pPr marL="0" indent="0">
              <a:buNone/>
            </a:pPr>
            <a:r>
              <a:rPr lang="en-US" sz="1320" dirty="0">
                <a:solidFill>
                  <a:srgbClr val="52645F"/>
                </a:solidFill>
              </a:rPr>
              <a:t>Test</a:t>
            </a:r>
            <a:endParaRPr lang="en-US" sz="1320" dirty="0"/>
          </a:p>
          <a:p>
            <a:pPr marL="0" indent="0">
              <a:buNone/>
            </a:pPr>
            <a:r>
              <a:rPr lang="en-US" sz="1320" dirty="0">
                <a:solidFill>
                  <a:srgbClr val="52645F"/>
                </a:solidFill>
              </a:rPr>
              <a:t>Validate the full path from intake to action after every change.</a:t>
            </a:r>
            <a:endParaRPr lang="en-US" sz="1320" dirty="0"/>
          </a:p>
        </p:txBody>
      </p:sp>
      <p:sp>
        <p:nvSpPr>
          <p:cNvPr id="11" name="Text 9"/>
          <p:cNvSpPr/>
          <p:nvPr/>
        </p:nvSpPr>
        <p:spPr>
          <a:xfrm>
            <a:off x="8375904" y="3584448"/>
            <a:ext cx="2715768" cy="219456"/>
          </a:xfrm>
          <a:prstGeom prst="rect">
            <a:avLst/>
          </a:prstGeom>
          <a:noFill/>
          <a:ln/>
        </p:spPr>
        <p:txBody>
          <a:bodyPr wrap="square" lIns="0" tIns="0" rIns="0" bIns="0" rtlCol="0" anchor="ctr">
            <a:normAutofit/>
          </a:bodyPr>
          <a:lstStyle/>
          <a:p>
            <a:pPr marL="0" indent="0">
              <a:buNone/>
            </a:pPr>
            <a:r>
              <a:rPr lang="en-US" sz="1230" b="1" dirty="0">
                <a:solidFill>
                  <a:srgbClr val="122421"/>
                </a:solidFill>
              </a:rPr>
              <a:t>Test</a:t>
            </a:r>
            <a:endParaRPr lang="en-US" sz="123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Seeded questions for Q&amp;A</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Prepared questions that help steer the conversation when the audience goes quiet. The human condition, apparently.</a:t>
            </a:r>
            <a:endParaRPr lang="en-US" sz="1150" dirty="0"/>
          </a:p>
        </p:txBody>
      </p:sp>
      <p:sp>
        <p:nvSpPr>
          <p:cNvPr id="4" name="Text 2"/>
          <p:cNvSpPr/>
          <p:nvPr/>
        </p:nvSpPr>
        <p:spPr>
          <a:xfrm>
            <a:off x="868680" y="1325880"/>
            <a:ext cx="10652760" cy="4160520"/>
          </a:xfrm>
          <a:prstGeom prst="rect">
            <a:avLst/>
          </a:prstGeom>
          <a:noFill/>
          <a:ln/>
        </p:spPr>
        <p:txBody>
          <a:bodyPr wrap="square" lIns="1016" tIns="1016" rIns="1016" bIns="1016" rtlCol="0" anchor="ctr">
            <a:normAutofit/>
          </a:bodyPr>
          <a:lstStyle/>
          <a:p>
            <a:r>
              <a:rPr lang="en-US" sz="1600" dirty="0">
                <a:solidFill>
                  <a:srgbClr val="122421"/>
                </a:solidFill>
              </a:rPr>
              <a:t>What problem were you trying to solve with the healthcare agent?</a:t>
            </a:r>
            <a:endParaRPr lang="en-US" sz="1600" dirty="0"/>
          </a:p>
          <a:p>
            <a:r>
              <a:rPr lang="en-US" sz="1600" dirty="0">
                <a:solidFill>
                  <a:srgbClr val="122421"/>
                </a:solidFill>
              </a:rPr>
              <a:t>Why is longitudinal patient context so difficult to assemble in practice?</a:t>
            </a:r>
            <a:endParaRPr lang="en-US" sz="1600" dirty="0"/>
          </a:p>
          <a:p>
            <a:r>
              <a:rPr lang="en-US" sz="1600" dirty="0">
                <a:solidFill>
                  <a:srgbClr val="122421"/>
                </a:solidFill>
              </a:rPr>
              <a:t>How did you structure the agent workflow in IBM Bob?</a:t>
            </a:r>
            <a:endParaRPr lang="en-US" sz="1600" dirty="0"/>
          </a:p>
          <a:p>
            <a:r>
              <a:rPr lang="en-US" sz="1600" dirty="0">
                <a:solidFill>
                  <a:srgbClr val="122421"/>
                </a:solidFill>
              </a:rPr>
              <a:t>What role does human oversight play in the workflow?</a:t>
            </a:r>
            <a:endParaRPr lang="en-US" sz="1600" dirty="0"/>
          </a:p>
          <a:p>
            <a:r>
              <a:rPr lang="en-US" sz="1600" dirty="0">
                <a:solidFill>
                  <a:srgbClr val="122421"/>
                </a:solidFill>
              </a:rPr>
              <a:t>How do you prevent an agent from taking actions beyond its intended scope?</a:t>
            </a:r>
            <a:endParaRPr lang="en-US" sz="1600" dirty="0"/>
          </a:p>
          <a:p>
            <a:r>
              <a:rPr lang="en-US" sz="1600" dirty="0">
                <a:solidFill>
                  <a:srgbClr val="122421"/>
                </a:solidFill>
              </a:rPr>
              <a:t>What surprised you most when you moved from concept to prototype?</a:t>
            </a:r>
            <a:endParaRPr lang="en-US" sz="1600" dirty="0"/>
          </a:p>
          <a:p>
            <a:r>
              <a:rPr lang="en-US" sz="1600" dirty="0">
                <a:solidFill>
                  <a:srgbClr val="122421"/>
                </a:solidFill>
              </a:rPr>
              <a:t>What would need to change before a solution like this could be used in a real clinical environment?</a:t>
            </a:r>
            <a:endParaRPr lang="en-US" sz="160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47472"/>
            <a:ext cx="10881360" cy="411480"/>
          </a:xfrm>
          <a:prstGeom prst="rect">
            <a:avLst/>
          </a:prstGeom>
          <a:noFill/>
          <a:ln/>
        </p:spPr>
        <p:txBody>
          <a:bodyPr wrap="square" lIns="254" tIns="254" rIns="254" bIns="254" rtlCol="0" anchor="ctr">
            <a:normAutofit/>
          </a:bodyPr>
          <a:lstStyle/>
          <a:p>
            <a:pPr marL="0" indent="0">
              <a:buNone/>
            </a:pPr>
            <a:r>
              <a:rPr lang="en-US" sz="2700" b="1" dirty="0">
                <a:solidFill>
                  <a:srgbClr val="122421"/>
                </a:solidFill>
                <a:latin typeface="Aptos Display" pitchFamily="34" charset="0"/>
                <a:ea typeface="Aptos Display" pitchFamily="34" charset="-122"/>
                <a:cs typeface="Aptos Display" pitchFamily="34" charset="-120"/>
              </a:rPr>
              <a:t>Evidence and source inputs</a:t>
            </a:r>
            <a:endParaRPr lang="en-US" sz="2700" dirty="0"/>
          </a:p>
        </p:txBody>
      </p:sp>
      <p:sp>
        <p:nvSpPr>
          <p:cNvPr id="3" name="Text 1"/>
          <p:cNvSpPr/>
          <p:nvPr/>
        </p:nvSpPr>
        <p:spPr>
          <a:xfrm>
            <a:off x="594360" y="841248"/>
            <a:ext cx="10424160" cy="256032"/>
          </a:xfrm>
          <a:prstGeom prst="rect">
            <a:avLst/>
          </a:prstGeom>
          <a:noFill/>
          <a:ln/>
        </p:spPr>
        <p:txBody>
          <a:bodyPr wrap="square" lIns="254" tIns="254" rIns="254" bIns="254" rtlCol="0" anchor="ctr">
            <a:normAutofit/>
          </a:bodyPr>
          <a:lstStyle/>
          <a:p>
            <a:pPr marL="0" indent="0">
              <a:buNone/>
            </a:pPr>
            <a:r>
              <a:rPr lang="en-US" sz="1150" dirty="0">
                <a:solidFill>
                  <a:srgbClr val="52645F"/>
                </a:solidFill>
              </a:rPr>
              <a:t>Working sources used to shape this draft.</a:t>
            </a:r>
            <a:endParaRPr lang="en-US" sz="1150" dirty="0"/>
          </a:p>
        </p:txBody>
      </p:sp>
      <p:sp>
        <p:nvSpPr>
          <p:cNvPr id="4" name="Text 2"/>
          <p:cNvSpPr/>
          <p:nvPr/>
        </p:nvSpPr>
        <p:spPr>
          <a:xfrm>
            <a:off x="822960" y="1325880"/>
            <a:ext cx="2194560" cy="201168"/>
          </a:xfrm>
          <a:prstGeom prst="rect">
            <a:avLst/>
          </a:prstGeom>
          <a:noFill/>
          <a:ln/>
        </p:spPr>
        <p:txBody>
          <a:bodyPr wrap="square" lIns="762" tIns="762" rIns="762" bIns="762" rtlCol="0" anchor="ctr">
            <a:normAutofit/>
          </a:bodyPr>
          <a:lstStyle/>
          <a:p>
            <a:pPr marL="0" indent="0">
              <a:buNone/>
            </a:pPr>
            <a:r>
              <a:rPr lang="en-US" sz="1200" b="1" dirty="0">
                <a:solidFill>
                  <a:srgbClr val="0C5E57"/>
                </a:solidFill>
              </a:rPr>
              <a:t>Session inputs</a:t>
            </a:r>
            <a:endParaRPr lang="en-US" sz="1200" dirty="0"/>
          </a:p>
        </p:txBody>
      </p:sp>
      <p:sp>
        <p:nvSpPr>
          <p:cNvPr id="5" name="Text 3"/>
          <p:cNvSpPr/>
          <p:nvPr/>
        </p:nvSpPr>
        <p:spPr>
          <a:xfrm>
            <a:off x="960120" y="1682496"/>
            <a:ext cx="9966960" cy="914400"/>
          </a:xfrm>
          <a:prstGeom prst="rect">
            <a:avLst/>
          </a:prstGeom>
          <a:noFill/>
          <a:ln/>
        </p:spPr>
        <p:txBody>
          <a:bodyPr wrap="square" lIns="1016" tIns="1016" rIns="1016" bIns="1016" rtlCol="0" anchor="ctr">
            <a:normAutofit/>
          </a:bodyPr>
          <a:lstStyle/>
          <a:p>
            <a:r>
              <a:rPr lang="en-US" sz="1260" dirty="0">
                <a:solidFill>
                  <a:srgbClr val="122421"/>
                </a:solidFill>
              </a:rPr>
              <a:t>Accepted title and email details: Day 2 Healthcare AI, October 14, 3:35-4:05 ET, Stage ONE</a:t>
            </a:r>
            <a:endParaRPr lang="en-US" sz="1260" dirty="0"/>
          </a:p>
          <a:p>
            <a:r>
              <a:rPr lang="en-US" sz="1260" dirty="0">
                <a:solidFill>
                  <a:srgbClr val="122421"/>
                </a:solidFill>
              </a:rPr>
              <a:t>Uploaded blog: Day 3 &amp; Day 4 Operational Challenges for Multiagent Workflows</a:t>
            </a:r>
            <a:endParaRPr lang="en-US" sz="1260" dirty="0"/>
          </a:p>
          <a:p>
            <a:r>
              <a:rPr lang="en-US" sz="1260" dirty="0">
                <a:solidFill>
                  <a:srgbClr val="122421"/>
                </a:solidFill>
              </a:rPr>
              <a:t>Prototype screenshots: PCP Coordinator, IBM Bob build result, MCP architecture sketch</a:t>
            </a:r>
            <a:endParaRPr lang="en-US" sz="1260" dirty="0"/>
          </a:p>
        </p:txBody>
      </p:sp>
      <p:sp>
        <p:nvSpPr>
          <p:cNvPr id="6" name="Text 4"/>
          <p:cNvSpPr/>
          <p:nvPr/>
        </p:nvSpPr>
        <p:spPr>
          <a:xfrm>
            <a:off x="822960" y="3017520"/>
            <a:ext cx="2194560" cy="201168"/>
          </a:xfrm>
          <a:prstGeom prst="rect">
            <a:avLst/>
          </a:prstGeom>
          <a:noFill/>
          <a:ln/>
        </p:spPr>
        <p:txBody>
          <a:bodyPr wrap="square" lIns="762" tIns="762" rIns="762" bIns="762" rtlCol="0" anchor="ctr">
            <a:normAutofit/>
          </a:bodyPr>
          <a:lstStyle/>
          <a:p>
            <a:pPr marL="0" indent="0">
              <a:buNone/>
            </a:pPr>
            <a:r>
              <a:rPr lang="en-US" sz="1200" b="1" dirty="0">
                <a:solidFill>
                  <a:srgbClr val="0C5E57"/>
                </a:solidFill>
              </a:rPr>
              <a:t>Public research inputs</a:t>
            </a:r>
            <a:endParaRPr lang="en-US" sz="1200" dirty="0"/>
          </a:p>
        </p:txBody>
      </p:sp>
      <p:sp>
        <p:nvSpPr>
          <p:cNvPr id="7" name="Text 5"/>
          <p:cNvSpPr/>
          <p:nvPr/>
        </p:nvSpPr>
        <p:spPr>
          <a:xfrm>
            <a:off x="960120" y="3383280"/>
            <a:ext cx="9966960" cy="1234440"/>
          </a:xfrm>
          <a:prstGeom prst="rect">
            <a:avLst/>
          </a:prstGeom>
          <a:noFill/>
          <a:ln/>
        </p:spPr>
        <p:txBody>
          <a:bodyPr wrap="square" lIns="1016" tIns="1016" rIns="1016" bIns="1016" rtlCol="0" anchor="ctr">
            <a:normAutofit/>
          </a:bodyPr>
          <a:lstStyle/>
          <a:p>
            <a:r>
              <a:rPr lang="en-US" sz="1260" dirty="0">
                <a:solidFill>
                  <a:srgbClr val="122421"/>
                </a:solidFill>
              </a:rPr>
              <a:t>Applied AI Summit 2026 public page and schedule: appliedaisummit.org</a:t>
            </a:r>
            <a:endParaRPr lang="en-US" sz="1260" dirty="0"/>
          </a:p>
          <a:p>
            <a:r>
              <a:rPr lang="en-US" sz="1260" dirty="0">
                <a:solidFill>
                  <a:srgbClr val="122421"/>
                </a:solidFill>
              </a:rPr>
              <a:t>John Snow Labs Applied Healthcare AI Summit 2026 program history and healthcare AI focus</a:t>
            </a:r>
            <a:endParaRPr lang="en-US" sz="1260" dirty="0"/>
          </a:p>
          <a:p>
            <a:r>
              <a:rPr lang="en-US" sz="1260" dirty="0">
                <a:solidFill>
                  <a:srgbClr val="122421"/>
                </a:solidFill>
              </a:rPr>
              <a:t>Model Context Protocol specification: tools, resources, prompts, sampling, elicitation, consent, and authorization guidance</a:t>
            </a:r>
            <a:endParaRPr lang="en-US" sz="1260" dirty="0"/>
          </a:p>
          <a:p>
            <a:r>
              <a:rPr lang="en-US" sz="1260" dirty="0">
                <a:solidFill>
                  <a:srgbClr val="122421"/>
                </a:solidFill>
              </a:rPr>
              <a:t>MAST framing for multi-agent failure modes: specification, system design, inter-agent misalignment, task verification, and termination</a:t>
            </a:r>
            <a:endParaRPr lang="en-US" sz="1260" dirty="0"/>
          </a:p>
        </p:txBody>
      </p:sp>
      <p:sp>
        <p:nvSpPr>
          <p:cNvPr id="8" name="Text 6"/>
          <p:cNvSpPr/>
          <p:nvPr/>
        </p:nvSpPr>
        <p:spPr>
          <a:xfrm>
            <a:off x="822960" y="5669280"/>
            <a:ext cx="8686800" cy="228600"/>
          </a:xfrm>
          <a:prstGeom prst="rect">
            <a:avLst/>
          </a:prstGeom>
          <a:noFill/>
          <a:ln/>
        </p:spPr>
        <p:txBody>
          <a:bodyPr wrap="square" lIns="0" tIns="0" rIns="0" bIns="0" rtlCol="0" anchor="ctr"/>
          <a:lstStyle/>
          <a:p>
            <a:pPr marL="0" indent="0">
              <a:buNone/>
            </a:pPr>
            <a:r>
              <a:rPr lang="en-US" sz="1050" dirty="0">
                <a:solidFill>
                  <a:srgbClr val="7D8E89"/>
                </a:solidFill>
              </a:rPr>
              <a:t>Replace or delete this appendix before final delivery if the event deck should stay clean.</a:t>
            </a:r>
            <a:endParaRPr lang="en-US" sz="1050" dirty="0"/>
          </a:p>
        </p:txBody>
      </p:sp>
      <p:sp>
        <p:nvSpPr>
          <p:cNvPr id="25" name="Slide Number Placeholder 0"/>
          <p:cNvSpPr>
            <a:spLocks noGrp="1"/>
          </p:cNvSpPr>
          <p:nvPr>
            <p:ph type="sldNum" sz="quarter" idx="4294967295"/>
          </p:nvPr>
        </p:nvSpPr>
        <p:spPr>
          <a:xfrm>
            <a:off x="11777472" y="6519672"/>
            <a:ext cx="800000" cy="300000"/>
          </a:xfrm>
          <a:prstGeom prst="rect">
            <a:avLst/>
          </a:prstGeom>
          <a:extLst>
            <a:ext uri="{C572A759-6A51-4108-AA02-DFA0A04FC94B}">
              <ma14:wrappingTextBoxFlag xmlns:ma14="http://schemas.microsoft.com/office/mac/drawingml/2011/main" xmlns="" val="0"/>
            </a:ext>
          </a:extLst>
        </p:spPr>
        <p:txBody>
          <a:bodyPr/>
          <a:lstStyle>
            <a:lvl1pPr>
              <a:defRPr sz="680">
                <a:solidFill>
                  <a:srgbClr val="66807A"/>
                </a:solidFill>
              </a:defRPr>
            </a:lvl1pPr>
          </a:lstStyle>
          <a:p>
            <a:pPr algn="l"/>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1937</Words>
  <Application>Microsoft Macintosh PowerPoint</Application>
  <PresentationFormat>Widescreen</PresentationFormat>
  <Paragraphs>292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Physicians Cannot Connect the Dots</dc:title>
  <dc:subject>Applied AI Summit 2026 healthcare agent session</dc:subject>
  <dc:creator>Monika Aggarwal</dc:creator>
  <cp:lastModifiedBy>Monika Aggarwal</cp:lastModifiedBy>
  <cp:revision>2</cp:revision>
  <dcterms:created xsi:type="dcterms:W3CDTF">2026-09-16T18:15:26Z</dcterms:created>
  <dcterms:modified xsi:type="dcterms:W3CDTF">2026-09-16T18:19:11Z</dcterms:modified>
</cp:coreProperties>
</file>